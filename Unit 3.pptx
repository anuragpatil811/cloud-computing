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59" r:id="rId4"/>
    <p:sldId id="334" r:id="rId5"/>
    <p:sldId id="335" r:id="rId6"/>
    <p:sldId id="336" r:id="rId7"/>
    <p:sldId id="337" r:id="rId8"/>
    <p:sldId id="338" r:id="rId9"/>
    <p:sldId id="339" r:id="rId10"/>
    <p:sldId id="340" r:id="rId11"/>
    <p:sldId id="341" r:id="rId12"/>
    <p:sldId id="342" r:id="rId13"/>
    <p:sldId id="350" r:id="rId14"/>
    <p:sldId id="344" r:id="rId15"/>
    <p:sldId id="345" r:id="rId16"/>
    <p:sldId id="346" r:id="rId17"/>
    <p:sldId id="347" r:id="rId18"/>
    <p:sldId id="348" r:id="rId19"/>
    <p:sldId id="349" r:id="rId20"/>
    <p:sldId id="351" r:id="rId21"/>
    <p:sldId id="352" r:id="rId22"/>
    <p:sldId id="353" r:id="rId23"/>
    <p:sldId id="354" r:id="rId24"/>
    <p:sldId id="355" r:id="rId25"/>
    <p:sldId id="356" r:id="rId26"/>
    <p:sldId id="358" r:id="rId27"/>
    <p:sldId id="259" r:id="rId28"/>
    <p:sldId id="260" r:id="rId29"/>
    <p:sldId id="357" r:id="rId30"/>
    <p:sldId id="261" r:id="rId31"/>
    <p:sldId id="262" r:id="rId32"/>
    <p:sldId id="263" r:id="rId33"/>
    <p:sldId id="363" r:id="rId34"/>
    <p:sldId id="369" r:id="rId35"/>
    <p:sldId id="365" r:id="rId36"/>
    <p:sldId id="366" r:id="rId37"/>
    <p:sldId id="367" r:id="rId38"/>
    <p:sldId id="368" r:id="rId39"/>
    <p:sldId id="370" r:id="rId40"/>
    <p:sldId id="374" r:id="rId41"/>
    <p:sldId id="375" r:id="rId42"/>
    <p:sldId id="376" r:id="rId43"/>
    <p:sldId id="371" r:id="rId44"/>
    <p:sldId id="372" r:id="rId45"/>
    <p:sldId id="373" r:id="rId46"/>
    <p:sldId id="377" r:id="rId47"/>
    <p:sldId id="378" r:id="rId48"/>
    <p:sldId id="379" r:id="rId49"/>
    <p:sldId id="380" r:id="rId50"/>
    <p:sldId id="381" r:id="rId51"/>
    <p:sldId id="382" r:id="rId52"/>
    <p:sldId id="383" r:id="rId53"/>
    <p:sldId id="384" r:id="rId54"/>
    <p:sldId id="385" r:id="rId55"/>
    <p:sldId id="386" r:id="rId56"/>
    <p:sldId id="403" r:id="rId57"/>
    <p:sldId id="404" r:id="rId58"/>
    <p:sldId id="405" r:id="rId59"/>
    <p:sldId id="388" r:id="rId60"/>
    <p:sldId id="389" r:id="rId61"/>
    <p:sldId id="390" r:id="rId62"/>
    <p:sldId id="391" r:id="rId63"/>
    <p:sldId id="392" r:id="rId64"/>
    <p:sldId id="393" r:id="rId65"/>
    <p:sldId id="394" r:id="rId66"/>
    <p:sldId id="395" r:id="rId67"/>
    <p:sldId id="396" r:id="rId68"/>
    <p:sldId id="397" r:id="rId69"/>
    <p:sldId id="398" r:id="rId70"/>
    <p:sldId id="399" r:id="rId71"/>
    <p:sldId id="400" r:id="rId72"/>
    <p:sldId id="401" r:id="rId73"/>
    <p:sldId id="402" r:id="rId74"/>
    <p:sldId id="406" r:id="rId75"/>
    <p:sldId id="407" r:id="rId76"/>
    <p:sldId id="408" r:id="rId77"/>
    <p:sldId id="409" r:id="rId78"/>
    <p:sldId id="410" r:id="rId79"/>
    <p:sldId id="411" r:id="rId80"/>
    <p:sldId id="412" r:id="rId81"/>
    <p:sldId id="413" r:id="rId82"/>
    <p:sldId id="414" r:id="rId83"/>
    <p:sldId id="415" r:id="rId84"/>
    <p:sldId id="416" r:id="rId85"/>
    <p:sldId id="417" r:id="rId86"/>
    <p:sldId id="422" r:id="rId87"/>
    <p:sldId id="425" r:id="rId88"/>
    <p:sldId id="426" r:id="rId89"/>
    <p:sldId id="427" r:id="rId90"/>
    <p:sldId id="428" r:id="rId91"/>
    <p:sldId id="429" r:id="rId92"/>
    <p:sldId id="430" r:id="rId93"/>
    <p:sldId id="434" r:id="rId94"/>
    <p:sldId id="435" r:id="rId95"/>
    <p:sldId id="436" r:id="rId96"/>
    <p:sldId id="437" r:id="rId97"/>
    <p:sldId id="438" r:id="rId98"/>
    <p:sldId id="439" r:id="rId99"/>
    <p:sldId id="440" r:id="rId100"/>
    <p:sldId id="441" r:id="rId101"/>
    <p:sldId id="442" r:id="rId102"/>
    <p:sldId id="443" r:id="rId103"/>
    <p:sldId id="444" r:id="rId104"/>
    <p:sldId id="445" r:id="rId105"/>
    <p:sldId id="446" r:id="rId106"/>
    <p:sldId id="450" r:id="rId107"/>
    <p:sldId id="448" r:id="rId108"/>
    <p:sldId id="449" r:id="rId109"/>
    <p:sldId id="454" r:id="rId110"/>
    <p:sldId id="451" r:id="rId111"/>
    <p:sldId id="452" r:id="rId112"/>
    <p:sldId id="455" r:id="rId113"/>
    <p:sldId id="456"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A3AC5-B467-4735-708E-43952CE517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9322F5-B83A-7569-E761-D47F7C0DE0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1E207A-761E-B884-C421-A931F215AD6F}"/>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5" name="Footer Placeholder 4">
            <a:extLst>
              <a:ext uri="{FF2B5EF4-FFF2-40B4-BE49-F238E27FC236}">
                <a16:creationId xmlns:a16="http://schemas.microsoft.com/office/drawing/2014/main" id="{0FF45748-1D1F-597A-D605-A3797D7D73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1A640E-3D54-6E6F-E8C3-9CD3CA1D4395}"/>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1877820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4D7D-2987-19B1-90E3-941CC58E27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80F3C1-30E2-1974-9D26-56FEDF0C7F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9CDD2F-04D4-9DCA-CFD7-F3F6C813CBB3}"/>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5" name="Footer Placeholder 4">
            <a:extLst>
              <a:ext uri="{FF2B5EF4-FFF2-40B4-BE49-F238E27FC236}">
                <a16:creationId xmlns:a16="http://schemas.microsoft.com/office/drawing/2014/main" id="{F3D5C68E-9859-53F3-923B-A633DDDE3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61B032-3FB0-850C-EE77-1481A97A519E}"/>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1822383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C9DF5-0056-8D5D-D98B-0DAFDF0ECA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EE1168-7F83-F8A8-1668-409CA10BA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9183B3-7710-1EA1-97FE-229C31E19234}"/>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5" name="Footer Placeholder 4">
            <a:extLst>
              <a:ext uri="{FF2B5EF4-FFF2-40B4-BE49-F238E27FC236}">
                <a16:creationId xmlns:a16="http://schemas.microsoft.com/office/drawing/2014/main" id="{D9204C61-41B3-955B-BC3F-F476863D3A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9F26D-970E-9B15-8442-2B9F1FD4125C}"/>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567820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06F9-19C0-3902-F759-B8110DE3D4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3890C8-C56F-A893-4DD0-C4464603C1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3A7667-26FF-A5CC-BC6A-F011F0E1C6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02AD74-C0F5-D220-EC08-2CF6798FA316}"/>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6" name="Footer Placeholder 5">
            <a:extLst>
              <a:ext uri="{FF2B5EF4-FFF2-40B4-BE49-F238E27FC236}">
                <a16:creationId xmlns:a16="http://schemas.microsoft.com/office/drawing/2014/main" id="{1A8127B8-5D21-4D78-060A-E921FA0B9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3D937-C7A6-67A9-7F45-06BF297EA6D4}"/>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44941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68C8A-5962-A414-B509-F284DBB0B4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10DF55-B766-DACB-E9A8-725B6B1E15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117AA3-F119-DD7F-7954-6A5B9C7FCF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6C4C2B8-2C08-9B83-A7AA-CAB63AA278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D62DCF-7F33-689C-3C22-42ADF3EF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483A60-0EE1-CA17-25DE-B792559D615B}"/>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8" name="Footer Placeholder 7">
            <a:extLst>
              <a:ext uri="{FF2B5EF4-FFF2-40B4-BE49-F238E27FC236}">
                <a16:creationId xmlns:a16="http://schemas.microsoft.com/office/drawing/2014/main" id="{D1999CC9-F8E7-7CAC-C605-21149332F9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F88D23-E90F-3AD9-0A7C-9F8AFCC6C723}"/>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2240782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E020D-55D2-CE73-339A-F77456A21E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02E991-6B97-A972-8EB8-27A31279805C}"/>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4" name="Footer Placeholder 3">
            <a:extLst>
              <a:ext uri="{FF2B5EF4-FFF2-40B4-BE49-F238E27FC236}">
                <a16:creationId xmlns:a16="http://schemas.microsoft.com/office/drawing/2014/main" id="{3B36EB81-8C1C-39F8-7637-83C63A65D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26787E-6991-A71D-E269-8BAAB9603F3D}"/>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556558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1B3F87-5F53-BED6-F15D-BACFC2B82C10}"/>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3" name="Footer Placeholder 2">
            <a:extLst>
              <a:ext uri="{FF2B5EF4-FFF2-40B4-BE49-F238E27FC236}">
                <a16:creationId xmlns:a16="http://schemas.microsoft.com/office/drawing/2014/main" id="{8F0BD7B7-9CF4-1BB2-498F-17627A569F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312C1F-ACA5-51F6-DB41-9BD8A15C8B9D}"/>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254877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E8694-C837-9B7A-EA7A-0DB384FD5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59D7C0-F0D3-4C32-84AA-78C74D95DE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B42304-77FB-DD2B-960F-A958CDC93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F2943-8900-A247-69F0-A58D51276A21}"/>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6" name="Footer Placeholder 5">
            <a:extLst>
              <a:ext uri="{FF2B5EF4-FFF2-40B4-BE49-F238E27FC236}">
                <a16:creationId xmlns:a16="http://schemas.microsoft.com/office/drawing/2014/main" id="{E4368704-A643-4E02-CC75-370C78E498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8B996A-AC45-77E4-51B8-D4409FB59B3C}"/>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3666779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E20F2-1B27-9BC2-66A2-14E37BE31F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1D0C11-744D-7C53-42B0-5FCB45ABCB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8A07C7-18D4-9222-30AA-36BC19746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90A9DB-570C-AE74-3B80-A650E38D0CCD}"/>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6" name="Footer Placeholder 5">
            <a:extLst>
              <a:ext uri="{FF2B5EF4-FFF2-40B4-BE49-F238E27FC236}">
                <a16:creationId xmlns:a16="http://schemas.microsoft.com/office/drawing/2014/main" id="{E1A6992D-BAB9-7388-1B5F-22E674ECFE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E50B53-A9F4-4A26-8078-15F926E66D14}"/>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520732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D6342-5422-1FE1-6E53-F74882CF42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37DED40-D24D-625F-17B1-DDB7960EB6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F1D036-0C19-714F-46BC-86F3586D4221}"/>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5" name="Footer Placeholder 4">
            <a:extLst>
              <a:ext uri="{FF2B5EF4-FFF2-40B4-BE49-F238E27FC236}">
                <a16:creationId xmlns:a16="http://schemas.microsoft.com/office/drawing/2014/main" id="{4DC1DEE7-DB9B-20E5-035F-517C000509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2413F-6545-30F6-AE33-084B935BC38F}"/>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105052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4D9634-F05E-B336-552B-2B2E68FA3A3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012FA0-1CAB-324C-597A-D90766822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7BBFFB-60CA-5C17-9161-DBED65503036}"/>
              </a:ext>
            </a:extLst>
          </p:cNvPr>
          <p:cNvSpPr>
            <a:spLocks noGrp="1"/>
          </p:cNvSpPr>
          <p:nvPr>
            <p:ph type="dt" sz="half" idx="10"/>
          </p:nvPr>
        </p:nvSpPr>
        <p:spPr/>
        <p:txBody>
          <a:bodyPr/>
          <a:lstStyle/>
          <a:p>
            <a:fld id="{DDE2D083-08FF-496F-8077-46FC7037DF47}" type="datetimeFigureOut">
              <a:rPr lang="en-US" smtClean="0"/>
              <a:t>3/24/2026</a:t>
            </a:fld>
            <a:endParaRPr lang="en-US"/>
          </a:p>
        </p:txBody>
      </p:sp>
      <p:sp>
        <p:nvSpPr>
          <p:cNvPr id="5" name="Footer Placeholder 4">
            <a:extLst>
              <a:ext uri="{FF2B5EF4-FFF2-40B4-BE49-F238E27FC236}">
                <a16:creationId xmlns:a16="http://schemas.microsoft.com/office/drawing/2014/main" id="{9343BAAD-53ED-9DC1-C215-96F9E5D71F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1B62FF-B9F6-4786-BA3F-5A9D9F62DE90}"/>
              </a:ext>
            </a:extLst>
          </p:cNvPr>
          <p:cNvSpPr>
            <a:spLocks noGrp="1"/>
          </p:cNvSpPr>
          <p:nvPr>
            <p:ph type="sldNum" sz="quarter" idx="12"/>
          </p:nvPr>
        </p:nvSpPr>
        <p:spPr/>
        <p:txBody>
          <a:bodyPr/>
          <a:lstStyle/>
          <a:p>
            <a:fld id="{02AD6B35-462B-4DBF-AF51-91B732B795B2}" type="slidenum">
              <a:rPr lang="en-US" smtClean="0"/>
              <a:t>‹#›</a:t>
            </a:fld>
            <a:endParaRPr lang="en-US"/>
          </a:p>
        </p:txBody>
      </p:sp>
    </p:spTree>
    <p:extLst>
      <p:ext uri="{BB962C8B-B14F-4D97-AF65-F5344CB8AC3E}">
        <p14:creationId xmlns:p14="http://schemas.microsoft.com/office/powerpoint/2010/main" val="3145330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FA415D-D2E6-1AE9-9836-06603C1B34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ECBD8E-BFE9-6EF5-FA7C-3B6ED3BAC1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9C11E7-0A2C-A96C-CA33-7788E2D771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E2D083-08FF-496F-8077-46FC7037DF47}" type="datetimeFigureOut">
              <a:rPr lang="en-US" smtClean="0"/>
              <a:t>3/24/2026</a:t>
            </a:fld>
            <a:endParaRPr lang="en-US"/>
          </a:p>
        </p:txBody>
      </p:sp>
      <p:sp>
        <p:nvSpPr>
          <p:cNvPr id="5" name="Footer Placeholder 4">
            <a:extLst>
              <a:ext uri="{FF2B5EF4-FFF2-40B4-BE49-F238E27FC236}">
                <a16:creationId xmlns:a16="http://schemas.microsoft.com/office/drawing/2014/main" id="{D114F733-69FB-5F9D-BAC9-98FD1204D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FCA468-67F3-BB44-F65D-5377ED4428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AD6B35-462B-4DBF-AF51-91B732B795B2}" type="slidenum">
              <a:rPr lang="en-US" smtClean="0"/>
              <a:t>‹#›</a:t>
            </a:fld>
            <a:endParaRPr lang="en-US"/>
          </a:p>
        </p:txBody>
      </p:sp>
    </p:spTree>
    <p:extLst>
      <p:ext uri="{BB962C8B-B14F-4D97-AF65-F5344CB8AC3E}">
        <p14:creationId xmlns:p14="http://schemas.microsoft.com/office/powerpoint/2010/main" val="2319430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kubernetes.io/docs/concepts/overview/#what-kubernetes-is-not"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aws.amazon.com/"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2E32-1C17-92FC-0C63-D165809BA571}"/>
              </a:ext>
            </a:extLst>
          </p:cNvPr>
          <p:cNvSpPr>
            <a:spLocks noGrp="1"/>
          </p:cNvSpPr>
          <p:nvPr>
            <p:ph type="ctrTitle"/>
          </p:nvPr>
        </p:nvSpPr>
        <p:spPr/>
        <p:txBody>
          <a:bodyPr>
            <a:normAutofit fontScale="90000"/>
          </a:bodyPr>
          <a:lstStyle/>
          <a:p>
            <a:r>
              <a:rPr lang="en-US" dirty="0"/>
              <a:t>Unit 3</a:t>
            </a:r>
            <a:br>
              <a:rPr lang="en-US" dirty="0"/>
            </a:br>
            <a:r>
              <a:rPr lang="en-US" dirty="0"/>
              <a:t> </a:t>
            </a:r>
            <a:r>
              <a:rPr lang="en-US" b="1" dirty="0"/>
              <a:t>Virtualization and Resource Management</a:t>
            </a:r>
            <a:endParaRPr lang="en-US" dirty="0"/>
          </a:p>
        </p:txBody>
      </p:sp>
      <p:sp>
        <p:nvSpPr>
          <p:cNvPr id="3" name="Subtitle 2">
            <a:extLst>
              <a:ext uri="{FF2B5EF4-FFF2-40B4-BE49-F238E27FC236}">
                <a16:creationId xmlns:a16="http://schemas.microsoft.com/office/drawing/2014/main" id="{D97ED3CD-E7ED-FCEA-04AB-876F8E3C30AF}"/>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27793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2EBD0-9063-842C-CDAD-66A43FD21326}"/>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7354D625-E536-345C-D1FA-922878982FBA}"/>
              </a:ext>
            </a:extLst>
          </p:cNvPr>
          <p:cNvSpPr>
            <a:spLocks noGrp="1"/>
          </p:cNvSpPr>
          <p:nvPr>
            <p:ph idx="1"/>
          </p:nvPr>
        </p:nvSpPr>
        <p:spPr/>
        <p:txBody>
          <a:bodyPr/>
          <a:lstStyle/>
          <a:p>
            <a:r>
              <a:rPr lang="en-US" dirty="0"/>
              <a:t>Basics of Virtualization </a:t>
            </a:r>
          </a:p>
          <a:p>
            <a:r>
              <a:rPr lang="en-US" dirty="0"/>
              <a:t>Types of Virtualizations: Compute, Storage, and Network</a:t>
            </a:r>
          </a:p>
          <a:p>
            <a:r>
              <a:rPr lang="en-US" dirty="0"/>
              <a:t>Hypervisors: Type 1 &amp; Type 2 </a:t>
            </a:r>
          </a:p>
          <a:p>
            <a:r>
              <a:rPr lang="en-US" dirty="0"/>
              <a:t>Virtual Machines vs. Containers </a:t>
            </a:r>
          </a:p>
          <a:p>
            <a:r>
              <a:rPr lang="en-US" dirty="0"/>
              <a:t>Docker and Kubernetes Overview</a:t>
            </a:r>
          </a:p>
          <a:p>
            <a:r>
              <a:rPr lang="en-US" dirty="0"/>
              <a:t>Resource Allocation and Load Balancing.</a:t>
            </a:r>
          </a:p>
        </p:txBody>
      </p:sp>
    </p:spTree>
    <p:extLst>
      <p:ext uri="{BB962C8B-B14F-4D97-AF65-F5344CB8AC3E}">
        <p14:creationId xmlns:p14="http://schemas.microsoft.com/office/powerpoint/2010/main" val="874706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47111-4629-A329-7924-495224787E50}"/>
              </a:ext>
            </a:extLst>
          </p:cNvPr>
          <p:cNvSpPr>
            <a:spLocks noGrp="1"/>
          </p:cNvSpPr>
          <p:nvPr>
            <p:ph type="title"/>
          </p:nvPr>
        </p:nvSpPr>
        <p:spPr/>
        <p:txBody>
          <a:bodyPr/>
          <a:lstStyle/>
          <a:p>
            <a:pPr algn="ctr"/>
            <a:r>
              <a:rPr lang="en-US" b="1" dirty="0"/>
              <a:t>Virtualization</a:t>
            </a:r>
          </a:p>
        </p:txBody>
      </p:sp>
      <p:sp>
        <p:nvSpPr>
          <p:cNvPr id="3" name="Content Placeholder 2">
            <a:extLst>
              <a:ext uri="{FF2B5EF4-FFF2-40B4-BE49-F238E27FC236}">
                <a16:creationId xmlns:a16="http://schemas.microsoft.com/office/drawing/2014/main" id="{6C286426-682C-308C-3A75-B79E58C46A59}"/>
              </a:ext>
            </a:extLst>
          </p:cNvPr>
          <p:cNvSpPr>
            <a:spLocks noGrp="1"/>
          </p:cNvSpPr>
          <p:nvPr>
            <p:ph idx="1"/>
          </p:nvPr>
        </p:nvSpPr>
        <p:spPr/>
        <p:txBody>
          <a:bodyPr>
            <a:normAutofit lnSpcReduction="10000"/>
          </a:bodyPr>
          <a:lstStyle/>
          <a:p>
            <a:pPr algn="just" fontAlgn="base"/>
            <a:r>
              <a:rPr lang="en-US" dirty="0"/>
              <a:t>Virtualization is the fundamental technology that powers Cloud Computing. </a:t>
            </a:r>
          </a:p>
          <a:p>
            <a:pPr algn="just" fontAlgn="base"/>
            <a:r>
              <a:rPr lang="en-US" dirty="0"/>
              <a:t>It allows you to create multiple simulated environments (Virtual Machines or VMs) from a single physical hardware system.</a:t>
            </a:r>
          </a:p>
          <a:p>
            <a:pPr algn="just" fontAlgn="base"/>
            <a:r>
              <a:rPr lang="en-US" dirty="0"/>
              <a:t>Before virtualization, a physical server could only run one Operating System (OS) and often one task. This wasted massive amounts of resources if your app only used 10% of the CPU, the other 90% was idle. </a:t>
            </a:r>
          </a:p>
          <a:p>
            <a:pPr algn="just" fontAlgn="base"/>
            <a:r>
              <a:rPr lang="en-US" dirty="0"/>
              <a:t>Virtualization solves this by allowing one physical server to host dozens of virtual servers, each running its own OS and apps isolated from the others.</a:t>
            </a:r>
          </a:p>
          <a:p>
            <a:endParaRPr lang="en-US" dirty="0"/>
          </a:p>
        </p:txBody>
      </p:sp>
    </p:spTree>
    <p:extLst>
      <p:ext uri="{BB962C8B-B14F-4D97-AF65-F5344CB8AC3E}">
        <p14:creationId xmlns:p14="http://schemas.microsoft.com/office/powerpoint/2010/main" val="237972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65FF-E412-7BAC-97D1-5FE8CD4D282F}"/>
              </a:ext>
            </a:extLst>
          </p:cNvPr>
          <p:cNvSpPr>
            <a:spLocks noGrp="1"/>
          </p:cNvSpPr>
          <p:nvPr>
            <p:ph type="title"/>
          </p:nvPr>
        </p:nvSpPr>
        <p:spPr/>
        <p:txBody>
          <a:bodyPr/>
          <a:lstStyle/>
          <a:p>
            <a:r>
              <a:rPr lang="en-US" b="1" dirty="0"/>
              <a:t>Characteristics of Virtualization</a:t>
            </a:r>
            <a:br>
              <a:rPr lang="en-US" b="1" dirty="0"/>
            </a:br>
            <a:endParaRPr lang="en-US" dirty="0"/>
          </a:p>
        </p:txBody>
      </p:sp>
      <p:sp>
        <p:nvSpPr>
          <p:cNvPr id="3" name="Content Placeholder 2">
            <a:extLst>
              <a:ext uri="{FF2B5EF4-FFF2-40B4-BE49-F238E27FC236}">
                <a16:creationId xmlns:a16="http://schemas.microsoft.com/office/drawing/2014/main" id="{414D93ED-947A-CD39-6772-A3A17A33A803}"/>
              </a:ext>
            </a:extLst>
          </p:cNvPr>
          <p:cNvSpPr>
            <a:spLocks noGrp="1"/>
          </p:cNvSpPr>
          <p:nvPr>
            <p:ph idx="1"/>
          </p:nvPr>
        </p:nvSpPr>
        <p:spPr/>
        <p:txBody>
          <a:bodyPr>
            <a:normAutofit fontScale="92500" lnSpcReduction="20000"/>
          </a:bodyPr>
          <a:lstStyle/>
          <a:p>
            <a:pPr marL="0" indent="0" algn="just">
              <a:buNone/>
            </a:pPr>
            <a:r>
              <a:rPr lang="en-US" dirty="0"/>
              <a:t>Virtualization is a foundational technology in modern computing as it offers a range of crucial features that enhance IT flexibility and efficiency. </a:t>
            </a:r>
          </a:p>
          <a:p>
            <a:pPr marL="0" indent="0" algn="just">
              <a:buNone/>
            </a:pPr>
            <a:r>
              <a:rPr lang="en-US" dirty="0"/>
              <a:t>Here are the most notable characteristics of virtualization:</a:t>
            </a:r>
          </a:p>
          <a:p>
            <a:pPr algn="just"/>
            <a:r>
              <a:rPr lang="en-US" b="1" dirty="0"/>
              <a:t>Instance isolation.</a:t>
            </a:r>
            <a:r>
              <a:rPr lang="en-US" dirty="0"/>
              <a:t> Virtualization isolates all virtual instances present on the server. Each environment operates independently and securely without interference from other instances.</a:t>
            </a:r>
          </a:p>
          <a:p>
            <a:pPr algn="just"/>
            <a:r>
              <a:rPr lang="en-US" b="1" dirty="0"/>
              <a:t>Hardware abstraction.</a:t>
            </a:r>
            <a:r>
              <a:rPr lang="en-US" dirty="0"/>
              <a:t> Virtualization abstracts physical hardware resources into virtual instances. Abstraction allows admins and end-users to manage resources independently of the underlying hardware.</a:t>
            </a:r>
          </a:p>
          <a:p>
            <a:pPr algn="just"/>
            <a:r>
              <a:rPr lang="en-US" b="1" dirty="0"/>
              <a:t>Resource pooling.</a:t>
            </a:r>
            <a:r>
              <a:rPr lang="en-US" dirty="0"/>
              <a:t> Virtualization enables the pooling of physical resources from multiple hardware devices into a shared resource pool. That way, </a:t>
            </a:r>
            <a:r>
              <a:rPr lang="en-US" b="1" dirty="0"/>
              <a:t>instances</a:t>
            </a:r>
            <a:r>
              <a:rPr lang="en-US" dirty="0"/>
              <a:t> can meet demands that exceed the capabilities of a single device.</a:t>
            </a:r>
          </a:p>
          <a:p>
            <a:endParaRPr lang="en-US" dirty="0"/>
          </a:p>
        </p:txBody>
      </p:sp>
    </p:spTree>
    <p:extLst>
      <p:ext uri="{BB962C8B-B14F-4D97-AF65-F5344CB8AC3E}">
        <p14:creationId xmlns:p14="http://schemas.microsoft.com/office/powerpoint/2010/main" val="3268837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26A25-C158-6B86-9024-DFAA1AEEC32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64915D-FE07-8BEF-3F9F-487EF09E175E}"/>
              </a:ext>
            </a:extLst>
          </p:cNvPr>
          <p:cNvSpPr>
            <a:spLocks noGrp="1"/>
          </p:cNvSpPr>
          <p:nvPr>
            <p:ph idx="1"/>
          </p:nvPr>
        </p:nvSpPr>
        <p:spPr/>
        <p:txBody>
          <a:bodyPr>
            <a:normAutofit fontScale="92500" lnSpcReduction="20000"/>
          </a:bodyPr>
          <a:lstStyle/>
          <a:p>
            <a:pPr algn="just"/>
            <a:r>
              <a:rPr lang="en-US" b="1" dirty="0"/>
              <a:t>State encapsulation.</a:t>
            </a:r>
            <a:r>
              <a:rPr lang="en-US" dirty="0"/>
              <a:t> Virtualization encapsulates the entire state of a virtual instance into files or images. This feature makes instances easy to replicate.</a:t>
            </a:r>
          </a:p>
          <a:p>
            <a:pPr algn="just"/>
            <a:r>
              <a:rPr lang="en-US" b="1" dirty="0"/>
              <a:t>Hardware independence.</a:t>
            </a:r>
            <a:r>
              <a:rPr lang="en-US" dirty="0"/>
              <a:t> Abstraction of underlying hardware allows VMs to run on different types of physical infrastructure without requiring modifications. Hardware independence makes it simple to migrate VMs between different providers or IT environments.</a:t>
            </a:r>
          </a:p>
          <a:p>
            <a:pPr algn="just"/>
            <a:r>
              <a:rPr lang="en-US" b="1" dirty="0"/>
              <a:t>Dynamic provisioning.</a:t>
            </a:r>
            <a:r>
              <a:rPr lang="en-US" dirty="0"/>
              <a:t> Virtualization enables dynamic provisioning and scaling of instances. You can allocate or deallocate resources in real time based on current requirements, eliminating the need to manage hardware.</a:t>
            </a:r>
          </a:p>
          <a:p>
            <a:pPr algn="just"/>
            <a:r>
              <a:rPr lang="en-US" b="1" dirty="0"/>
              <a:t>Resource scalability.</a:t>
            </a:r>
            <a:r>
              <a:rPr lang="en-US" dirty="0"/>
              <a:t> Virtualization allows users to easily scale instances. Users get to scale both </a:t>
            </a:r>
            <a:r>
              <a:rPr lang="en-US" b="1" dirty="0"/>
              <a:t>vertically</a:t>
            </a:r>
            <a:r>
              <a:rPr lang="en-US" dirty="0"/>
              <a:t> (i.e., by adding more resources to existing instances) and </a:t>
            </a:r>
            <a:r>
              <a:rPr lang="en-US" b="1" dirty="0"/>
              <a:t>horizontally</a:t>
            </a:r>
            <a:r>
              <a:rPr lang="en-US" dirty="0"/>
              <a:t> (i.e., by deploying more instances).</a:t>
            </a:r>
          </a:p>
          <a:p>
            <a:endParaRPr lang="en-US" dirty="0"/>
          </a:p>
        </p:txBody>
      </p:sp>
    </p:spTree>
    <p:extLst>
      <p:ext uri="{BB962C8B-B14F-4D97-AF65-F5344CB8AC3E}">
        <p14:creationId xmlns:p14="http://schemas.microsoft.com/office/powerpoint/2010/main" val="242542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F14D8-C658-8E4C-E290-C4479B4D7E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564DFD-950C-83C1-B6BF-7BD7248F9ECE}"/>
              </a:ext>
            </a:extLst>
          </p:cNvPr>
          <p:cNvSpPr>
            <a:spLocks noGrp="1"/>
          </p:cNvSpPr>
          <p:nvPr>
            <p:ph idx="1"/>
          </p:nvPr>
        </p:nvSpPr>
        <p:spPr/>
        <p:txBody>
          <a:bodyPr/>
          <a:lstStyle/>
          <a:p>
            <a:endParaRPr lang="en-US"/>
          </a:p>
        </p:txBody>
      </p:sp>
      <p:pic>
        <p:nvPicPr>
          <p:cNvPr id="1026" name="Picture 2" descr="Value of virtualized servers">
            <a:extLst>
              <a:ext uri="{FF2B5EF4-FFF2-40B4-BE49-F238E27FC236}">
                <a16:creationId xmlns:a16="http://schemas.microsoft.com/office/drawing/2014/main" id="{51CD2004-89C3-4D9D-B7B4-4F4537E85C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174" y="450565"/>
            <a:ext cx="7905750" cy="499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7971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BD639-AB18-989F-A00B-56CC38D29679}"/>
              </a:ext>
            </a:extLst>
          </p:cNvPr>
          <p:cNvSpPr>
            <a:spLocks noGrp="1"/>
          </p:cNvSpPr>
          <p:nvPr>
            <p:ph type="title"/>
          </p:nvPr>
        </p:nvSpPr>
        <p:spPr/>
        <p:txBody>
          <a:bodyPr/>
          <a:lstStyle/>
          <a:p>
            <a:r>
              <a:rPr lang="en-US" b="1" dirty="0"/>
              <a:t>Types of Virtualization</a:t>
            </a:r>
            <a:br>
              <a:rPr lang="en-US" b="1" dirty="0"/>
            </a:br>
            <a:endParaRPr lang="en-US" dirty="0"/>
          </a:p>
        </p:txBody>
      </p:sp>
      <p:sp>
        <p:nvSpPr>
          <p:cNvPr id="3" name="Content Placeholder 2">
            <a:extLst>
              <a:ext uri="{FF2B5EF4-FFF2-40B4-BE49-F238E27FC236}">
                <a16:creationId xmlns:a16="http://schemas.microsoft.com/office/drawing/2014/main" id="{42467DDF-0FCA-2C81-920B-B03B1492EDA0}"/>
              </a:ext>
            </a:extLst>
          </p:cNvPr>
          <p:cNvSpPr>
            <a:spLocks noGrp="1"/>
          </p:cNvSpPr>
          <p:nvPr>
            <p:ph idx="1"/>
          </p:nvPr>
        </p:nvSpPr>
        <p:spPr/>
        <p:txBody>
          <a:bodyPr/>
          <a:lstStyle/>
          <a:p>
            <a:pPr marL="0" indent="0" algn="just">
              <a:buNone/>
            </a:pPr>
            <a:r>
              <a:rPr lang="en-US" dirty="0"/>
              <a:t>Abstracting servers into multiple VMs is just one of several virtualization strategies companies use to streamline operations. Below are five other common types of virtualization that boost IT efficiency and cost-effectiveness.</a:t>
            </a:r>
          </a:p>
          <a:p>
            <a:r>
              <a:rPr lang="en-US" b="1" dirty="0"/>
              <a:t>Storage Virtualization</a:t>
            </a:r>
          </a:p>
          <a:p>
            <a:r>
              <a:rPr lang="en-US" b="1" dirty="0"/>
              <a:t>Network Virtualization</a:t>
            </a:r>
          </a:p>
          <a:p>
            <a:r>
              <a:rPr lang="en-US" b="1" dirty="0"/>
              <a:t>Data Virtualization</a:t>
            </a:r>
          </a:p>
          <a:p>
            <a:r>
              <a:rPr lang="en-US" b="1" dirty="0"/>
              <a:t>App Virtualization</a:t>
            </a:r>
          </a:p>
          <a:p>
            <a:r>
              <a:rPr lang="en-US" b="1" dirty="0"/>
              <a:t>Desktop Virtualization</a:t>
            </a:r>
          </a:p>
          <a:p>
            <a:endParaRPr lang="en-US" b="1" dirty="0"/>
          </a:p>
          <a:p>
            <a:endParaRPr lang="en-US" b="1" dirty="0"/>
          </a:p>
          <a:p>
            <a:endParaRPr lang="en-US" dirty="0"/>
          </a:p>
        </p:txBody>
      </p:sp>
    </p:spTree>
    <p:extLst>
      <p:ext uri="{BB962C8B-B14F-4D97-AF65-F5344CB8AC3E}">
        <p14:creationId xmlns:p14="http://schemas.microsoft.com/office/powerpoint/2010/main" val="3322693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A48E-F8E9-2C78-164E-C3E9F8F16F3F}"/>
              </a:ext>
            </a:extLst>
          </p:cNvPr>
          <p:cNvSpPr>
            <a:spLocks noGrp="1"/>
          </p:cNvSpPr>
          <p:nvPr>
            <p:ph type="title"/>
          </p:nvPr>
        </p:nvSpPr>
        <p:spPr/>
        <p:txBody>
          <a:bodyPr/>
          <a:lstStyle/>
          <a:p>
            <a:r>
              <a:rPr lang="en-US" b="1" dirty="0"/>
              <a:t>Storage Virtualization</a:t>
            </a:r>
            <a:br>
              <a:rPr lang="en-US" b="1" dirty="0"/>
            </a:br>
            <a:endParaRPr lang="en-US" dirty="0"/>
          </a:p>
        </p:txBody>
      </p:sp>
      <p:sp>
        <p:nvSpPr>
          <p:cNvPr id="3" name="Content Placeholder 2">
            <a:extLst>
              <a:ext uri="{FF2B5EF4-FFF2-40B4-BE49-F238E27FC236}">
                <a16:creationId xmlns:a16="http://schemas.microsoft.com/office/drawing/2014/main" id="{D852CC7E-8799-2C54-7B61-825F37E94124}"/>
              </a:ext>
            </a:extLst>
          </p:cNvPr>
          <p:cNvSpPr>
            <a:spLocks noGrp="1"/>
          </p:cNvSpPr>
          <p:nvPr>
            <p:ph idx="1"/>
          </p:nvPr>
        </p:nvSpPr>
        <p:spPr/>
        <p:txBody>
          <a:bodyPr/>
          <a:lstStyle/>
          <a:p>
            <a:pPr algn="just"/>
            <a:r>
              <a:rPr lang="en-US" dirty="0"/>
              <a:t>Storage virtualization abstracts physical storage resources (</a:t>
            </a:r>
            <a:r>
              <a:rPr lang="en-US" b="1" dirty="0"/>
              <a:t>hard drives</a:t>
            </a:r>
            <a:r>
              <a:rPr lang="en-US" dirty="0"/>
              <a:t>, </a:t>
            </a:r>
            <a:r>
              <a:rPr lang="en-US" b="1" dirty="0"/>
              <a:t>SSDs</a:t>
            </a:r>
            <a:r>
              <a:rPr lang="en-US" dirty="0"/>
              <a:t>, storage arrays, etc.) from the underlying hardware, allowing admins to manage them as a single pool of storage. Virtualized storage pools operate as a cohesive storage resource, which enables:</a:t>
            </a:r>
          </a:p>
          <a:p>
            <a:pPr algn="just"/>
            <a:r>
              <a:rPr lang="en-US" dirty="0"/>
              <a:t>More efficient use of storage capacity.</a:t>
            </a:r>
          </a:p>
          <a:p>
            <a:pPr algn="just"/>
            <a:r>
              <a:rPr lang="en-US" dirty="0"/>
              <a:t>Streamlined archiving, </a:t>
            </a:r>
            <a:r>
              <a:rPr lang="en-US" b="1" dirty="0"/>
              <a:t>backup</a:t>
            </a:r>
            <a:r>
              <a:rPr lang="en-US" dirty="0"/>
              <a:t>, and recovery procedures.</a:t>
            </a:r>
          </a:p>
          <a:p>
            <a:pPr algn="just"/>
            <a:r>
              <a:rPr lang="en-US" dirty="0"/>
              <a:t>Simplified storage management.</a:t>
            </a:r>
          </a:p>
          <a:p>
            <a:r>
              <a:rPr lang="en-US" dirty="0"/>
              <a:t>Simpler data migrations.</a:t>
            </a:r>
          </a:p>
          <a:p>
            <a:endParaRPr lang="en-US" dirty="0"/>
          </a:p>
        </p:txBody>
      </p:sp>
    </p:spTree>
    <p:extLst>
      <p:ext uri="{BB962C8B-B14F-4D97-AF65-F5344CB8AC3E}">
        <p14:creationId xmlns:p14="http://schemas.microsoft.com/office/powerpoint/2010/main" val="3451370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6AF-B905-82CA-E9B5-E6776857DE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C69CEB-6150-E0E6-E9EA-CAA2613C286E}"/>
              </a:ext>
            </a:extLst>
          </p:cNvPr>
          <p:cNvSpPr>
            <a:spLocks noGrp="1"/>
          </p:cNvSpPr>
          <p:nvPr>
            <p:ph idx="1"/>
          </p:nvPr>
        </p:nvSpPr>
        <p:spPr/>
        <p:txBody>
          <a:bodyPr/>
          <a:lstStyle/>
          <a:p>
            <a:pPr algn="just"/>
            <a:r>
              <a:rPr lang="en-US" dirty="0"/>
              <a:t>Virtualizing storage enables the integration of devices from different vendors and disparate locations into a unified storage infrastructure. This integration maximizes existing investments and helps avoid </a:t>
            </a:r>
            <a:r>
              <a:rPr lang="en-US" b="1" dirty="0"/>
              <a:t>vendor lock-in</a:t>
            </a:r>
            <a:r>
              <a:rPr lang="en-US" dirty="0"/>
              <a:t>.</a:t>
            </a:r>
          </a:p>
          <a:p>
            <a:pPr algn="just"/>
            <a:r>
              <a:rPr lang="en-US" dirty="0"/>
              <a:t>Storage virtualization also often includes </a:t>
            </a:r>
            <a:r>
              <a:rPr lang="en-US" b="1" dirty="0"/>
              <a:t>thin provisioning</a:t>
            </a:r>
            <a:r>
              <a:rPr lang="en-US" dirty="0"/>
              <a:t> capabilities, which allow admins to allocate storage capacity on demand rather than pre-allocating physical storage space. Thin provisioning helps optimize storage utilization and reduce waste.</a:t>
            </a:r>
          </a:p>
          <a:p>
            <a:endParaRPr lang="en-US" dirty="0"/>
          </a:p>
        </p:txBody>
      </p:sp>
    </p:spTree>
    <p:extLst>
      <p:ext uri="{BB962C8B-B14F-4D97-AF65-F5344CB8AC3E}">
        <p14:creationId xmlns:p14="http://schemas.microsoft.com/office/powerpoint/2010/main" val="1472911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826AD-689A-A770-19B1-8801B43BF54A}"/>
              </a:ext>
            </a:extLst>
          </p:cNvPr>
          <p:cNvSpPr>
            <a:spLocks noGrp="1"/>
          </p:cNvSpPr>
          <p:nvPr>
            <p:ph type="title"/>
          </p:nvPr>
        </p:nvSpPr>
        <p:spPr/>
        <p:txBody>
          <a:bodyPr/>
          <a:lstStyle/>
          <a:p>
            <a:r>
              <a:rPr lang="en-US" b="1" dirty="0"/>
              <a:t>Network Virtualization</a:t>
            </a:r>
            <a:br>
              <a:rPr lang="en-US" b="1" dirty="0"/>
            </a:br>
            <a:endParaRPr lang="en-US" dirty="0"/>
          </a:p>
        </p:txBody>
      </p:sp>
      <p:sp>
        <p:nvSpPr>
          <p:cNvPr id="3" name="Content Placeholder 2">
            <a:extLst>
              <a:ext uri="{FF2B5EF4-FFF2-40B4-BE49-F238E27FC236}">
                <a16:creationId xmlns:a16="http://schemas.microsoft.com/office/drawing/2014/main" id="{584C2B75-AAFA-0D7A-30EE-12BDA8BDF3BA}"/>
              </a:ext>
            </a:extLst>
          </p:cNvPr>
          <p:cNvSpPr>
            <a:spLocks noGrp="1"/>
          </p:cNvSpPr>
          <p:nvPr>
            <p:ph idx="1"/>
          </p:nvPr>
        </p:nvSpPr>
        <p:spPr/>
        <p:txBody>
          <a:bodyPr/>
          <a:lstStyle/>
          <a:p>
            <a:pPr algn="just"/>
            <a:r>
              <a:rPr lang="en-US" dirty="0"/>
              <a:t>Network virtualization abstracts network resources to enable the creation of multiple virtual networks on top of a shared physical infrastructure. </a:t>
            </a:r>
          </a:p>
          <a:p>
            <a:pPr algn="just"/>
            <a:r>
              <a:rPr lang="en-US" dirty="0"/>
              <a:t>Admins control abstracted resources without having to manage the underlying hardware, which dramatically simplifies network management.</a:t>
            </a:r>
          </a:p>
          <a:p>
            <a:endParaRPr lang="en-US" dirty="0"/>
          </a:p>
        </p:txBody>
      </p:sp>
    </p:spTree>
    <p:extLst>
      <p:ext uri="{BB962C8B-B14F-4D97-AF65-F5344CB8AC3E}">
        <p14:creationId xmlns:p14="http://schemas.microsoft.com/office/powerpoint/2010/main" val="4250803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D81356-3F11-8708-7590-7AD7DDD2B158}"/>
              </a:ext>
            </a:extLst>
          </p:cNvPr>
          <p:cNvSpPr>
            <a:spLocks noGrp="1"/>
          </p:cNvSpPr>
          <p:nvPr>
            <p:ph idx="1"/>
          </p:nvPr>
        </p:nvSpPr>
        <p:spPr>
          <a:xfrm>
            <a:off x="838200" y="349320"/>
            <a:ext cx="10515600" cy="6164495"/>
          </a:xfrm>
        </p:spPr>
        <p:txBody>
          <a:bodyPr>
            <a:normAutofit/>
          </a:bodyPr>
          <a:lstStyle/>
          <a:p>
            <a:pPr algn="just"/>
            <a:r>
              <a:rPr lang="en-US" dirty="0"/>
              <a:t>Each virtual network operates as a logically separate entity with individual </a:t>
            </a:r>
            <a:r>
              <a:rPr lang="en-US" b="1" dirty="0"/>
              <a:t>network policies</a:t>
            </a:r>
            <a:r>
              <a:rPr lang="en-US" dirty="0"/>
              <a:t>, address space, and configurations. Traffic from one virtual network cannot directly access or interfere with traffic from another virtual network.</a:t>
            </a:r>
          </a:p>
          <a:p>
            <a:pPr marL="0" indent="0" algn="just">
              <a:buNone/>
            </a:pPr>
            <a:r>
              <a:rPr lang="en-US" dirty="0"/>
              <a:t>There are two types of network virtualization:</a:t>
            </a:r>
          </a:p>
          <a:p>
            <a:pPr algn="just"/>
            <a:r>
              <a:rPr lang="en-US" b="1" dirty="0"/>
              <a:t>Software-defined networking (SDN).</a:t>
            </a:r>
            <a:r>
              <a:rPr lang="en-US" dirty="0"/>
              <a:t> </a:t>
            </a:r>
            <a:r>
              <a:rPr lang="en-US" b="1" dirty="0"/>
              <a:t>SDN</a:t>
            </a:r>
            <a:r>
              <a:rPr lang="en-US" dirty="0"/>
              <a:t> virtualizes the control plane (which determines how traffic is forwarded) and decouples it from the data plane (which actually forwards traffic). Software-defined control planes instruct hardware on how to direct traffic, which makes networks easier to manage.</a:t>
            </a:r>
          </a:p>
          <a:p>
            <a:pPr algn="just"/>
            <a:r>
              <a:rPr lang="en-US" b="1" dirty="0"/>
              <a:t>Network Function Virtualization (NFV).</a:t>
            </a:r>
            <a:r>
              <a:rPr lang="en-US" dirty="0"/>
              <a:t> </a:t>
            </a:r>
            <a:r>
              <a:rPr lang="en-US" b="1" dirty="0"/>
              <a:t>NFV</a:t>
            </a:r>
            <a:r>
              <a:rPr lang="en-US" dirty="0"/>
              <a:t> virtualizes network appliances (</a:t>
            </a:r>
            <a:r>
              <a:rPr lang="en-US" b="1" dirty="0"/>
              <a:t>routers</a:t>
            </a:r>
            <a:r>
              <a:rPr lang="en-US" dirty="0"/>
              <a:t>, </a:t>
            </a:r>
            <a:r>
              <a:rPr lang="en-US" b="1" dirty="0"/>
              <a:t>firewalls</a:t>
            </a:r>
            <a:r>
              <a:rPr lang="en-US" dirty="0"/>
              <a:t>, </a:t>
            </a:r>
            <a:r>
              <a:rPr lang="en-US" b="1" dirty="0"/>
              <a:t>load balancers</a:t>
            </a:r>
            <a:r>
              <a:rPr lang="en-US" dirty="0"/>
              <a:t>, etc.) and turns them into software-based instances. NFV makes network appliances easier to configure, provision, and manage.</a:t>
            </a:r>
          </a:p>
          <a:p>
            <a:endParaRPr lang="en-US" dirty="0"/>
          </a:p>
        </p:txBody>
      </p:sp>
    </p:spTree>
    <p:extLst>
      <p:ext uri="{BB962C8B-B14F-4D97-AF65-F5344CB8AC3E}">
        <p14:creationId xmlns:p14="http://schemas.microsoft.com/office/powerpoint/2010/main" val="2644064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A442-35C0-E2E5-34EF-6860C09EE8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3F6515-BA93-450C-76CB-43E1507F076A}"/>
              </a:ext>
            </a:extLst>
          </p:cNvPr>
          <p:cNvSpPr>
            <a:spLocks noGrp="1"/>
          </p:cNvSpPr>
          <p:nvPr>
            <p:ph idx="1"/>
          </p:nvPr>
        </p:nvSpPr>
        <p:spPr/>
        <p:txBody>
          <a:bodyPr/>
          <a:lstStyle/>
          <a:p>
            <a:pPr algn="just"/>
            <a:r>
              <a:rPr lang="en-US" dirty="0"/>
              <a:t>Network virtualization is vital for </a:t>
            </a:r>
            <a:r>
              <a:rPr lang="en-US" b="1" dirty="0"/>
              <a:t>hybrid</a:t>
            </a:r>
            <a:r>
              <a:rPr lang="en-US" dirty="0"/>
              <a:t> and </a:t>
            </a:r>
            <a:r>
              <a:rPr lang="en-US" b="1" dirty="0"/>
              <a:t>multi-cloud</a:t>
            </a:r>
            <a:r>
              <a:rPr lang="en-US" dirty="0"/>
              <a:t> connectivity. The tech enables seamless connections and workload mobility between </a:t>
            </a:r>
            <a:r>
              <a:rPr lang="en-US" b="1" dirty="0"/>
              <a:t>on-prem</a:t>
            </a:r>
            <a:r>
              <a:rPr lang="en-US" dirty="0"/>
              <a:t> and cloud-based resources, both of which are crucial to multi and </a:t>
            </a:r>
            <a:r>
              <a:rPr lang="en-US" b="1" dirty="0"/>
              <a:t>hybrid cloud architecture</a:t>
            </a:r>
            <a:r>
              <a:rPr lang="en-US" dirty="0"/>
              <a:t>.</a:t>
            </a:r>
          </a:p>
          <a:p>
            <a:endParaRPr lang="en-US" dirty="0"/>
          </a:p>
        </p:txBody>
      </p:sp>
    </p:spTree>
    <p:extLst>
      <p:ext uri="{BB962C8B-B14F-4D97-AF65-F5344CB8AC3E}">
        <p14:creationId xmlns:p14="http://schemas.microsoft.com/office/powerpoint/2010/main" val="1006533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803F-0F70-43DC-EEBE-6D5998A4C087}"/>
              </a:ext>
            </a:extLst>
          </p:cNvPr>
          <p:cNvSpPr>
            <a:spLocks noGrp="1"/>
          </p:cNvSpPr>
          <p:nvPr>
            <p:ph type="title"/>
          </p:nvPr>
        </p:nvSpPr>
        <p:spPr/>
        <p:txBody>
          <a:bodyPr/>
          <a:lstStyle/>
          <a:p>
            <a:r>
              <a:rPr lang="en-US" b="1" dirty="0"/>
              <a:t>Data Virtualization</a:t>
            </a:r>
            <a:br>
              <a:rPr lang="en-US" b="1" dirty="0"/>
            </a:br>
            <a:endParaRPr lang="en-US" dirty="0"/>
          </a:p>
        </p:txBody>
      </p:sp>
      <p:sp>
        <p:nvSpPr>
          <p:cNvPr id="3" name="Content Placeholder 2">
            <a:extLst>
              <a:ext uri="{FF2B5EF4-FFF2-40B4-BE49-F238E27FC236}">
                <a16:creationId xmlns:a16="http://schemas.microsoft.com/office/drawing/2014/main" id="{A03F24A6-0588-DCC4-DD5F-859F9FDD377A}"/>
              </a:ext>
            </a:extLst>
          </p:cNvPr>
          <p:cNvSpPr>
            <a:spLocks noGrp="1"/>
          </p:cNvSpPr>
          <p:nvPr>
            <p:ph idx="1"/>
          </p:nvPr>
        </p:nvSpPr>
        <p:spPr/>
        <p:txBody>
          <a:bodyPr>
            <a:normAutofit fontScale="92500" lnSpcReduction="20000"/>
          </a:bodyPr>
          <a:lstStyle/>
          <a:p>
            <a:pPr algn="just"/>
            <a:r>
              <a:rPr lang="en-US" dirty="0"/>
              <a:t>Data virtualization abstracts and integrates data from different </a:t>
            </a:r>
            <a:r>
              <a:rPr lang="en-US" b="1" dirty="0"/>
              <a:t>databases</a:t>
            </a:r>
            <a:r>
              <a:rPr lang="en-US" dirty="0"/>
              <a:t>, </a:t>
            </a:r>
            <a:r>
              <a:rPr lang="en-US" b="1" dirty="0"/>
              <a:t>data warehouses</a:t>
            </a:r>
            <a:r>
              <a:rPr lang="en-US" dirty="0"/>
              <a:t>, and services. </a:t>
            </a:r>
          </a:p>
          <a:p>
            <a:pPr algn="just"/>
            <a:r>
              <a:rPr lang="en-US" dirty="0"/>
              <a:t>As a result, you abstract the physical location, format, and structure of data from underlying data sources, presenting it in a logical, unified view to users and apps. </a:t>
            </a:r>
          </a:p>
          <a:p>
            <a:pPr algn="just"/>
            <a:r>
              <a:rPr lang="en-US" dirty="0"/>
              <a:t>Data virtualization simplifies data storage and retrieval complexities, making data easier to access and utilize. This type of virtualization also makes it simple to integrate data from disparate sources, including:</a:t>
            </a:r>
          </a:p>
          <a:p>
            <a:pPr algn="just"/>
            <a:r>
              <a:rPr lang="en-US" dirty="0"/>
              <a:t>Different </a:t>
            </a:r>
            <a:r>
              <a:rPr lang="en-US" b="1" dirty="0"/>
              <a:t>database types</a:t>
            </a:r>
            <a:r>
              <a:rPr lang="en-US" dirty="0"/>
              <a:t>.</a:t>
            </a:r>
          </a:p>
          <a:p>
            <a:pPr algn="just"/>
            <a:r>
              <a:rPr lang="en-US" dirty="0"/>
              <a:t>Web services.</a:t>
            </a:r>
          </a:p>
          <a:p>
            <a:pPr algn="just"/>
            <a:r>
              <a:rPr lang="en-US" dirty="0"/>
              <a:t>Flat files.</a:t>
            </a:r>
          </a:p>
          <a:p>
            <a:pPr algn="just"/>
            <a:r>
              <a:rPr lang="en-US" dirty="0"/>
              <a:t>Cloud storage platforms.</a:t>
            </a:r>
          </a:p>
          <a:p>
            <a:endParaRPr lang="en-US" dirty="0"/>
          </a:p>
        </p:txBody>
      </p:sp>
    </p:spTree>
    <p:extLst>
      <p:ext uri="{BB962C8B-B14F-4D97-AF65-F5344CB8AC3E}">
        <p14:creationId xmlns:p14="http://schemas.microsoft.com/office/powerpoint/2010/main" val="1220095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F50E0-AC73-0A9B-C790-F6F7400411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5DA7CCC-E3F2-DB35-18E5-0BF30823ECCF}"/>
              </a:ext>
            </a:extLst>
          </p:cNvPr>
          <p:cNvSpPr>
            <a:spLocks noGrp="1"/>
          </p:cNvSpPr>
          <p:nvPr>
            <p:ph idx="1"/>
          </p:nvPr>
        </p:nvSpPr>
        <p:spPr/>
        <p:txBody>
          <a:bodyPr/>
          <a:lstStyle/>
          <a:p>
            <a:r>
              <a:rPr lang="en-US" dirty="0"/>
              <a:t>Data virtualization also often includes aggregation, transformation, and enrichment of on-the-fly data. These features allow users to combine and manipulate data from different sources to meet specific business needs.</a:t>
            </a:r>
          </a:p>
          <a:p>
            <a:endParaRPr lang="en-US" dirty="0"/>
          </a:p>
        </p:txBody>
      </p:sp>
    </p:spTree>
    <p:extLst>
      <p:ext uri="{BB962C8B-B14F-4D97-AF65-F5344CB8AC3E}">
        <p14:creationId xmlns:p14="http://schemas.microsoft.com/office/powerpoint/2010/main" val="3484032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96BC-BD8D-B29A-E8F4-E6A7C6E9067F}"/>
              </a:ext>
            </a:extLst>
          </p:cNvPr>
          <p:cNvSpPr>
            <a:spLocks noGrp="1"/>
          </p:cNvSpPr>
          <p:nvPr>
            <p:ph type="title"/>
          </p:nvPr>
        </p:nvSpPr>
        <p:spPr/>
        <p:txBody>
          <a:bodyPr/>
          <a:lstStyle/>
          <a:p>
            <a:r>
              <a:rPr lang="en-US" b="1" dirty="0"/>
              <a:t>App Virtualization</a:t>
            </a:r>
            <a:br>
              <a:rPr lang="en-US" b="1" dirty="0"/>
            </a:br>
            <a:endParaRPr lang="en-US" dirty="0"/>
          </a:p>
        </p:txBody>
      </p:sp>
      <p:sp>
        <p:nvSpPr>
          <p:cNvPr id="3" name="Content Placeholder 2">
            <a:extLst>
              <a:ext uri="{FF2B5EF4-FFF2-40B4-BE49-F238E27FC236}">
                <a16:creationId xmlns:a16="http://schemas.microsoft.com/office/drawing/2014/main" id="{36180D02-394A-FA0A-45B8-96FE93A208F2}"/>
              </a:ext>
            </a:extLst>
          </p:cNvPr>
          <p:cNvSpPr>
            <a:spLocks noGrp="1"/>
          </p:cNvSpPr>
          <p:nvPr>
            <p:ph idx="1"/>
          </p:nvPr>
        </p:nvSpPr>
        <p:spPr/>
        <p:txBody>
          <a:bodyPr>
            <a:normAutofit/>
          </a:bodyPr>
          <a:lstStyle/>
          <a:p>
            <a:pPr algn="just"/>
            <a:r>
              <a:rPr lang="en-US" dirty="0"/>
              <a:t>App virtualization abstracts software apps from the underlying OS and encapsulates them into self-contained packages that run in isolation from the host environment. Virtualized packages contain everything the app needs to run, including all the necessary </a:t>
            </a:r>
            <a:r>
              <a:rPr lang="en-US" b="1" dirty="0"/>
              <a:t>files</a:t>
            </a:r>
            <a:r>
              <a:rPr lang="en-US" dirty="0"/>
              <a:t>, libraries, and dependencies.</a:t>
            </a:r>
          </a:p>
          <a:p>
            <a:pPr algn="just"/>
            <a:r>
              <a:rPr lang="en-US" dirty="0"/>
              <a:t>Each virtualized app operates within a sandbox to prevent conflicts with other apps and system configurations. As a result, app virtualization helps resolve compatibility issues. For example, you can use this type of virtualization to run a Windows app on </a:t>
            </a:r>
            <a:r>
              <a:rPr lang="en-US" b="1" dirty="0"/>
              <a:t>Linux</a:t>
            </a:r>
            <a:r>
              <a:rPr lang="en-US" dirty="0"/>
              <a:t> or vice versa.</a:t>
            </a:r>
          </a:p>
          <a:p>
            <a:endParaRPr lang="en-US" dirty="0"/>
          </a:p>
        </p:txBody>
      </p:sp>
    </p:spTree>
    <p:extLst>
      <p:ext uri="{BB962C8B-B14F-4D97-AF65-F5344CB8AC3E}">
        <p14:creationId xmlns:p14="http://schemas.microsoft.com/office/powerpoint/2010/main" val="1113682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4628F-CC39-3141-3FAE-9C9B6AAACF02}"/>
              </a:ext>
            </a:extLst>
          </p:cNvPr>
          <p:cNvSpPr>
            <a:spLocks noGrp="1"/>
          </p:cNvSpPr>
          <p:nvPr>
            <p:ph idx="1"/>
          </p:nvPr>
        </p:nvSpPr>
        <p:spPr>
          <a:xfrm>
            <a:off x="838200" y="349321"/>
            <a:ext cx="10515600" cy="5827642"/>
          </a:xfrm>
        </p:spPr>
        <p:txBody>
          <a:bodyPr>
            <a:normAutofit lnSpcReduction="10000"/>
          </a:bodyPr>
          <a:lstStyle/>
          <a:p>
            <a:r>
              <a:rPr lang="en-US" dirty="0"/>
              <a:t>There are three types of app virtualization:</a:t>
            </a:r>
          </a:p>
          <a:p>
            <a:pPr algn="just"/>
            <a:r>
              <a:rPr lang="en-US" b="1" dirty="0"/>
              <a:t>Local app virtualization.</a:t>
            </a:r>
            <a:r>
              <a:rPr lang="en-US" dirty="0"/>
              <a:t> In this approach, the entire app runs in a </a:t>
            </a:r>
            <a:r>
              <a:rPr lang="en-US" b="1" dirty="0"/>
              <a:t>runtime environment</a:t>
            </a:r>
            <a:r>
              <a:rPr lang="en-US" dirty="0"/>
              <a:t> on the endpoint device. Users install and execute the app locally, but the app operates within a virtualized environment isolated from the OS and other </a:t>
            </a:r>
            <a:r>
              <a:rPr lang="en-US" b="1" dirty="0"/>
              <a:t>programs</a:t>
            </a:r>
            <a:r>
              <a:rPr lang="en-US" dirty="0"/>
              <a:t>.</a:t>
            </a:r>
          </a:p>
          <a:p>
            <a:pPr algn="just"/>
            <a:r>
              <a:rPr lang="en-US" b="1" dirty="0"/>
              <a:t>App streaming.</a:t>
            </a:r>
            <a:r>
              <a:rPr lang="en-US" dirty="0"/>
              <a:t> In this method, the app resides on a server that streams small software components or necessary data to the endpoint device. As a result, the app executes on the endpoint without requiring a complete install, reducing the resource requirements on the device.</a:t>
            </a:r>
          </a:p>
          <a:p>
            <a:pPr algn="just"/>
            <a:r>
              <a:rPr lang="en-US" b="1" dirty="0"/>
              <a:t>Server-based app virtualization (or app publishing).</a:t>
            </a:r>
            <a:r>
              <a:rPr lang="en-US" dirty="0"/>
              <a:t> In this approach, the app runs entirely on a server or remote infrastructure. The server only transmits the app's </a:t>
            </a:r>
            <a:r>
              <a:rPr lang="en-US" b="1" dirty="0"/>
              <a:t>user interface</a:t>
            </a:r>
            <a:r>
              <a:rPr lang="en-US" dirty="0"/>
              <a:t> elements to the client device via a </a:t>
            </a:r>
            <a:r>
              <a:rPr lang="en-US" b="1" dirty="0"/>
              <a:t>web browser</a:t>
            </a:r>
            <a:r>
              <a:rPr lang="en-US" dirty="0"/>
              <a:t> or client interface.</a:t>
            </a:r>
          </a:p>
          <a:p>
            <a:endParaRPr lang="en-US" dirty="0"/>
          </a:p>
        </p:txBody>
      </p:sp>
    </p:spTree>
    <p:extLst>
      <p:ext uri="{BB962C8B-B14F-4D97-AF65-F5344CB8AC3E}">
        <p14:creationId xmlns:p14="http://schemas.microsoft.com/office/powerpoint/2010/main" val="252905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C874B-C494-56DA-E204-B8ACE9D630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4BBC3F-BB60-C9A3-9404-62A58608604A}"/>
              </a:ext>
            </a:extLst>
          </p:cNvPr>
          <p:cNvSpPr>
            <a:spLocks noGrp="1"/>
          </p:cNvSpPr>
          <p:nvPr>
            <p:ph idx="1"/>
          </p:nvPr>
        </p:nvSpPr>
        <p:spPr/>
        <p:txBody>
          <a:bodyPr/>
          <a:lstStyle/>
          <a:p>
            <a:pPr algn="just"/>
            <a:r>
              <a:rPr lang="en-US" dirty="0"/>
              <a:t>Virtualized apps consume fewer system resources compared to traditional installations. </a:t>
            </a:r>
          </a:p>
          <a:p>
            <a:pPr algn="just"/>
            <a:r>
              <a:rPr lang="en-US" dirty="0"/>
              <a:t>These apps do not require users to modify system files or registry settings on incompatible devices, which leads to improved performance on host systems.</a:t>
            </a:r>
          </a:p>
          <a:p>
            <a:endParaRPr lang="en-US" dirty="0"/>
          </a:p>
        </p:txBody>
      </p:sp>
    </p:spTree>
    <p:extLst>
      <p:ext uri="{BB962C8B-B14F-4D97-AF65-F5344CB8AC3E}">
        <p14:creationId xmlns:p14="http://schemas.microsoft.com/office/powerpoint/2010/main" val="2762074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B72D-D2B6-0060-10D4-37EE44744E91}"/>
              </a:ext>
            </a:extLst>
          </p:cNvPr>
          <p:cNvSpPr>
            <a:spLocks noGrp="1"/>
          </p:cNvSpPr>
          <p:nvPr>
            <p:ph type="title"/>
          </p:nvPr>
        </p:nvSpPr>
        <p:spPr/>
        <p:txBody>
          <a:bodyPr/>
          <a:lstStyle/>
          <a:p>
            <a:r>
              <a:rPr lang="en-US" b="1" dirty="0"/>
              <a:t>Desktop Virtualization</a:t>
            </a:r>
            <a:br>
              <a:rPr lang="en-US" b="1" dirty="0"/>
            </a:br>
            <a:endParaRPr lang="en-US" dirty="0"/>
          </a:p>
        </p:txBody>
      </p:sp>
      <p:sp>
        <p:nvSpPr>
          <p:cNvPr id="3" name="Content Placeholder 2">
            <a:extLst>
              <a:ext uri="{FF2B5EF4-FFF2-40B4-BE49-F238E27FC236}">
                <a16:creationId xmlns:a16="http://schemas.microsoft.com/office/drawing/2014/main" id="{D2EDD38C-B46D-94B2-4387-28455D3AAE90}"/>
              </a:ext>
            </a:extLst>
          </p:cNvPr>
          <p:cNvSpPr>
            <a:spLocks noGrp="1"/>
          </p:cNvSpPr>
          <p:nvPr>
            <p:ph idx="1"/>
          </p:nvPr>
        </p:nvSpPr>
        <p:spPr/>
        <p:txBody>
          <a:bodyPr/>
          <a:lstStyle/>
          <a:p>
            <a:pPr algn="just"/>
            <a:r>
              <a:rPr lang="en-US" dirty="0"/>
              <a:t>Desktop virtualization, also known as </a:t>
            </a:r>
            <a:r>
              <a:rPr lang="en-US" b="1" dirty="0"/>
              <a:t>Virtual Desktop Infrastructure (VDI)</a:t>
            </a:r>
            <a:r>
              <a:rPr lang="en-US" dirty="0"/>
              <a:t>, involves hosting virtual desktops on a centralized server and delivering them to end-user devices over a local network or the Internet.</a:t>
            </a:r>
          </a:p>
          <a:p>
            <a:pPr algn="just"/>
            <a:r>
              <a:rPr lang="en-US" dirty="0"/>
              <a:t>Instead of running desktop OSes and apps locally on their devices, users access virtual desktops remotely via PCs, laptops, tablets, or smartphones. This accessibility enhances mobility and enables </a:t>
            </a:r>
            <a:r>
              <a:rPr lang="en-US" b="1" dirty="0"/>
              <a:t>remote work</a:t>
            </a:r>
            <a:r>
              <a:rPr lang="en-US" dirty="0"/>
              <a:t>, allowing users to securely access virtual desktops from home, on the road, or in branch offices.</a:t>
            </a:r>
          </a:p>
          <a:p>
            <a:endParaRPr lang="en-US" dirty="0"/>
          </a:p>
        </p:txBody>
      </p:sp>
    </p:spTree>
    <p:extLst>
      <p:ext uri="{BB962C8B-B14F-4D97-AF65-F5344CB8AC3E}">
        <p14:creationId xmlns:p14="http://schemas.microsoft.com/office/powerpoint/2010/main" val="2275764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0637B-FE7E-94A6-ACDE-91E4BF343D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C43F49-45E5-EB33-DDC3-BEF4A1793D20}"/>
              </a:ext>
            </a:extLst>
          </p:cNvPr>
          <p:cNvSpPr>
            <a:spLocks noGrp="1"/>
          </p:cNvSpPr>
          <p:nvPr>
            <p:ph idx="1"/>
          </p:nvPr>
        </p:nvSpPr>
        <p:spPr/>
        <p:txBody>
          <a:bodyPr/>
          <a:lstStyle/>
          <a:p>
            <a:pPr marL="0" indent="0" algn="just">
              <a:buNone/>
            </a:pPr>
            <a:r>
              <a:rPr lang="en-US" dirty="0"/>
              <a:t>A virtualized desktop can be either persistent or non-persistent:</a:t>
            </a:r>
          </a:p>
          <a:p>
            <a:pPr algn="just"/>
            <a:r>
              <a:rPr lang="en-US" dirty="0"/>
              <a:t>Persistent desktops retain settings, files, and apps across sessions.</a:t>
            </a:r>
          </a:p>
          <a:p>
            <a:pPr algn="just"/>
            <a:r>
              <a:rPr lang="en-US" dirty="0"/>
              <a:t>Non-persistent desktops discard all changes made during the session after logout, providing a clean slate for the next user.</a:t>
            </a:r>
          </a:p>
          <a:p>
            <a:pPr marL="0" indent="0" algn="just">
              <a:buNone/>
            </a:pPr>
            <a:r>
              <a:rPr lang="en-US" dirty="0"/>
              <a:t>Desktop virtualization centralizes management tasks such as provisioning, patching, updating, and backups. Admins manage virtual desktops from a central console, making it easier to maintain consistency and security across all environments.</a:t>
            </a:r>
          </a:p>
          <a:p>
            <a:endParaRPr lang="en-US" dirty="0"/>
          </a:p>
        </p:txBody>
      </p:sp>
    </p:spTree>
    <p:extLst>
      <p:ext uri="{BB962C8B-B14F-4D97-AF65-F5344CB8AC3E}">
        <p14:creationId xmlns:p14="http://schemas.microsoft.com/office/powerpoint/2010/main" val="2660312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F43C6-2828-EAD9-AC06-5B2AB79063ED}"/>
              </a:ext>
            </a:extLst>
          </p:cNvPr>
          <p:cNvSpPr>
            <a:spLocks noGrp="1"/>
          </p:cNvSpPr>
          <p:nvPr>
            <p:ph type="title"/>
          </p:nvPr>
        </p:nvSpPr>
        <p:spPr/>
        <p:txBody>
          <a:bodyPr/>
          <a:lstStyle/>
          <a:p>
            <a:r>
              <a:rPr lang="en-US" b="1" dirty="0"/>
              <a:t>Virtualization Advantages and Disadvantages</a:t>
            </a:r>
            <a:br>
              <a:rPr lang="en-US" b="1" dirty="0"/>
            </a:br>
            <a:endParaRPr lang="en-US" dirty="0"/>
          </a:p>
        </p:txBody>
      </p:sp>
      <p:sp>
        <p:nvSpPr>
          <p:cNvPr id="3" name="Content Placeholder 2">
            <a:extLst>
              <a:ext uri="{FF2B5EF4-FFF2-40B4-BE49-F238E27FC236}">
                <a16:creationId xmlns:a16="http://schemas.microsoft.com/office/drawing/2014/main" id="{368BA877-027D-1643-C66B-AE41782DA228}"/>
              </a:ext>
            </a:extLst>
          </p:cNvPr>
          <p:cNvSpPr>
            <a:spLocks noGrp="1"/>
          </p:cNvSpPr>
          <p:nvPr>
            <p:ph idx="1"/>
          </p:nvPr>
        </p:nvSpPr>
        <p:spPr/>
        <p:txBody>
          <a:bodyPr/>
          <a:lstStyle/>
          <a:p>
            <a:pPr algn="just"/>
            <a:r>
              <a:rPr lang="en-US" dirty="0"/>
              <a:t>Like all technologies, virtualization has both pros and cons you must know about before you start virtualizing parts of your IT infrastructure. Let's take a closer look at the main advantages and disadvantages of virtualization.</a:t>
            </a:r>
          </a:p>
          <a:p>
            <a:endParaRPr lang="en-US" dirty="0"/>
          </a:p>
        </p:txBody>
      </p:sp>
    </p:spTree>
    <p:extLst>
      <p:ext uri="{BB962C8B-B14F-4D97-AF65-F5344CB8AC3E}">
        <p14:creationId xmlns:p14="http://schemas.microsoft.com/office/powerpoint/2010/main" val="49512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171F3-8A93-A10B-7313-6FE7815DC876}"/>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BE888570-E9E0-854D-735E-B649A6C9EBEB}"/>
              </a:ext>
            </a:extLst>
          </p:cNvPr>
          <p:cNvSpPr>
            <a:spLocks noGrp="1"/>
          </p:cNvSpPr>
          <p:nvPr>
            <p:ph idx="1"/>
          </p:nvPr>
        </p:nvSpPr>
        <p:spPr/>
        <p:txBody>
          <a:bodyPr>
            <a:normAutofit fontScale="92500" lnSpcReduction="10000"/>
          </a:bodyPr>
          <a:lstStyle/>
          <a:p>
            <a:pPr algn="just"/>
            <a:r>
              <a:rPr lang="en-US" dirty="0"/>
              <a:t>Virtualization offers many benefits that drive IT efficiency and agility. By decoupling computing resources from hardware, virtualization transforms IT environments into dynamic, flexible, and cost-effective ecosystems.</a:t>
            </a:r>
          </a:p>
          <a:p>
            <a:pPr algn="just"/>
            <a:r>
              <a:rPr lang="en-US" dirty="0"/>
              <a:t>Here are the main benefits of using virtualization:</a:t>
            </a:r>
          </a:p>
          <a:p>
            <a:pPr algn="just"/>
            <a:r>
              <a:rPr lang="en-US" b="1" dirty="0"/>
              <a:t>Centralized management.</a:t>
            </a:r>
            <a:r>
              <a:rPr lang="en-US" dirty="0"/>
              <a:t> Virtualization centralizes management tasks such as provisioning, monitoring, and maintenance. Admins manage VMs through a unified interface or software-defined control plane, which streamlines administration and reduces operational complexity.</a:t>
            </a:r>
          </a:p>
          <a:p>
            <a:pPr algn="just"/>
            <a:r>
              <a:rPr lang="en-US" b="1" dirty="0"/>
              <a:t>Improved resource utilization.</a:t>
            </a:r>
            <a:r>
              <a:rPr lang="en-US" dirty="0"/>
              <a:t> An average </a:t>
            </a:r>
            <a:r>
              <a:rPr lang="en-US" b="1" dirty="0"/>
              <a:t>dedicated server</a:t>
            </a:r>
            <a:r>
              <a:rPr lang="en-US" dirty="0"/>
              <a:t> uses only 15% of its resources during normal operation. Virtualization enables you to run multiple VMs on a single server, maximizing the use of each server's capacity.</a:t>
            </a:r>
          </a:p>
          <a:p>
            <a:endParaRPr lang="en-US" dirty="0"/>
          </a:p>
        </p:txBody>
      </p:sp>
    </p:spTree>
    <p:extLst>
      <p:ext uri="{BB962C8B-B14F-4D97-AF65-F5344CB8AC3E}">
        <p14:creationId xmlns:p14="http://schemas.microsoft.com/office/powerpoint/2010/main" val="3917829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43C2-C41E-8557-AC77-3D6FD880E0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D549CB-253B-4ED3-1BFB-7A08952BEF05}"/>
              </a:ext>
            </a:extLst>
          </p:cNvPr>
          <p:cNvSpPr>
            <a:spLocks noGrp="1"/>
          </p:cNvSpPr>
          <p:nvPr>
            <p:ph idx="1"/>
          </p:nvPr>
        </p:nvSpPr>
        <p:spPr/>
        <p:txBody>
          <a:bodyPr>
            <a:normAutofit lnSpcReduction="10000"/>
          </a:bodyPr>
          <a:lstStyle/>
          <a:p>
            <a:pPr algn="just"/>
            <a:r>
              <a:rPr lang="en-US" b="1" dirty="0"/>
              <a:t>High scalability.</a:t>
            </a:r>
            <a:r>
              <a:rPr lang="en-US" dirty="0"/>
              <a:t> Virtualization enables rapid scaling of IT infrastructure to accommodate changing workload demands. This agility supports business growth and fluctuations in resource requirements.</a:t>
            </a:r>
          </a:p>
          <a:p>
            <a:pPr algn="just"/>
            <a:r>
              <a:rPr lang="en-US" b="1" dirty="0"/>
              <a:t>Cost savings.</a:t>
            </a:r>
            <a:r>
              <a:rPr lang="en-US" dirty="0"/>
              <a:t> Virtualization significantly reduces hardware costs by consolidating multiple VMs onto fewer physical servers. Adopters get to lower hardware acquisition costs and reduce maintenance expenses.</a:t>
            </a:r>
          </a:p>
          <a:p>
            <a:pPr algn="just"/>
            <a:r>
              <a:rPr lang="en-US" b="1" dirty="0"/>
              <a:t>Faster provisioning.</a:t>
            </a:r>
            <a:r>
              <a:rPr lang="en-US" dirty="0"/>
              <a:t> Buying, installing, and configuring physical hardware is time-consuming. On the other hand, provisioning VMs is quick and easy, plus it can be done automatically.</a:t>
            </a:r>
          </a:p>
          <a:p>
            <a:endParaRPr lang="en-US" dirty="0"/>
          </a:p>
        </p:txBody>
      </p:sp>
    </p:spTree>
    <p:extLst>
      <p:ext uri="{BB962C8B-B14F-4D97-AF65-F5344CB8AC3E}">
        <p14:creationId xmlns:p14="http://schemas.microsoft.com/office/powerpoint/2010/main" val="4215568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BF58D-8E6F-89BF-A87A-A612474EA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8B982E-4B44-FEDE-C26D-4BDA7A0A09DA}"/>
              </a:ext>
            </a:extLst>
          </p:cNvPr>
          <p:cNvSpPr>
            <a:spLocks noGrp="1"/>
          </p:cNvSpPr>
          <p:nvPr>
            <p:ph idx="1"/>
          </p:nvPr>
        </p:nvSpPr>
        <p:spPr/>
        <p:txBody>
          <a:bodyPr>
            <a:normAutofit fontScale="92500"/>
          </a:bodyPr>
          <a:lstStyle/>
          <a:p>
            <a:pPr algn="just"/>
            <a:r>
              <a:rPr lang="en-US" b="1" dirty="0"/>
              <a:t>Improved security.</a:t>
            </a:r>
            <a:r>
              <a:rPr lang="en-US" dirty="0"/>
              <a:t> Virtualization enhances security by isolating VMs from each other and the underlying hardware. As a result, adopters reduce the risk of </a:t>
            </a:r>
            <a:r>
              <a:rPr lang="en-US" b="1" dirty="0"/>
              <a:t>malware</a:t>
            </a:r>
            <a:r>
              <a:rPr lang="en-US" dirty="0"/>
              <a:t> infections, </a:t>
            </a:r>
            <a:r>
              <a:rPr lang="en-US" b="1" dirty="0"/>
              <a:t>data breaches</a:t>
            </a:r>
            <a:r>
              <a:rPr lang="en-US" dirty="0"/>
              <a:t>, and unauthorized access.</a:t>
            </a:r>
          </a:p>
          <a:p>
            <a:pPr algn="just"/>
            <a:r>
              <a:rPr lang="en-US" b="1" dirty="0"/>
              <a:t>Workload portability.</a:t>
            </a:r>
            <a:r>
              <a:rPr lang="en-US" dirty="0"/>
              <a:t> Virtualized environments are platform-independent. VMs seamlessly run on different hardware platforms and migrate between </a:t>
            </a:r>
            <a:r>
              <a:rPr lang="en-US" b="1" dirty="0"/>
              <a:t>on-prem and cloud</a:t>
            </a:r>
            <a:r>
              <a:rPr lang="en-US" dirty="0"/>
              <a:t> environments.</a:t>
            </a:r>
          </a:p>
          <a:p>
            <a:pPr algn="just"/>
            <a:r>
              <a:rPr lang="en-US" b="1" dirty="0"/>
              <a:t>Reduced downtime.</a:t>
            </a:r>
            <a:r>
              <a:rPr lang="en-US" dirty="0"/>
              <a:t> VMs move between physical hosts with minimal downtime, which makes it easier to ensure the </a:t>
            </a:r>
            <a:r>
              <a:rPr lang="en-US" b="1" dirty="0"/>
              <a:t>availability</a:t>
            </a:r>
            <a:r>
              <a:rPr lang="en-US" dirty="0"/>
              <a:t> of critical services. You can run multiple redundant VMs alongside each other and set up failover between them to ensure zero </a:t>
            </a:r>
            <a:r>
              <a:rPr lang="en-US" b="1" dirty="0"/>
              <a:t>downtime</a:t>
            </a:r>
            <a:r>
              <a:rPr lang="en-US" dirty="0"/>
              <a:t> during disruptive incidents.</a:t>
            </a:r>
          </a:p>
          <a:p>
            <a:endParaRPr lang="en-US" dirty="0"/>
          </a:p>
        </p:txBody>
      </p:sp>
    </p:spTree>
    <p:extLst>
      <p:ext uri="{BB962C8B-B14F-4D97-AF65-F5344CB8AC3E}">
        <p14:creationId xmlns:p14="http://schemas.microsoft.com/office/powerpoint/2010/main" val="3024812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53058-5316-2803-AD27-F8E98B060D08}"/>
              </a:ext>
            </a:extLst>
          </p:cNvPr>
          <p:cNvSpPr>
            <a:spLocks noGrp="1"/>
          </p:cNvSpPr>
          <p:nvPr>
            <p:ph type="title"/>
          </p:nvPr>
        </p:nvSpPr>
        <p:spPr/>
        <p:txBody>
          <a:bodyPr/>
          <a:lstStyle/>
          <a:p>
            <a:r>
              <a:rPr lang="en-US" b="1" dirty="0"/>
              <a:t>Disadvantages</a:t>
            </a:r>
            <a:br>
              <a:rPr lang="en-US" b="1" dirty="0"/>
            </a:br>
            <a:endParaRPr lang="en-US" dirty="0"/>
          </a:p>
        </p:txBody>
      </p:sp>
      <p:sp>
        <p:nvSpPr>
          <p:cNvPr id="3" name="Content Placeholder 2">
            <a:extLst>
              <a:ext uri="{FF2B5EF4-FFF2-40B4-BE49-F238E27FC236}">
                <a16:creationId xmlns:a16="http://schemas.microsoft.com/office/drawing/2014/main" id="{34D87C49-A3A6-3826-0AFB-1F6EEEB45BF2}"/>
              </a:ext>
            </a:extLst>
          </p:cNvPr>
          <p:cNvSpPr>
            <a:spLocks noGrp="1"/>
          </p:cNvSpPr>
          <p:nvPr>
            <p:ph idx="1"/>
          </p:nvPr>
        </p:nvSpPr>
        <p:spPr>
          <a:xfrm>
            <a:off x="838200" y="1089061"/>
            <a:ext cx="10515600" cy="5087902"/>
          </a:xfrm>
        </p:spPr>
        <p:txBody>
          <a:bodyPr>
            <a:normAutofit fontScale="92500" lnSpcReduction="10000"/>
          </a:bodyPr>
          <a:lstStyle/>
          <a:p>
            <a:pPr marL="0" indent="0" algn="just">
              <a:buNone/>
            </a:pPr>
            <a:r>
              <a:rPr lang="en-US" dirty="0"/>
              <a:t>While virtualization offers numerous benefits, the tech introduces a few drawbacks you must consider before adoption.</a:t>
            </a:r>
          </a:p>
          <a:p>
            <a:pPr marL="0" indent="0" algn="just">
              <a:buNone/>
            </a:pPr>
            <a:r>
              <a:rPr lang="en-US" dirty="0"/>
              <a:t>Here are the main disadvantages of virtualization:</a:t>
            </a:r>
          </a:p>
          <a:p>
            <a:pPr algn="just"/>
            <a:r>
              <a:rPr lang="en-US" b="1" dirty="0"/>
              <a:t>Performance overhead.</a:t>
            </a:r>
            <a:r>
              <a:rPr lang="en-US" dirty="0"/>
              <a:t> The additional layer of abstraction between VMs and physical hardware introduces a slight performance overhead. This overhead can impact performance if you run resource-intensive workloads.</a:t>
            </a:r>
          </a:p>
          <a:p>
            <a:pPr algn="just"/>
            <a:r>
              <a:rPr lang="en-US" b="1" dirty="0"/>
              <a:t>New attack vectors.</a:t>
            </a:r>
            <a:r>
              <a:rPr lang="en-US" dirty="0"/>
              <a:t> While beneficial to overall security, virtualization introduces a few new </a:t>
            </a:r>
            <a:r>
              <a:rPr lang="en-US" b="1" dirty="0"/>
              <a:t>attack vectors</a:t>
            </a:r>
            <a:r>
              <a:rPr lang="en-US" dirty="0"/>
              <a:t>. Adopters must account for VM escape vulnerabilities, hypervisor exploits, and guest-to-guest attacks.</a:t>
            </a:r>
          </a:p>
          <a:p>
            <a:pPr algn="just"/>
            <a:r>
              <a:rPr lang="en-US" b="1" dirty="0"/>
              <a:t>Resource contention.</a:t>
            </a:r>
            <a:r>
              <a:rPr lang="en-US" dirty="0"/>
              <a:t> Virtualized systems can suffer from bottlenecks when VMs compete for shared resources. One VM monopolizing resources and impacting the performance of other VMs is a common issue if the adopter does not properly set up resource allocation.</a:t>
            </a:r>
          </a:p>
          <a:p>
            <a:endParaRPr lang="en-US" dirty="0"/>
          </a:p>
        </p:txBody>
      </p:sp>
    </p:spTree>
    <p:extLst>
      <p:ext uri="{BB962C8B-B14F-4D97-AF65-F5344CB8AC3E}">
        <p14:creationId xmlns:p14="http://schemas.microsoft.com/office/powerpoint/2010/main" val="475255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8928F-A14D-5DBC-28E9-B9779F837E4E}"/>
              </a:ext>
            </a:extLst>
          </p:cNvPr>
          <p:cNvSpPr>
            <a:spLocks noGrp="1"/>
          </p:cNvSpPr>
          <p:nvPr>
            <p:ph idx="1"/>
          </p:nvPr>
        </p:nvSpPr>
        <p:spPr>
          <a:xfrm>
            <a:off x="838200" y="534256"/>
            <a:ext cx="10515600" cy="5642707"/>
          </a:xfrm>
        </p:spPr>
        <p:txBody>
          <a:bodyPr>
            <a:normAutofit/>
          </a:bodyPr>
          <a:lstStyle/>
          <a:p>
            <a:pPr algn="just"/>
            <a:r>
              <a:rPr lang="en-US" b="1" dirty="0"/>
              <a:t>Storage overhead.</a:t>
            </a:r>
            <a:r>
              <a:rPr lang="en-US" dirty="0"/>
              <a:t> VMs require disk space for storing virtual disks (VMDKs, VHDs, etc.) and snapshots, which introduces some storage overhead. Managing virtual storage resources requires careful planning to avoid sprawl and inefficiencies.</a:t>
            </a:r>
          </a:p>
          <a:p>
            <a:pPr algn="just"/>
            <a:r>
              <a:rPr lang="en-US" b="1" dirty="0"/>
              <a:t>Vendor lock-in.</a:t>
            </a:r>
            <a:r>
              <a:rPr lang="en-US" dirty="0"/>
              <a:t> Organizations may become overly dependent on specific virtualization vendors and technologies. This vendor lock-in makes switching between platforms or migrating VMs to alternative solutions complex and costly.</a:t>
            </a:r>
          </a:p>
          <a:p>
            <a:pPr algn="just"/>
            <a:r>
              <a:rPr lang="en-US" b="1" dirty="0"/>
              <a:t>Shadow IT.</a:t>
            </a:r>
            <a:r>
              <a:rPr lang="en-US" dirty="0"/>
              <a:t> Employees may deploy VMs without proper authorization or oversight from the security team. These </a:t>
            </a:r>
            <a:r>
              <a:rPr lang="en-US" b="1" dirty="0"/>
              <a:t>shadow IT</a:t>
            </a:r>
            <a:r>
              <a:rPr lang="en-US" dirty="0"/>
              <a:t> instances consume resources and often introduce new risks.</a:t>
            </a:r>
          </a:p>
          <a:p>
            <a:endParaRPr lang="en-US" dirty="0"/>
          </a:p>
        </p:txBody>
      </p:sp>
    </p:spTree>
    <p:extLst>
      <p:ext uri="{BB962C8B-B14F-4D97-AF65-F5344CB8AC3E}">
        <p14:creationId xmlns:p14="http://schemas.microsoft.com/office/powerpoint/2010/main" val="2289416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7EF7-7804-3250-2007-BE6CCFEEAE4A}"/>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0A426888-0A04-BA40-27D0-3970BDD78CAB}"/>
              </a:ext>
            </a:extLst>
          </p:cNvPr>
          <p:cNvSpPr>
            <a:spLocks noGrp="1"/>
          </p:cNvSpPr>
          <p:nvPr>
            <p:ph idx="1"/>
          </p:nvPr>
        </p:nvSpPr>
        <p:spPr/>
        <p:txBody>
          <a:bodyPr/>
          <a:lstStyle/>
          <a:p>
            <a:r>
              <a:rPr lang="en-US" dirty="0"/>
              <a:t>https://phoenixnap.com/blog/cloud-virtualization</a:t>
            </a:r>
          </a:p>
        </p:txBody>
      </p:sp>
    </p:spTree>
    <p:extLst>
      <p:ext uri="{BB962C8B-B14F-4D97-AF65-F5344CB8AC3E}">
        <p14:creationId xmlns:p14="http://schemas.microsoft.com/office/powerpoint/2010/main" val="2679804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61051-6227-33CB-A663-6AFF7CA5A881}"/>
              </a:ext>
            </a:extLst>
          </p:cNvPr>
          <p:cNvSpPr>
            <a:spLocks noGrp="1"/>
          </p:cNvSpPr>
          <p:nvPr>
            <p:ph type="title"/>
          </p:nvPr>
        </p:nvSpPr>
        <p:spPr/>
        <p:txBody>
          <a:bodyPr/>
          <a:lstStyle/>
          <a:p>
            <a:r>
              <a:rPr lang="en-US" dirty="0"/>
              <a:t>Compute Virtualization</a:t>
            </a:r>
          </a:p>
        </p:txBody>
      </p:sp>
      <p:sp>
        <p:nvSpPr>
          <p:cNvPr id="3" name="Content Placeholder 2">
            <a:extLst>
              <a:ext uri="{FF2B5EF4-FFF2-40B4-BE49-F238E27FC236}">
                <a16:creationId xmlns:a16="http://schemas.microsoft.com/office/drawing/2014/main" id="{6FB7BECC-FA42-A0C7-E144-6DA10FD365F7}"/>
              </a:ext>
            </a:extLst>
          </p:cNvPr>
          <p:cNvSpPr>
            <a:spLocks noGrp="1"/>
          </p:cNvSpPr>
          <p:nvPr>
            <p:ph idx="1"/>
          </p:nvPr>
        </p:nvSpPr>
        <p:spPr/>
        <p:txBody>
          <a:bodyPr/>
          <a:lstStyle/>
          <a:p>
            <a:pPr algn="just"/>
            <a:r>
              <a:rPr lang="en-US" dirty="0"/>
              <a:t>Compute virtualization is a technology that involves abstracting and isolating computer resources, enabling multiple operating systems and applications to run concurrently on a single physical machine.</a:t>
            </a:r>
          </a:p>
          <a:p>
            <a:pPr algn="just"/>
            <a:r>
              <a:rPr lang="en-US" dirty="0"/>
              <a:t>This process is achieved through a virtualization software, commonly known as a hypervisor, which manages and allocates the underlying hardware resources to the virtual instances. </a:t>
            </a:r>
          </a:p>
          <a:p>
            <a:pPr algn="just"/>
            <a:r>
              <a:rPr lang="en-US" dirty="0"/>
              <a:t>As a result, compute virtualization increases efficiency, flexibility, and resource utilization within IT environments.</a:t>
            </a:r>
          </a:p>
        </p:txBody>
      </p:sp>
    </p:spTree>
    <p:extLst>
      <p:ext uri="{BB962C8B-B14F-4D97-AF65-F5344CB8AC3E}">
        <p14:creationId xmlns:p14="http://schemas.microsoft.com/office/powerpoint/2010/main" val="3522856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8C10D-CABF-2B28-BC7A-C3924EED435A}"/>
              </a:ext>
            </a:extLst>
          </p:cNvPr>
          <p:cNvSpPr>
            <a:spLocks noGrp="1"/>
          </p:cNvSpPr>
          <p:nvPr>
            <p:ph type="title"/>
          </p:nvPr>
        </p:nvSpPr>
        <p:spPr/>
        <p:txBody>
          <a:bodyPr/>
          <a:lstStyle/>
          <a:p>
            <a:r>
              <a:rPr lang="en-US" b="1" dirty="0"/>
              <a:t>Key Characteristics</a:t>
            </a:r>
          </a:p>
        </p:txBody>
      </p:sp>
      <p:sp>
        <p:nvSpPr>
          <p:cNvPr id="3" name="Content Placeholder 2">
            <a:extLst>
              <a:ext uri="{FF2B5EF4-FFF2-40B4-BE49-F238E27FC236}">
                <a16:creationId xmlns:a16="http://schemas.microsoft.com/office/drawing/2014/main" id="{36680E8B-DC3E-9C96-2DDE-FDBB2CA4D464}"/>
              </a:ext>
            </a:extLst>
          </p:cNvPr>
          <p:cNvSpPr>
            <a:spLocks noGrp="1"/>
          </p:cNvSpPr>
          <p:nvPr>
            <p:ph idx="1"/>
          </p:nvPr>
        </p:nvSpPr>
        <p:spPr/>
        <p:txBody>
          <a:bodyPr/>
          <a:lstStyle/>
          <a:p>
            <a:pPr algn="just" fontAlgn="base"/>
            <a:r>
              <a:rPr lang="en-US" dirty="0"/>
              <a:t>Compute Virtualization allows multiple operating systems and applications to run on the same physical hardware, significantly improving hardware utilization and reducing overall IT costs.</a:t>
            </a:r>
          </a:p>
          <a:p>
            <a:pPr algn="just" fontAlgn="base"/>
            <a:r>
              <a:rPr lang="en-US" dirty="0"/>
              <a:t>It improves resource allocation, flexibility, and management by allowing resources such as CPU, memory, and storage to be pooled and dynamically assigned to virtual machines as needed.</a:t>
            </a:r>
          </a:p>
          <a:p>
            <a:pPr algn="just" fontAlgn="base"/>
            <a:r>
              <a:rPr lang="en-US" dirty="0"/>
              <a:t>Virtualization enhances system performance and security by isolating virtual machines from one another, enabling faster deployment of new applications, simplified disaster recovery, and secure multi-tenancy.</a:t>
            </a:r>
          </a:p>
          <a:p>
            <a:endParaRPr lang="en-US" dirty="0"/>
          </a:p>
        </p:txBody>
      </p:sp>
    </p:spTree>
    <p:extLst>
      <p:ext uri="{BB962C8B-B14F-4D97-AF65-F5344CB8AC3E}">
        <p14:creationId xmlns:p14="http://schemas.microsoft.com/office/powerpoint/2010/main" val="3217700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F879-79DB-B613-F844-EC53BADB39ED}"/>
              </a:ext>
            </a:extLst>
          </p:cNvPr>
          <p:cNvSpPr>
            <a:spLocks noGrp="1"/>
          </p:cNvSpPr>
          <p:nvPr>
            <p:ph type="title"/>
          </p:nvPr>
        </p:nvSpPr>
        <p:spPr/>
        <p:txBody>
          <a:bodyPr/>
          <a:lstStyle/>
          <a:p>
            <a:r>
              <a:rPr lang="en-US" b="1" dirty="0"/>
              <a:t>Main Components of Virtualization</a:t>
            </a:r>
            <a:br>
              <a:rPr lang="en-US" b="1" dirty="0"/>
            </a:br>
            <a:endParaRPr lang="en-US" dirty="0"/>
          </a:p>
        </p:txBody>
      </p:sp>
      <p:sp>
        <p:nvSpPr>
          <p:cNvPr id="3" name="Content Placeholder 2">
            <a:extLst>
              <a:ext uri="{FF2B5EF4-FFF2-40B4-BE49-F238E27FC236}">
                <a16:creationId xmlns:a16="http://schemas.microsoft.com/office/drawing/2014/main" id="{830CA9C0-60F5-94E5-FB88-DBEA739E675B}"/>
              </a:ext>
            </a:extLst>
          </p:cNvPr>
          <p:cNvSpPr>
            <a:spLocks noGrp="1"/>
          </p:cNvSpPr>
          <p:nvPr>
            <p:ph idx="1"/>
          </p:nvPr>
        </p:nvSpPr>
        <p:spPr/>
        <p:txBody>
          <a:bodyPr>
            <a:normAutofit fontScale="92500"/>
          </a:bodyPr>
          <a:lstStyle/>
          <a:p>
            <a:pPr algn="just"/>
            <a:r>
              <a:rPr lang="en-US" b="1" dirty="0"/>
              <a:t>1. Hypervisor:</a:t>
            </a:r>
            <a:r>
              <a:rPr lang="en-US" dirty="0"/>
              <a:t> Software that enables virtualization by running multiple OS on one physical machine.</a:t>
            </a:r>
          </a:p>
          <a:p>
            <a:pPr algn="just"/>
            <a:r>
              <a:rPr lang="en-US" b="1" dirty="0"/>
              <a:t>2. Virtual Machine (VM):</a:t>
            </a:r>
            <a:r>
              <a:rPr lang="en-US" dirty="0"/>
              <a:t> A software-based emulation of a physical computer.</a:t>
            </a:r>
          </a:p>
          <a:p>
            <a:pPr algn="just"/>
            <a:r>
              <a:rPr lang="en-US" b="1" dirty="0"/>
              <a:t>3. Host Machine: </a:t>
            </a:r>
            <a:r>
              <a:rPr lang="en-US" dirty="0"/>
              <a:t>The physical computer providing resources for virtualization.</a:t>
            </a:r>
          </a:p>
          <a:p>
            <a:pPr algn="just"/>
            <a:r>
              <a:rPr lang="en-US" b="1" dirty="0"/>
              <a:t>4. Guest OS:</a:t>
            </a:r>
            <a:r>
              <a:rPr lang="en-US" dirty="0"/>
              <a:t> The operating system installed inside a virtual machine.</a:t>
            </a:r>
          </a:p>
          <a:p>
            <a:pPr algn="just"/>
            <a:r>
              <a:rPr lang="en-US" b="1" dirty="0"/>
              <a:t>5. vCPU:</a:t>
            </a:r>
            <a:r>
              <a:rPr lang="en-US" dirty="0"/>
              <a:t> Virtual CPU assigned to a VM, mapped to physical CPU cores.</a:t>
            </a:r>
          </a:p>
          <a:p>
            <a:pPr algn="just"/>
            <a:r>
              <a:rPr lang="en-US" b="1" dirty="0"/>
              <a:t>6. Virtual Network: </a:t>
            </a:r>
            <a:r>
              <a:rPr lang="en-US" dirty="0"/>
              <a:t>A software-defined network connecting VMs internally or externally.</a:t>
            </a:r>
          </a:p>
          <a:p>
            <a:endParaRPr lang="en-US" dirty="0"/>
          </a:p>
        </p:txBody>
      </p:sp>
    </p:spTree>
    <p:extLst>
      <p:ext uri="{BB962C8B-B14F-4D97-AF65-F5344CB8AC3E}">
        <p14:creationId xmlns:p14="http://schemas.microsoft.com/office/powerpoint/2010/main" val="3911079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9FB2F-D8DE-F43A-C4DD-C80AD5060421}"/>
              </a:ext>
            </a:extLst>
          </p:cNvPr>
          <p:cNvSpPr>
            <a:spLocks noGrp="1"/>
          </p:cNvSpPr>
          <p:nvPr>
            <p:ph type="title"/>
          </p:nvPr>
        </p:nvSpPr>
        <p:spPr/>
        <p:txBody>
          <a:bodyPr/>
          <a:lstStyle/>
          <a:p>
            <a:pPr algn="ctr"/>
            <a:r>
              <a:rPr lang="en-US" b="1" dirty="0"/>
              <a:t>Hypervisor</a:t>
            </a:r>
          </a:p>
        </p:txBody>
      </p:sp>
      <p:sp>
        <p:nvSpPr>
          <p:cNvPr id="3" name="Content Placeholder 2">
            <a:extLst>
              <a:ext uri="{FF2B5EF4-FFF2-40B4-BE49-F238E27FC236}">
                <a16:creationId xmlns:a16="http://schemas.microsoft.com/office/drawing/2014/main" id="{28265BCA-110C-4FBA-16E3-36930AFF3886}"/>
              </a:ext>
            </a:extLst>
          </p:cNvPr>
          <p:cNvSpPr>
            <a:spLocks noGrp="1"/>
          </p:cNvSpPr>
          <p:nvPr>
            <p:ph idx="1"/>
          </p:nvPr>
        </p:nvSpPr>
        <p:spPr/>
        <p:txBody>
          <a:bodyPr/>
          <a:lstStyle/>
          <a:p>
            <a:pPr algn="just"/>
            <a:r>
              <a:rPr lang="en-US" dirty="0"/>
              <a:t>A hypervisor (or Virtual Machine Monitor, VMM) is software that lets multiple operating systems run on a single physical machine. </a:t>
            </a:r>
          </a:p>
          <a:p>
            <a:pPr algn="just"/>
            <a:r>
              <a:rPr lang="en-US" dirty="0"/>
              <a:t>It manages hardware resources (CPU, memory, storage) and allocates them to virtual machines (VMs) without interference. </a:t>
            </a:r>
          </a:p>
          <a:p>
            <a:pPr algn="just"/>
            <a:r>
              <a:rPr lang="en-US" dirty="0"/>
              <a:t>This improves hardware utilization, reduces costs, and provides flexibility in cloud and server environments.</a:t>
            </a:r>
          </a:p>
        </p:txBody>
      </p:sp>
    </p:spTree>
    <p:extLst>
      <p:ext uri="{BB962C8B-B14F-4D97-AF65-F5344CB8AC3E}">
        <p14:creationId xmlns:p14="http://schemas.microsoft.com/office/powerpoint/2010/main" val="1702422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D2CE22-5331-C68A-1DFA-522B7E2D548C}"/>
              </a:ext>
            </a:extLst>
          </p:cNvPr>
          <p:cNvSpPr>
            <a:spLocks noGrp="1"/>
          </p:cNvSpPr>
          <p:nvPr>
            <p:ph type="title"/>
          </p:nvPr>
        </p:nvSpPr>
        <p:spPr/>
        <p:txBody>
          <a:bodyPr/>
          <a:lstStyle/>
          <a:p>
            <a:endParaRPr lang="en-US"/>
          </a:p>
        </p:txBody>
      </p:sp>
      <p:sp>
        <p:nvSpPr>
          <p:cNvPr id="9" name="Content Placeholder 8">
            <a:extLst>
              <a:ext uri="{FF2B5EF4-FFF2-40B4-BE49-F238E27FC236}">
                <a16:creationId xmlns:a16="http://schemas.microsoft.com/office/drawing/2014/main" id="{7D864AD9-AA50-93B1-FC71-B6B67AA9DD8D}"/>
              </a:ext>
            </a:extLst>
          </p:cNvPr>
          <p:cNvSpPr>
            <a:spLocks noGrp="1"/>
          </p:cNvSpPr>
          <p:nvPr>
            <p:ph sz="half" idx="1"/>
          </p:nvPr>
        </p:nvSpPr>
        <p:spPr/>
        <p:txBody>
          <a:bodyPr/>
          <a:lstStyle/>
          <a:p>
            <a:r>
              <a:rPr lang="en-US" dirty="0"/>
              <a:t>A hypervisor runs on hardware or a host OS to create and manage virtual machines (VMs), each with its own virtual CPU, memory, storage, and network.</a:t>
            </a:r>
          </a:p>
          <a:p>
            <a:r>
              <a:rPr lang="en-US" dirty="0"/>
              <a:t> It intercepts guest OS requests and translates them to physical hardware, ensuring isolation, security, and stability.</a:t>
            </a:r>
          </a:p>
        </p:txBody>
      </p:sp>
      <p:sp>
        <p:nvSpPr>
          <p:cNvPr id="10" name="Content Placeholder 9">
            <a:extLst>
              <a:ext uri="{FF2B5EF4-FFF2-40B4-BE49-F238E27FC236}">
                <a16:creationId xmlns:a16="http://schemas.microsoft.com/office/drawing/2014/main" id="{5A52B78F-54BE-C0A2-FE6A-1CF28E016E16}"/>
              </a:ext>
            </a:extLst>
          </p:cNvPr>
          <p:cNvSpPr>
            <a:spLocks noGrp="1"/>
          </p:cNvSpPr>
          <p:nvPr>
            <p:ph sz="half" idx="2"/>
          </p:nvPr>
        </p:nvSpPr>
        <p:spPr/>
        <p:txBody>
          <a:bodyPr/>
          <a:lstStyle/>
          <a:p>
            <a:endParaRPr lang="en-US"/>
          </a:p>
        </p:txBody>
      </p:sp>
      <p:sp>
        <p:nvSpPr>
          <p:cNvPr id="4" name="AutoShape 2" descr="419337647">
            <a:extLst>
              <a:ext uri="{FF2B5EF4-FFF2-40B4-BE49-F238E27FC236}">
                <a16:creationId xmlns:a16="http://schemas.microsoft.com/office/drawing/2014/main" id="{17BF2F94-54D7-6665-79D2-8EF842E46AA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E731B34C-C571-223D-7148-501F71A2AA66}"/>
              </a:ext>
            </a:extLst>
          </p:cNvPr>
          <p:cNvPicPr>
            <a:picLocks noChangeAspect="1"/>
          </p:cNvPicPr>
          <p:nvPr/>
        </p:nvPicPr>
        <p:blipFill>
          <a:blip r:embed="rId2"/>
          <a:stretch>
            <a:fillRect/>
          </a:stretch>
        </p:blipFill>
        <p:spPr>
          <a:xfrm>
            <a:off x="6172200" y="722147"/>
            <a:ext cx="4981254" cy="5402589"/>
          </a:xfrm>
          <a:prstGeom prst="rect">
            <a:avLst/>
          </a:prstGeom>
        </p:spPr>
      </p:pic>
    </p:spTree>
    <p:extLst>
      <p:ext uri="{BB962C8B-B14F-4D97-AF65-F5344CB8AC3E}">
        <p14:creationId xmlns:p14="http://schemas.microsoft.com/office/powerpoint/2010/main" val="2702975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5610C-3211-9936-740C-824E76076B0B}"/>
              </a:ext>
            </a:extLst>
          </p:cNvPr>
          <p:cNvSpPr>
            <a:spLocks noGrp="1"/>
          </p:cNvSpPr>
          <p:nvPr>
            <p:ph type="title"/>
          </p:nvPr>
        </p:nvSpPr>
        <p:spPr/>
        <p:txBody>
          <a:bodyPr>
            <a:normAutofit/>
          </a:bodyPr>
          <a:lstStyle/>
          <a:p>
            <a:pPr fontAlgn="base"/>
            <a:r>
              <a:rPr lang="en-US" b="1" dirty="0"/>
              <a:t>Types of Hypervisor</a:t>
            </a:r>
            <a:br>
              <a:rPr lang="en-US" b="1" dirty="0"/>
            </a:br>
            <a:endParaRPr lang="en-US" dirty="0"/>
          </a:p>
        </p:txBody>
      </p:sp>
      <p:sp>
        <p:nvSpPr>
          <p:cNvPr id="3" name="Content Placeholder 2">
            <a:extLst>
              <a:ext uri="{FF2B5EF4-FFF2-40B4-BE49-F238E27FC236}">
                <a16:creationId xmlns:a16="http://schemas.microsoft.com/office/drawing/2014/main" id="{45ABA01E-975F-6D3E-30F4-FB26D8CB6B2C}"/>
              </a:ext>
            </a:extLst>
          </p:cNvPr>
          <p:cNvSpPr>
            <a:spLocks noGrp="1"/>
          </p:cNvSpPr>
          <p:nvPr>
            <p:ph idx="1"/>
          </p:nvPr>
        </p:nvSpPr>
        <p:spPr/>
        <p:txBody>
          <a:bodyPr/>
          <a:lstStyle/>
          <a:p>
            <a:r>
              <a:rPr lang="en-US" dirty="0"/>
              <a:t>There are two main types of hypervisors, each with a different architecture:</a:t>
            </a:r>
          </a:p>
          <a:p>
            <a:pPr marL="514350" indent="-514350">
              <a:buAutoNum type="arabicPeriod"/>
            </a:pPr>
            <a:r>
              <a:rPr lang="en-US" b="1" dirty="0"/>
              <a:t>Type 1 Hypervisor(bare-metal)</a:t>
            </a:r>
          </a:p>
          <a:p>
            <a:pPr marL="514350" indent="-514350">
              <a:buFont typeface="Arial" panose="020B0604020202020204" pitchFamily="34" charset="0"/>
              <a:buAutoNum type="arabicPeriod"/>
            </a:pPr>
            <a:r>
              <a:rPr lang="en-US" b="1" dirty="0"/>
              <a:t>Type 2 Hypervisor(Hosted)</a:t>
            </a:r>
          </a:p>
          <a:p>
            <a:pPr marL="0" indent="0">
              <a:buNone/>
            </a:pPr>
            <a:endParaRPr lang="en-US" b="1" dirty="0"/>
          </a:p>
          <a:p>
            <a:endParaRPr lang="en-US" dirty="0"/>
          </a:p>
        </p:txBody>
      </p:sp>
      <p:sp>
        <p:nvSpPr>
          <p:cNvPr id="4" name="AutoShape 2" descr="419337647">
            <a:extLst>
              <a:ext uri="{FF2B5EF4-FFF2-40B4-BE49-F238E27FC236}">
                <a16:creationId xmlns:a16="http://schemas.microsoft.com/office/drawing/2014/main" id="{4F5A67A8-BBDB-28FA-0838-F1BE0EBE0A5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52993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96F3-4537-F51E-7DBC-76DF80C2E977}"/>
              </a:ext>
            </a:extLst>
          </p:cNvPr>
          <p:cNvSpPr>
            <a:spLocks noGrp="1"/>
          </p:cNvSpPr>
          <p:nvPr>
            <p:ph type="title"/>
          </p:nvPr>
        </p:nvSpPr>
        <p:spPr/>
        <p:txBody>
          <a:bodyPr/>
          <a:lstStyle/>
          <a:p>
            <a:r>
              <a:rPr lang="en-US" b="1" dirty="0"/>
              <a:t>Type 1 Hypervisor(bare-metal)</a:t>
            </a:r>
            <a:br>
              <a:rPr lang="en-US" b="1" dirty="0"/>
            </a:br>
            <a:endParaRPr lang="en-US" dirty="0"/>
          </a:p>
        </p:txBody>
      </p:sp>
      <p:sp>
        <p:nvSpPr>
          <p:cNvPr id="3" name="Content Placeholder 2">
            <a:extLst>
              <a:ext uri="{FF2B5EF4-FFF2-40B4-BE49-F238E27FC236}">
                <a16:creationId xmlns:a16="http://schemas.microsoft.com/office/drawing/2014/main" id="{874FC608-BDEA-8428-2026-CD4D00712B56}"/>
              </a:ext>
            </a:extLst>
          </p:cNvPr>
          <p:cNvSpPr>
            <a:spLocks noGrp="1"/>
          </p:cNvSpPr>
          <p:nvPr>
            <p:ph idx="1"/>
          </p:nvPr>
        </p:nvSpPr>
        <p:spPr/>
        <p:txBody>
          <a:bodyPr/>
          <a:lstStyle/>
          <a:p>
            <a:pPr algn="just" fontAlgn="base"/>
            <a:r>
              <a:rPr lang="en-US" dirty="0"/>
              <a:t>A Type 1 hypervisor runs directly on the host's hardware. </a:t>
            </a:r>
          </a:p>
          <a:p>
            <a:pPr algn="just" fontAlgn="base"/>
            <a:r>
              <a:rPr lang="en-US" dirty="0"/>
              <a:t>It doesn't rely on a host operating system. </a:t>
            </a:r>
          </a:p>
          <a:p>
            <a:pPr algn="just" fontAlgn="base"/>
            <a:r>
              <a:rPr lang="en-US" dirty="0"/>
              <a:t>This architecture offers better performance and security because there is no intermediary OS. </a:t>
            </a:r>
          </a:p>
          <a:p>
            <a:pPr algn="just" fontAlgn="base"/>
            <a:r>
              <a:rPr lang="en-US" dirty="0"/>
              <a:t>It's the standard for enterprise-level data centers and cloud providers like Amazon Web Services (AWS) and Microsoft Azure.</a:t>
            </a:r>
          </a:p>
          <a:p>
            <a:pPr algn="just" fontAlgn="base"/>
            <a:r>
              <a:rPr lang="en-US" b="1" dirty="0"/>
              <a:t>Examples</a:t>
            </a:r>
            <a:r>
              <a:rPr lang="en-US" dirty="0"/>
              <a:t>: VMware </a:t>
            </a:r>
            <a:r>
              <a:rPr lang="en-US" dirty="0" err="1"/>
              <a:t>ESXi</a:t>
            </a:r>
            <a:r>
              <a:rPr lang="en-US" dirty="0"/>
              <a:t>, Microsoft Hyper-V, KVM (Kernel-based Virtual Machine), and Xen.</a:t>
            </a:r>
          </a:p>
          <a:p>
            <a:endParaRPr lang="en-US" dirty="0"/>
          </a:p>
        </p:txBody>
      </p:sp>
    </p:spTree>
    <p:extLst>
      <p:ext uri="{BB962C8B-B14F-4D97-AF65-F5344CB8AC3E}">
        <p14:creationId xmlns:p14="http://schemas.microsoft.com/office/powerpoint/2010/main" val="1131510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12029-54FD-B2C8-E3A6-3D9009969D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8E1BF79-DA47-8ABF-3D92-66725A42EF98}"/>
              </a:ext>
            </a:extLst>
          </p:cNvPr>
          <p:cNvSpPr>
            <a:spLocks noGrp="1"/>
          </p:cNvSpPr>
          <p:nvPr>
            <p:ph idx="1"/>
          </p:nvPr>
        </p:nvSpPr>
        <p:spPr/>
        <p:txBody>
          <a:bodyPr/>
          <a:lstStyle/>
          <a:p>
            <a:pPr marL="0" indent="0" fontAlgn="base">
              <a:buNone/>
            </a:pPr>
            <a:r>
              <a:rPr lang="en-US" b="1" dirty="0"/>
              <a:t>Pros:</a:t>
            </a:r>
            <a:endParaRPr lang="en-US" dirty="0"/>
          </a:p>
          <a:p>
            <a:pPr fontAlgn="base"/>
            <a:r>
              <a:rPr lang="en-US" dirty="0"/>
              <a:t>High performance (direct hardware access).</a:t>
            </a:r>
          </a:p>
          <a:p>
            <a:pPr fontAlgn="base"/>
            <a:r>
              <a:rPr lang="en-US" dirty="0"/>
              <a:t>Strong security (no intermediate OS layer).</a:t>
            </a:r>
          </a:p>
          <a:p>
            <a:pPr fontAlgn="base"/>
            <a:r>
              <a:rPr lang="en-US" dirty="0"/>
              <a:t>Suitable for mission-critical workloads.</a:t>
            </a:r>
          </a:p>
          <a:p>
            <a:pPr marL="0" indent="0" fontAlgn="base">
              <a:buNone/>
            </a:pPr>
            <a:r>
              <a:rPr lang="en-US" b="1" dirty="0"/>
              <a:t>Cons:</a:t>
            </a:r>
            <a:endParaRPr lang="en-US" dirty="0"/>
          </a:p>
          <a:p>
            <a:pPr fontAlgn="base"/>
            <a:r>
              <a:rPr lang="en-US" dirty="0"/>
              <a:t>Requires dedicated hardware.</a:t>
            </a:r>
          </a:p>
          <a:p>
            <a:pPr fontAlgn="base"/>
            <a:r>
              <a:rPr lang="en-US" dirty="0"/>
              <a:t>Setup and management are complex compared to Type-2.</a:t>
            </a:r>
          </a:p>
          <a:p>
            <a:endParaRPr lang="en-US" dirty="0"/>
          </a:p>
        </p:txBody>
      </p:sp>
    </p:spTree>
    <p:extLst>
      <p:ext uri="{BB962C8B-B14F-4D97-AF65-F5344CB8AC3E}">
        <p14:creationId xmlns:p14="http://schemas.microsoft.com/office/powerpoint/2010/main" val="245412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47205-0A9A-4993-04F8-F2BB335DA0FA}"/>
              </a:ext>
            </a:extLst>
          </p:cNvPr>
          <p:cNvSpPr>
            <a:spLocks noGrp="1"/>
          </p:cNvSpPr>
          <p:nvPr>
            <p:ph type="title"/>
          </p:nvPr>
        </p:nvSpPr>
        <p:spPr/>
        <p:txBody>
          <a:bodyPr/>
          <a:lstStyle/>
          <a:p>
            <a:r>
              <a:rPr lang="en-US" b="1" dirty="0"/>
              <a:t>Type 2 Hypervisor(Hosted)</a:t>
            </a:r>
            <a:br>
              <a:rPr lang="en-US" b="1" dirty="0"/>
            </a:br>
            <a:endParaRPr lang="en-US" dirty="0"/>
          </a:p>
        </p:txBody>
      </p:sp>
      <p:sp>
        <p:nvSpPr>
          <p:cNvPr id="3" name="Content Placeholder 2">
            <a:extLst>
              <a:ext uri="{FF2B5EF4-FFF2-40B4-BE49-F238E27FC236}">
                <a16:creationId xmlns:a16="http://schemas.microsoft.com/office/drawing/2014/main" id="{F78C2603-5B7C-1C6D-0793-23F347CE45DD}"/>
              </a:ext>
            </a:extLst>
          </p:cNvPr>
          <p:cNvSpPr>
            <a:spLocks noGrp="1"/>
          </p:cNvSpPr>
          <p:nvPr>
            <p:ph idx="1"/>
          </p:nvPr>
        </p:nvSpPr>
        <p:spPr/>
        <p:txBody>
          <a:bodyPr>
            <a:normAutofit lnSpcReduction="10000"/>
          </a:bodyPr>
          <a:lstStyle/>
          <a:p>
            <a:pPr fontAlgn="base"/>
            <a:r>
              <a:rPr lang="en-US" dirty="0"/>
              <a:t>A </a:t>
            </a:r>
            <a:r>
              <a:rPr lang="en-US" b="1" dirty="0"/>
              <a:t>Type 2 hypervisor</a:t>
            </a:r>
            <a:r>
              <a:rPr lang="en-US" dirty="0"/>
              <a:t> runs on top of a conventional operating system (like Windows, macOS, or Linux). </a:t>
            </a:r>
          </a:p>
          <a:p>
            <a:pPr fontAlgn="base"/>
            <a:r>
              <a:rPr lang="en-US" dirty="0"/>
              <a:t>It's essentially an application within the host OS. </a:t>
            </a:r>
          </a:p>
          <a:p>
            <a:pPr fontAlgn="base"/>
            <a:r>
              <a:rPr lang="en-US" dirty="0"/>
              <a:t>This type is generally used for desktop virtualization, development, and testing environments where a user needs to run multiple OSs on their personal computer. </a:t>
            </a:r>
          </a:p>
          <a:p>
            <a:pPr fontAlgn="base"/>
            <a:r>
              <a:rPr lang="en-US" dirty="0"/>
              <a:t>Performance is slightly lower than Type 1 due to the overhead of the host OS.</a:t>
            </a:r>
          </a:p>
          <a:p>
            <a:pPr fontAlgn="base"/>
            <a:r>
              <a:rPr lang="en-US" b="1" dirty="0"/>
              <a:t>Examples:</a:t>
            </a:r>
            <a:r>
              <a:rPr lang="en-US" dirty="0"/>
              <a:t> Oracle VM VirtualBox, VMware Workstation, and Parallels Desktop.</a:t>
            </a:r>
          </a:p>
          <a:p>
            <a:endParaRPr lang="en-US" dirty="0"/>
          </a:p>
        </p:txBody>
      </p:sp>
    </p:spTree>
    <p:extLst>
      <p:ext uri="{BB962C8B-B14F-4D97-AF65-F5344CB8AC3E}">
        <p14:creationId xmlns:p14="http://schemas.microsoft.com/office/powerpoint/2010/main" val="3113086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A38F5-8197-5CD0-1667-880B401996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3CCF5F-FF81-F59E-A445-6BDB72BB09E7}"/>
              </a:ext>
            </a:extLst>
          </p:cNvPr>
          <p:cNvSpPr>
            <a:spLocks noGrp="1"/>
          </p:cNvSpPr>
          <p:nvPr>
            <p:ph idx="1"/>
          </p:nvPr>
        </p:nvSpPr>
        <p:spPr/>
        <p:txBody>
          <a:bodyPr/>
          <a:lstStyle/>
          <a:p>
            <a:pPr marL="0" indent="0" fontAlgn="base">
              <a:buNone/>
            </a:pPr>
            <a:r>
              <a:rPr lang="en-US" b="1" dirty="0"/>
              <a:t>Pros:</a:t>
            </a:r>
            <a:endParaRPr lang="en-US" dirty="0"/>
          </a:p>
          <a:p>
            <a:pPr fontAlgn="base"/>
            <a:r>
              <a:rPr lang="en-US" dirty="0"/>
              <a:t>Easy to install and use.</a:t>
            </a:r>
          </a:p>
          <a:p>
            <a:pPr fontAlgn="base"/>
            <a:r>
              <a:rPr lang="en-US" dirty="0"/>
              <a:t>Useful for development, testing, and malware analysis.</a:t>
            </a:r>
          </a:p>
          <a:p>
            <a:pPr fontAlgn="base"/>
            <a:r>
              <a:rPr lang="en-US" dirty="0"/>
              <a:t>Provides good host–guest integration features.</a:t>
            </a:r>
          </a:p>
          <a:p>
            <a:pPr marL="0" indent="0" fontAlgn="base">
              <a:buNone/>
            </a:pPr>
            <a:r>
              <a:rPr lang="en-US" b="1" dirty="0"/>
              <a:t>Cons:</a:t>
            </a:r>
            <a:endParaRPr lang="en-US" dirty="0"/>
          </a:p>
          <a:p>
            <a:pPr fontAlgn="base"/>
            <a:r>
              <a:rPr lang="en-US" dirty="0"/>
              <a:t>Slower performance (no direct hardware access).</a:t>
            </a:r>
          </a:p>
          <a:p>
            <a:pPr fontAlgn="base"/>
            <a:r>
              <a:rPr lang="en-US" dirty="0"/>
              <a:t>Security depends on the host OS; compromise of host may affect guests.</a:t>
            </a:r>
          </a:p>
          <a:p>
            <a:endParaRPr lang="en-US" dirty="0"/>
          </a:p>
        </p:txBody>
      </p:sp>
    </p:spTree>
    <p:extLst>
      <p:ext uri="{BB962C8B-B14F-4D97-AF65-F5344CB8AC3E}">
        <p14:creationId xmlns:p14="http://schemas.microsoft.com/office/powerpoint/2010/main" val="1531439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FFE3-EB7F-E503-DF7F-45A1E24F24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2975C0-F529-CF84-ADAB-BF7AD6E5E5A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469F503-6AF3-1549-42E6-FB1B2F7EFAA7}"/>
              </a:ext>
            </a:extLst>
          </p:cNvPr>
          <p:cNvPicPr>
            <a:picLocks noChangeAspect="1"/>
          </p:cNvPicPr>
          <p:nvPr/>
        </p:nvPicPr>
        <p:blipFill>
          <a:blip r:embed="rId2"/>
          <a:stretch>
            <a:fillRect/>
          </a:stretch>
        </p:blipFill>
        <p:spPr>
          <a:xfrm>
            <a:off x="1499546" y="520700"/>
            <a:ext cx="9192908" cy="5304172"/>
          </a:xfrm>
          <a:prstGeom prst="rect">
            <a:avLst/>
          </a:prstGeom>
        </p:spPr>
      </p:pic>
    </p:spTree>
    <p:extLst>
      <p:ext uri="{BB962C8B-B14F-4D97-AF65-F5344CB8AC3E}">
        <p14:creationId xmlns:p14="http://schemas.microsoft.com/office/powerpoint/2010/main" val="1316863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A621-442F-ADEF-575E-EE2C3CBE31C3}"/>
              </a:ext>
            </a:extLst>
          </p:cNvPr>
          <p:cNvSpPr>
            <a:spLocks noGrp="1"/>
          </p:cNvSpPr>
          <p:nvPr>
            <p:ph type="title"/>
          </p:nvPr>
        </p:nvSpPr>
        <p:spPr/>
        <p:txBody>
          <a:bodyPr/>
          <a:lstStyle/>
          <a:p>
            <a:r>
              <a:rPr lang="en-US" b="1" dirty="0"/>
              <a:t>HYPERVISOR REFERENCE MODEL</a:t>
            </a:r>
            <a:br>
              <a:rPr lang="en-US" b="1" dirty="0"/>
            </a:br>
            <a:endParaRPr lang="en-US" dirty="0"/>
          </a:p>
        </p:txBody>
      </p:sp>
      <p:sp>
        <p:nvSpPr>
          <p:cNvPr id="3" name="Content Placeholder 2">
            <a:extLst>
              <a:ext uri="{FF2B5EF4-FFF2-40B4-BE49-F238E27FC236}">
                <a16:creationId xmlns:a16="http://schemas.microsoft.com/office/drawing/2014/main" id="{77016262-5421-836D-9AD9-E34065C78DAC}"/>
              </a:ext>
            </a:extLst>
          </p:cNvPr>
          <p:cNvSpPr>
            <a:spLocks noGrp="1"/>
          </p:cNvSpPr>
          <p:nvPr>
            <p:ph idx="1"/>
          </p:nvPr>
        </p:nvSpPr>
        <p:spPr/>
        <p:txBody>
          <a:bodyPr>
            <a:normAutofit fontScale="92500" lnSpcReduction="20000"/>
          </a:bodyPr>
          <a:lstStyle/>
          <a:p>
            <a:pPr algn="just" fontAlgn="base"/>
            <a:r>
              <a:rPr lang="en-US" dirty="0"/>
              <a:t>There are 3 main modules coordinates in order to emulate the underlying hardware: </a:t>
            </a:r>
          </a:p>
          <a:p>
            <a:pPr algn="just" fontAlgn="base"/>
            <a:r>
              <a:rPr lang="en-US" b="1" dirty="0"/>
              <a:t>DISPATCHER:</a:t>
            </a:r>
            <a:r>
              <a:rPr lang="en-US" dirty="0"/>
              <a:t> The dispatcher behaves like the entry point of the monitor and reroutes the instructions of the virtual machine instance to one of the other two modules. </a:t>
            </a:r>
          </a:p>
          <a:p>
            <a:pPr algn="just" fontAlgn="base"/>
            <a:r>
              <a:rPr lang="en-US" b="1" dirty="0"/>
              <a:t>ALLOCATOR:</a:t>
            </a:r>
            <a:r>
              <a:rPr lang="en-US" dirty="0"/>
              <a:t> The allocator is responsible for deciding the system resources to be provided to the virtual machine instance. It means whenever a virtual machine tries to execute an instruction that results in changing the machine resources associated with the virtual machine, the allocator is invoked by the dispatcher. </a:t>
            </a:r>
          </a:p>
          <a:p>
            <a:pPr algn="just" fontAlgn="base"/>
            <a:r>
              <a:rPr lang="en-US" b="1" dirty="0"/>
              <a:t>INTERPRETER:</a:t>
            </a:r>
            <a:r>
              <a:rPr lang="en-US" dirty="0"/>
              <a:t> The interpreter module consists of interpreter routines. These are executed, whenever a virtual machine executes a privileged instruction.</a:t>
            </a:r>
          </a:p>
          <a:p>
            <a:endParaRPr lang="en-US" dirty="0"/>
          </a:p>
        </p:txBody>
      </p:sp>
    </p:spTree>
    <p:extLst>
      <p:ext uri="{BB962C8B-B14F-4D97-AF65-F5344CB8AC3E}">
        <p14:creationId xmlns:p14="http://schemas.microsoft.com/office/powerpoint/2010/main" val="2179664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BEFD-BFC9-AE2B-DAA9-45ED969CFC43}"/>
              </a:ext>
            </a:extLst>
          </p:cNvPr>
          <p:cNvSpPr>
            <a:spLocks noGrp="1"/>
          </p:cNvSpPr>
          <p:nvPr>
            <p:ph type="title"/>
          </p:nvPr>
        </p:nvSpPr>
        <p:spPr/>
        <p:txBody>
          <a:bodyPr/>
          <a:lstStyle/>
          <a:p>
            <a:r>
              <a:rPr lang="en-US" dirty="0"/>
              <a:t>Virtual Machines vs. Containers</a:t>
            </a:r>
          </a:p>
        </p:txBody>
      </p:sp>
      <p:sp>
        <p:nvSpPr>
          <p:cNvPr id="3" name="Content Placeholder 2">
            <a:extLst>
              <a:ext uri="{FF2B5EF4-FFF2-40B4-BE49-F238E27FC236}">
                <a16:creationId xmlns:a16="http://schemas.microsoft.com/office/drawing/2014/main" id="{58F26BFD-47AD-06D7-940E-E9DBCB9CDD1A}"/>
              </a:ext>
            </a:extLst>
          </p:cNvPr>
          <p:cNvSpPr>
            <a:spLocks noGrp="1"/>
          </p:cNvSpPr>
          <p:nvPr>
            <p:ph idx="1"/>
          </p:nvPr>
        </p:nvSpPr>
        <p:spPr/>
        <p:txBody>
          <a:bodyPr>
            <a:normAutofit fontScale="92500" lnSpcReduction="10000"/>
          </a:bodyPr>
          <a:lstStyle/>
          <a:p>
            <a:pPr algn="just"/>
            <a:r>
              <a:rPr lang="en-US" dirty="0"/>
              <a:t>Containers and virtual machines are technologies that make your applications independent from your IT infrastructure resources. </a:t>
            </a:r>
          </a:p>
          <a:p>
            <a:pPr algn="just"/>
            <a:r>
              <a:rPr lang="en-US" dirty="0"/>
              <a:t>A container is a software code package containing an application’s code, its libraries, and other dependencies. </a:t>
            </a:r>
          </a:p>
          <a:p>
            <a:pPr algn="just"/>
            <a:r>
              <a:rPr lang="en-US" dirty="0"/>
              <a:t>Containerization makes your applications portable so that the same code can run on any device. </a:t>
            </a:r>
          </a:p>
          <a:p>
            <a:pPr algn="just"/>
            <a:r>
              <a:rPr lang="en-US" dirty="0"/>
              <a:t>A virtual machine is a digital copy of a physical machine. </a:t>
            </a:r>
          </a:p>
          <a:p>
            <a:pPr algn="just"/>
            <a:r>
              <a:rPr lang="en-US" dirty="0"/>
              <a:t>You can have multiple virtual machines with their own individual operating systems running on the same host operating system. </a:t>
            </a:r>
          </a:p>
          <a:p>
            <a:pPr algn="just"/>
            <a:r>
              <a:rPr lang="en-US" dirty="0"/>
              <a:t>In addition you can create a virtual machine that contains everything required to run your application.</a:t>
            </a:r>
          </a:p>
        </p:txBody>
      </p:sp>
    </p:spTree>
    <p:extLst>
      <p:ext uri="{BB962C8B-B14F-4D97-AF65-F5344CB8AC3E}">
        <p14:creationId xmlns:p14="http://schemas.microsoft.com/office/powerpoint/2010/main" val="14731011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7D470-CEDC-E0DA-DC01-6BE05F5D0B67}"/>
              </a:ext>
            </a:extLst>
          </p:cNvPr>
          <p:cNvSpPr>
            <a:spLocks noGrp="1"/>
          </p:cNvSpPr>
          <p:nvPr>
            <p:ph type="title"/>
          </p:nvPr>
        </p:nvSpPr>
        <p:spPr/>
        <p:txBody>
          <a:bodyPr>
            <a:normAutofit fontScale="90000"/>
          </a:bodyPr>
          <a:lstStyle/>
          <a:p>
            <a:r>
              <a:rPr lang="en-US" b="1" dirty="0"/>
              <a:t>Where are containers and virtual machines used?</a:t>
            </a:r>
            <a:br>
              <a:rPr lang="en-US" b="1" dirty="0"/>
            </a:br>
            <a:endParaRPr lang="en-US" b="1" dirty="0"/>
          </a:p>
        </p:txBody>
      </p:sp>
      <p:sp>
        <p:nvSpPr>
          <p:cNvPr id="3" name="Content Placeholder 2">
            <a:extLst>
              <a:ext uri="{FF2B5EF4-FFF2-40B4-BE49-F238E27FC236}">
                <a16:creationId xmlns:a16="http://schemas.microsoft.com/office/drawing/2014/main" id="{8B15C7A6-4402-7642-7A25-3DC284C4B707}"/>
              </a:ext>
            </a:extLst>
          </p:cNvPr>
          <p:cNvSpPr>
            <a:spLocks noGrp="1"/>
          </p:cNvSpPr>
          <p:nvPr>
            <p:ph idx="1"/>
          </p:nvPr>
        </p:nvSpPr>
        <p:spPr/>
        <p:txBody>
          <a:bodyPr/>
          <a:lstStyle/>
          <a:p>
            <a:pPr algn="just"/>
            <a:r>
              <a:rPr lang="en-US" dirty="0"/>
              <a:t>Containers and virtual machines are both deployment technologies.</a:t>
            </a:r>
          </a:p>
          <a:p>
            <a:pPr algn="just"/>
            <a:r>
              <a:rPr lang="en-US" dirty="0"/>
              <a:t>In the software development lifecycle, deployment is the mechanism that makes an application run efficiently on a server or device. </a:t>
            </a:r>
          </a:p>
          <a:p>
            <a:pPr algn="just"/>
            <a:r>
              <a:rPr lang="en-US" dirty="0"/>
              <a:t>The application requires several additional software components called </a:t>
            </a:r>
            <a:r>
              <a:rPr lang="en-US" i="1" dirty="0"/>
              <a:t>dependencies</a:t>
            </a:r>
            <a:r>
              <a:rPr lang="en-US" dirty="0"/>
              <a:t> that are closely related to the underlying operating system of the server. </a:t>
            </a:r>
          </a:p>
          <a:p>
            <a:pPr algn="just"/>
            <a:r>
              <a:rPr lang="en-US" dirty="0"/>
              <a:t>All these different software layers between the application code and the physical device are called the </a:t>
            </a:r>
            <a:r>
              <a:rPr lang="en-US" i="1" dirty="0"/>
              <a:t>application environment</a:t>
            </a:r>
            <a:r>
              <a:rPr lang="en-US" dirty="0"/>
              <a:t>.</a:t>
            </a:r>
          </a:p>
        </p:txBody>
      </p:sp>
    </p:spTree>
    <p:extLst>
      <p:ext uri="{BB962C8B-B14F-4D97-AF65-F5344CB8AC3E}">
        <p14:creationId xmlns:p14="http://schemas.microsoft.com/office/powerpoint/2010/main" val="3776658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5B135-D5BF-9BD8-90C1-B76EC674E40B}"/>
              </a:ext>
            </a:extLst>
          </p:cNvPr>
          <p:cNvSpPr>
            <a:spLocks noGrp="1"/>
          </p:cNvSpPr>
          <p:nvPr>
            <p:ph type="title"/>
          </p:nvPr>
        </p:nvSpPr>
        <p:spPr/>
        <p:txBody>
          <a:bodyPr/>
          <a:lstStyle/>
          <a:p>
            <a:r>
              <a:rPr lang="en-US" b="1" dirty="0"/>
              <a:t>Challenges in software deployment</a:t>
            </a:r>
            <a:br>
              <a:rPr lang="en-US" b="1" dirty="0"/>
            </a:br>
            <a:endParaRPr lang="en-US" dirty="0"/>
          </a:p>
        </p:txBody>
      </p:sp>
      <p:sp>
        <p:nvSpPr>
          <p:cNvPr id="3" name="Content Placeholder 2">
            <a:extLst>
              <a:ext uri="{FF2B5EF4-FFF2-40B4-BE49-F238E27FC236}">
                <a16:creationId xmlns:a16="http://schemas.microsoft.com/office/drawing/2014/main" id="{49FF4AC7-7336-6D60-54D9-ACCC0C1D32E2}"/>
              </a:ext>
            </a:extLst>
          </p:cNvPr>
          <p:cNvSpPr>
            <a:spLocks noGrp="1"/>
          </p:cNvSpPr>
          <p:nvPr>
            <p:ph idx="1"/>
          </p:nvPr>
        </p:nvSpPr>
        <p:spPr/>
        <p:txBody>
          <a:bodyPr>
            <a:normAutofit/>
          </a:bodyPr>
          <a:lstStyle/>
          <a:p>
            <a:pPr algn="just"/>
            <a:r>
              <a:rPr lang="en-US" dirty="0"/>
              <a:t>Organizations typically have to deploy applications in multiple environments—for example, developing on the Linux environment and testing on Windows—before releasing new features. </a:t>
            </a:r>
          </a:p>
          <a:p>
            <a:pPr algn="just"/>
            <a:r>
              <a:rPr lang="en-US" dirty="0"/>
              <a:t>Moving the application between environments can result in bugs and glitches, which lower productivity, due to missed dependencies. </a:t>
            </a:r>
          </a:p>
          <a:p>
            <a:pPr algn="just"/>
            <a:r>
              <a:rPr lang="en-US" dirty="0"/>
              <a:t>At the same time, building and testing the application in just one environment limits its usefulness. </a:t>
            </a:r>
          </a:p>
        </p:txBody>
      </p:sp>
    </p:spTree>
    <p:extLst>
      <p:ext uri="{BB962C8B-B14F-4D97-AF65-F5344CB8AC3E}">
        <p14:creationId xmlns:p14="http://schemas.microsoft.com/office/powerpoint/2010/main" val="2405617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7EDBD-4236-C988-85DF-0AFE9C9DB5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66AF27-E5CF-1FC6-DD78-3E79945F7967}"/>
              </a:ext>
            </a:extLst>
          </p:cNvPr>
          <p:cNvSpPr>
            <a:spLocks noGrp="1"/>
          </p:cNvSpPr>
          <p:nvPr>
            <p:ph idx="1"/>
          </p:nvPr>
        </p:nvSpPr>
        <p:spPr/>
        <p:txBody>
          <a:bodyPr/>
          <a:lstStyle/>
          <a:p>
            <a:pPr marL="0" indent="0" algn="just">
              <a:buNone/>
            </a:pPr>
            <a:r>
              <a:rPr lang="en-US" dirty="0"/>
              <a:t>Here are some examples:</a:t>
            </a:r>
          </a:p>
          <a:p>
            <a:pPr algn="just"/>
            <a:r>
              <a:rPr lang="en-US" dirty="0"/>
              <a:t>You may have to develop different versions for users with different operating systems</a:t>
            </a:r>
          </a:p>
          <a:p>
            <a:pPr algn="just"/>
            <a:r>
              <a:rPr lang="en-US" dirty="0"/>
              <a:t>Your system administrators must update and maintain all environments uniformly, increasing development costs</a:t>
            </a:r>
          </a:p>
          <a:p>
            <a:pPr algn="just"/>
            <a:r>
              <a:rPr lang="en-US" dirty="0"/>
              <a:t>You may find it challenging to move your applications from on-premises data centers to the cloud or between different cloud environments</a:t>
            </a:r>
          </a:p>
          <a:p>
            <a:endParaRPr lang="en-US" dirty="0"/>
          </a:p>
        </p:txBody>
      </p:sp>
    </p:spTree>
    <p:extLst>
      <p:ext uri="{BB962C8B-B14F-4D97-AF65-F5344CB8AC3E}">
        <p14:creationId xmlns:p14="http://schemas.microsoft.com/office/powerpoint/2010/main" val="4135637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9D87-1B22-7E2C-E393-18788EF754E9}"/>
              </a:ext>
            </a:extLst>
          </p:cNvPr>
          <p:cNvSpPr>
            <a:spLocks noGrp="1"/>
          </p:cNvSpPr>
          <p:nvPr>
            <p:ph type="title"/>
          </p:nvPr>
        </p:nvSpPr>
        <p:spPr/>
        <p:txBody>
          <a:bodyPr/>
          <a:lstStyle/>
          <a:p>
            <a:r>
              <a:rPr lang="en-US" b="1" dirty="0"/>
              <a:t>Purpose of virtual machines</a:t>
            </a:r>
            <a:br>
              <a:rPr lang="en-US" b="1" dirty="0"/>
            </a:br>
            <a:endParaRPr lang="en-US" dirty="0"/>
          </a:p>
        </p:txBody>
      </p:sp>
      <p:sp>
        <p:nvSpPr>
          <p:cNvPr id="3" name="Content Placeholder 2">
            <a:extLst>
              <a:ext uri="{FF2B5EF4-FFF2-40B4-BE49-F238E27FC236}">
                <a16:creationId xmlns:a16="http://schemas.microsoft.com/office/drawing/2014/main" id="{D74CF48B-AD28-1AE3-624E-741BFE7C2A77}"/>
              </a:ext>
            </a:extLst>
          </p:cNvPr>
          <p:cNvSpPr>
            <a:spLocks noGrp="1"/>
          </p:cNvSpPr>
          <p:nvPr>
            <p:ph idx="1"/>
          </p:nvPr>
        </p:nvSpPr>
        <p:spPr/>
        <p:txBody>
          <a:bodyPr>
            <a:normAutofit/>
          </a:bodyPr>
          <a:lstStyle/>
          <a:p>
            <a:pPr algn="just"/>
            <a:r>
              <a:rPr lang="en-US" dirty="0"/>
              <a:t>Historically, virtual machine technology was developed to efficiently use increasing physical hardware capacity and processing power.</a:t>
            </a:r>
          </a:p>
          <a:p>
            <a:pPr algn="just"/>
            <a:r>
              <a:rPr lang="en-US" dirty="0"/>
              <a:t> Running a single application environment on a single physical server underutilized hardware resources. </a:t>
            </a:r>
          </a:p>
          <a:p>
            <a:pPr algn="just"/>
            <a:r>
              <a:rPr lang="en-US" dirty="0"/>
              <a:t>Virtual machines allow organizations to install multiple operating systems and create multiple environments on the same physical machine.</a:t>
            </a:r>
          </a:p>
          <a:p>
            <a:endParaRPr lang="en-US" dirty="0"/>
          </a:p>
        </p:txBody>
      </p:sp>
    </p:spTree>
    <p:extLst>
      <p:ext uri="{BB962C8B-B14F-4D97-AF65-F5344CB8AC3E}">
        <p14:creationId xmlns:p14="http://schemas.microsoft.com/office/powerpoint/2010/main" val="31355018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AD56E-EA8B-FD6E-5939-962D8AC967E9}"/>
              </a:ext>
            </a:extLst>
          </p:cNvPr>
          <p:cNvSpPr>
            <a:spLocks noGrp="1"/>
          </p:cNvSpPr>
          <p:nvPr>
            <p:ph type="title"/>
          </p:nvPr>
        </p:nvSpPr>
        <p:spPr/>
        <p:txBody>
          <a:bodyPr/>
          <a:lstStyle/>
          <a:p>
            <a:r>
              <a:rPr lang="en-US" b="1" dirty="0"/>
              <a:t>Purpose of containers</a:t>
            </a:r>
            <a:br>
              <a:rPr lang="en-US" b="1" dirty="0"/>
            </a:br>
            <a:endParaRPr lang="en-US" dirty="0"/>
          </a:p>
        </p:txBody>
      </p:sp>
      <p:sp>
        <p:nvSpPr>
          <p:cNvPr id="3" name="Content Placeholder 2">
            <a:extLst>
              <a:ext uri="{FF2B5EF4-FFF2-40B4-BE49-F238E27FC236}">
                <a16:creationId xmlns:a16="http://schemas.microsoft.com/office/drawing/2014/main" id="{B38D4067-C3F1-A382-AAC3-99285D211D53}"/>
              </a:ext>
            </a:extLst>
          </p:cNvPr>
          <p:cNvSpPr>
            <a:spLocks noGrp="1"/>
          </p:cNvSpPr>
          <p:nvPr>
            <p:ph idx="1"/>
          </p:nvPr>
        </p:nvSpPr>
        <p:spPr/>
        <p:txBody>
          <a:bodyPr/>
          <a:lstStyle/>
          <a:p>
            <a:pPr algn="just"/>
            <a:r>
              <a:rPr lang="en-US" dirty="0"/>
              <a:t>Containers were created to package and run applications in a predictable and repeatable way across multiple environments.</a:t>
            </a:r>
          </a:p>
          <a:p>
            <a:pPr algn="just"/>
            <a:r>
              <a:rPr lang="en-US" dirty="0"/>
              <a:t> Instead of recreating the environment, you packaged the application to run on all types of physical or virtual environments. </a:t>
            </a:r>
          </a:p>
          <a:p>
            <a:pPr algn="just"/>
            <a:r>
              <a:rPr lang="en-US" dirty="0"/>
              <a:t>This is similar to putting an astronaut in a spacesuit instead of recreating the Earth's atmosphere for them on another planet.</a:t>
            </a:r>
          </a:p>
          <a:p>
            <a:endParaRPr lang="en-US" dirty="0"/>
          </a:p>
        </p:txBody>
      </p:sp>
    </p:spTree>
    <p:extLst>
      <p:ext uri="{BB962C8B-B14F-4D97-AF65-F5344CB8AC3E}">
        <p14:creationId xmlns:p14="http://schemas.microsoft.com/office/powerpoint/2010/main" val="3305701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13A7-F175-380E-DABE-11DFF5143CB5}"/>
              </a:ext>
            </a:extLst>
          </p:cNvPr>
          <p:cNvSpPr>
            <a:spLocks noGrp="1"/>
          </p:cNvSpPr>
          <p:nvPr>
            <p:ph type="title"/>
          </p:nvPr>
        </p:nvSpPr>
        <p:spPr/>
        <p:txBody>
          <a:bodyPr>
            <a:normAutofit fontScale="90000"/>
          </a:bodyPr>
          <a:lstStyle/>
          <a:p>
            <a:r>
              <a:rPr lang="en-US" b="1" dirty="0"/>
              <a:t>Similarities between containers and virtual machines</a:t>
            </a:r>
            <a:br>
              <a:rPr lang="en-US" dirty="0"/>
            </a:br>
            <a:endParaRPr lang="en-US" dirty="0"/>
          </a:p>
        </p:txBody>
      </p:sp>
      <p:sp>
        <p:nvSpPr>
          <p:cNvPr id="3" name="Content Placeholder 2">
            <a:extLst>
              <a:ext uri="{FF2B5EF4-FFF2-40B4-BE49-F238E27FC236}">
                <a16:creationId xmlns:a16="http://schemas.microsoft.com/office/drawing/2014/main" id="{84CBB3B4-699C-3839-7F2E-1A86CD92CAC9}"/>
              </a:ext>
            </a:extLst>
          </p:cNvPr>
          <p:cNvSpPr>
            <a:spLocks noGrp="1"/>
          </p:cNvSpPr>
          <p:nvPr>
            <p:ph idx="1"/>
          </p:nvPr>
        </p:nvSpPr>
        <p:spPr/>
        <p:txBody>
          <a:bodyPr>
            <a:normAutofit/>
          </a:bodyPr>
          <a:lstStyle/>
          <a:p>
            <a:pPr algn="just"/>
            <a:r>
              <a:rPr lang="en-US" dirty="0"/>
              <a:t>Containers and virtual machines allow for the full isolation of applications so that you can run them in multiple environments. </a:t>
            </a:r>
          </a:p>
          <a:p>
            <a:pPr algn="just"/>
            <a:r>
              <a:rPr lang="en-US" dirty="0"/>
              <a:t>They virtualize or abstract underlying infrastructure, so users don't have to worry about that. </a:t>
            </a:r>
          </a:p>
          <a:p>
            <a:pPr algn="just"/>
            <a:r>
              <a:rPr lang="en-US" dirty="0"/>
              <a:t>They also allow you to package your software infrastructure into a single file called an </a:t>
            </a:r>
            <a:r>
              <a:rPr lang="en-US" i="1" dirty="0"/>
              <a:t>image file</a:t>
            </a:r>
            <a:r>
              <a:rPr lang="en-US" dirty="0"/>
              <a:t>. You can use the image file to quickly set up and run your application anywhere. </a:t>
            </a:r>
          </a:p>
          <a:p>
            <a:pPr algn="just"/>
            <a:r>
              <a:rPr lang="en-US" dirty="0"/>
              <a:t>However, the role and extent of use for containers and virtual machines vary depending on where and how the application is deployed.</a:t>
            </a:r>
          </a:p>
          <a:p>
            <a:endParaRPr lang="en-US" dirty="0"/>
          </a:p>
        </p:txBody>
      </p:sp>
    </p:spTree>
    <p:extLst>
      <p:ext uri="{BB962C8B-B14F-4D97-AF65-F5344CB8AC3E}">
        <p14:creationId xmlns:p14="http://schemas.microsoft.com/office/powerpoint/2010/main" val="16335168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153F-D874-E684-652F-3F7B857D5748}"/>
              </a:ext>
            </a:extLst>
          </p:cNvPr>
          <p:cNvSpPr>
            <a:spLocks noGrp="1"/>
          </p:cNvSpPr>
          <p:nvPr>
            <p:ph type="title"/>
          </p:nvPr>
        </p:nvSpPr>
        <p:spPr/>
        <p:txBody>
          <a:bodyPr>
            <a:normAutofit fontScale="90000"/>
          </a:bodyPr>
          <a:lstStyle/>
          <a:p>
            <a:r>
              <a:rPr lang="en-US" b="1" dirty="0"/>
              <a:t>Key differences: containers vs. virtual machines</a:t>
            </a:r>
            <a:br>
              <a:rPr lang="en-US" dirty="0"/>
            </a:br>
            <a:endParaRPr lang="en-US" dirty="0"/>
          </a:p>
        </p:txBody>
      </p:sp>
      <p:sp>
        <p:nvSpPr>
          <p:cNvPr id="3" name="Content Placeholder 2">
            <a:extLst>
              <a:ext uri="{FF2B5EF4-FFF2-40B4-BE49-F238E27FC236}">
                <a16:creationId xmlns:a16="http://schemas.microsoft.com/office/drawing/2014/main" id="{4480787E-8F6E-6FA5-9D08-C5D0CC55B568}"/>
              </a:ext>
            </a:extLst>
          </p:cNvPr>
          <p:cNvSpPr>
            <a:spLocks noGrp="1"/>
          </p:cNvSpPr>
          <p:nvPr>
            <p:ph idx="1"/>
          </p:nvPr>
        </p:nvSpPr>
        <p:spPr/>
        <p:txBody>
          <a:bodyPr/>
          <a:lstStyle/>
          <a:p>
            <a:pPr algn="just"/>
            <a:r>
              <a:rPr lang="en-US" dirty="0"/>
              <a:t>Containers virtualize the operating system so the application can run independently on any platform. </a:t>
            </a:r>
          </a:p>
          <a:p>
            <a:pPr algn="just"/>
            <a:r>
              <a:rPr lang="en-US" dirty="0"/>
              <a:t>Virtual machines go beyond that to virtualize physical machines, so you can use your hardware resources efficiently. </a:t>
            </a:r>
          </a:p>
        </p:txBody>
      </p:sp>
    </p:spTree>
    <p:extLst>
      <p:ext uri="{BB962C8B-B14F-4D97-AF65-F5344CB8AC3E}">
        <p14:creationId xmlns:p14="http://schemas.microsoft.com/office/powerpoint/2010/main" val="4104009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D620-1456-CE68-CF2C-5B69BC47F565}"/>
              </a:ext>
            </a:extLst>
          </p:cNvPr>
          <p:cNvSpPr>
            <a:spLocks noGrp="1"/>
          </p:cNvSpPr>
          <p:nvPr>
            <p:ph type="title"/>
          </p:nvPr>
        </p:nvSpPr>
        <p:spPr/>
        <p:txBody>
          <a:bodyPr/>
          <a:lstStyle/>
          <a:p>
            <a:r>
              <a:rPr lang="en-US" b="1" dirty="0"/>
              <a:t>How they work</a:t>
            </a:r>
            <a:br>
              <a:rPr lang="en-US" b="1" dirty="0"/>
            </a:br>
            <a:endParaRPr lang="en-US" dirty="0"/>
          </a:p>
        </p:txBody>
      </p:sp>
      <p:sp>
        <p:nvSpPr>
          <p:cNvPr id="3" name="Content Placeholder 2">
            <a:extLst>
              <a:ext uri="{FF2B5EF4-FFF2-40B4-BE49-F238E27FC236}">
                <a16:creationId xmlns:a16="http://schemas.microsoft.com/office/drawing/2014/main" id="{FFC4BCBC-A3E8-18BC-2970-2E46656B003D}"/>
              </a:ext>
            </a:extLst>
          </p:cNvPr>
          <p:cNvSpPr>
            <a:spLocks noGrp="1"/>
          </p:cNvSpPr>
          <p:nvPr>
            <p:ph idx="1"/>
          </p:nvPr>
        </p:nvSpPr>
        <p:spPr/>
        <p:txBody>
          <a:bodyPr>
            <a:normAutofit lnSpcReduction="10000"/>
          </a:bodyPr>
          <a:lstStyle/>
          <a:p>
            <a:pPr algn="just"/>
            <a:r>
              <a:rPr lang="en-US" dirty="0"/>
              <a:t>Container technology involves building self-sufficient software packages that perform consistently, regardless of the machines they run on. Software developers create and deploy </a:t>
            </a:r>
            <a:r>
              <a:rPr lang="en-US" i="1" dirty="0"/>
              <a:t>container images</a:t>
            </a:r>
            <a:r>
              <a:rPr lang="en-US" dirty="0"/>
              <a:t>—files containing the necessary information to run the application. Container images are read-only and cannot be altered by the computer system.</a:t>
            </a:r>
          </a:p>
          <a:p>
            <a:pPr algn="just"/>
            <a:r>
              <a:rPr lang="en-US" dirty="0"/>
              <a:t>Virtual machine technology involves installing virtualization software on a physical server or computer. The physical computer is called the </a:t>
            </a:r>
            <a:r>
              <a:rPr lang="en-US" i="1" dirty="0"/>
              <a:t>host </a:t>
            </a:r>
            <a:r>
              <a:rPr lang="en-US" dirty="0"/>
              <a:t>computer and the virtual machine is called the </a:t>
            </a:r>
            <a:r>
              <a:rPr lang="en-US" i="1" dirty="0"/>
              <a:t>guest</a:t>
            </a:r>
            <a:r>
              <a:rPr lang="en-US" dirty="0"/>
              <a:t>. You can configure and update the guest operating system and its applications as necessary without affecting the host operating system.</a:t>
            </a:r>
          </a:p>
          <a:p>
            <a:endParaRPr lang="en-US" dirty="0"/>
          </a:p>
        </p:txBody>
      </p:sp>
    </p:spTree>
    <p:extLst>
      <p:ext uri="{BB962C8B-B14F-4D97-AF65-F5344CB8AC3E}">
        <p14:creationId xmlns:p14="http://schemas.microsoft.com/office/powerpoint/2010/main" val="411382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80E5F-0FC6-934F-6156-E62DA55DCB50}"/>
              </a:ext>
            </a:extLst>
          </p:cNvPr>
          <p:cNvSpPr>
            <a:spLocks noGrp="1"/>
          </p:cNvSpPr>
          <p:nvPr>
            <p:ph type="title"/>
          </p:nvPr>
        </p:nvSpPr>
        <p:spPr/>
        <p:txBody>
          <a:bodyPr/>
          <a:lstStyle/>
          <a:p>
            <a:r>
              <a:rPr lang="en-US" b="1" dirty="0"/>
              <a:t>Core technology</a:t>
            </a:r>
            <a:br>
              <a:rPr lang="en-US" b="1" dirty="0"/>
            </a:br>
            <a:endParaRPr lang="en-US" dirty="0"/>
          </a:p>
        </p:txBody>
      </p:sp>
      <p:sp>
        <p:nvSpPr>
          <p:cNvPr id="3" name="Content Placeholder 2">
            <a:extLst>
              <a:ext uri="{FF2B5EF4-FFF2-40B4-BE49-F238E27FC236}">
                <a16:creationId xmlns:a16="http://schemas.microsoft.com/office/drawing/2014/main" id="{F3FED125-27E8-31EC-1B36-3D478A2149B6}"/>
              </a:ext>
            </a:extLst>
          </p:cNvPr>
          <p:cNvSpPr>
            <a:spLocks noGrp="1"/>
          </p:cNvSpPr>
          <p:nvPr>
            <p:ph idx="1"/>
          </p:nvPr>
        </p:nvSpPr>
        <p:spPr/>
        <p:txBody>
          <a:bodyPr/>
          <a:lstStyle/>
          <a:p>
            <a:pPr algn="just"/>
            <a:r>
              <a:rPr lang="en-US" dirty="0"/>
              <a:t>Virtual machines use hypervisors that communicate between the guest operating system and the host operating system. The hypervisor coordinates resource sharing, so the virtual machine runs in isolation alongside several others on the same hardware.</a:t>
            </a:r>
          </a:p>
          <a:p>
            <a:pPr algn="just"/>
            <a:r>
              <a:rPr lang="en-US" dirty="0"/>
              <a:t>Containers, on the other hand, use a container engine or container runtime. This is software that acts as an intermediary agent between the containers and the operating system, providing and managing system resources that the application needs. Docker is the most popular open-source container engine.</a:t>
            </a:r>
          </a:p>
          <a:p>
            <a:endParaRPr lang="en-US" dirty="0"/>
          </a:p>
        </p:txBody>
      </p:sp>
    </p:spTree>
    <p:extLst>
      <p:ext uri="{BB962C8B-B14F-4D97-AF65-F5344CB8AC3E}">
        <p14:creationId xmlns:p14="http://schemas.microsoft.com/office/powerpoint/2010/main" val="37724748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473E-D8B4-1F03-DB63-F3E596C21163}"/>
              </a:ext>
            </a:extLst>
          </p:cNvPr>
          <p:cNvSpPr>
            <a:spLocks noGrp="1"/>
          </p:cNvSpPr>
          <p:nvPr>
            <p:ph type="title"/>
          </p:nvPr>
        </p:nvSpPr>
        <p:spPr/>
        <p:txBody>
          <a:bodyPr/>
          <a:lstStyle/>
          <a:p>
            <a:r>
              <a:rPr lang="en-US" b="1" dirty="0"/>
              <a:t>Size</a:t>
            </a:r>
            <a:br>
              <a:rPr lang="en-US" b="1" dirty="0"/>
            </a:br>
            <a:endParaRPr lang="en-US" dirty="0"/>
          </a:p>
        </p:txBody>
      </p:sp>
      <p:sp>
        <p:nvSpPr>
          <p:cNvPr id="3" name="Content Placeholder 2">
            <a:extLst>
              <a:ext uri="{FF2B5EF4-FFF2-40B4-BE49-F238E27FC236}">
                <a16:creationId xmlns:a16="http://schemas.microsoft.com/office/drawing/2014/main" id="{E59C0495-B6C4-AC4A-67B1-1655C5E9A50D}"/>
              </a:ext>
            </a:extLst>
          </p:cNvPr>
          <p:cNvSpPr>
            <a:spLocks noGrp="1"/>
          </p:cNvSpPr>
          <p:nvPr>
            <p:ph idx="1"/>
          </p:nvPr>
        </p:nvSpPr>
        <p:spPr/>
        <p:txBody>
          <a:bodyPr/>
          <a:lstStyle/>
          <a:p>
            <a:pPr algn="just"/>
            <a:r>
              <a:rPr lang="en-US" dirty="0"/>
              <a:t>Virtual machine image files are larger in size (several GB) as they contain their own operating system. Increased resources mean you can duplicate, split, abstract, and emulate entire servers, databases, desktops, and networks. </a:t>
            </a:r>
          </a:p>
          <a:p>
            <a:pPr algn="just"/>
            <a:r>
              <a:rPr lang="en-US" dirty="0"/>
              <a:t>Container files are more lightweight, and you can measure them in MB. Containers only package the resources required to run a single application.</a:t>
            </a:r>
          </a:p>
          <a:p>
            <a:endParaRPr lang="en-US" dirty="0"/>
          </a:p>
        </p:txBody>
      </p:sp>
    </p:spTree>
    <p:extLst>
      <p:ext uri="{BB962C8B-B14F-4D97-AF65-F5344CB8AC3E}">
        <p14:creationId xmlns:p14="http://schemas.microsoft.com/office/powerpoint/2010/main" val="1231526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8D481-A6B8-3E41-3108-BCBF688F78CD}"/>
              </a:ext>
            </a:extLst>
          </p:cNvPr>
          <p:cNvSpPr>
            <a:spLocks noGrp="1"/>
          </p:cNvSpPr>
          <p:nvPr>
            <p:ph type="title"/>
          </p:nvPr>
        </p:nvSpPr>
        <p:spPr/>
        <p:txBody>
          <a:bodyPr/>
          <a:lstStyle/>
          <a:p>
            <a:r>
              <a:rPr lang="en-US" sz="2800" b="1" dirty="0">
                <a:latin typeface="+mn-lt"/>
                <a:ea typeface="+mn-ea"/>
                <a:cs typeface="+mn-cs"/>
              </a:rPr>
              <a:t>When to use containers vs. virtual machines</a:t>
            </a:r>
            <a:br>
              <a:rPr lang="en-US" dirty="0"/>
            </a:br>
            <a:endParaRPr lang="en-US" dirty="0"/>
          </a:p>
        </p:txBody>
      </p:sp>
      <p:sp>
        <p:nvSpPr>
          <p:cNvPr id="3" name="Content Placeholder 2">
            <a:extLst>
              <a:ext uri="{FF2B5EF4-FFF2-40B4-BE49-F238E27FC236}">
                <a16:creationId xmlns:a16="http://schemas.microsoft.com/office/drawing/2014/main" id="{041EB502-52F4-7E09-0642-6ACF8572A35D}"/>
              </a:ext>
            </a:extLst>
          </p:cNvPr>
          <p:cNvSpPr>
            <a:spLocks noGrp="1"/>
          </p:cNvSpPr>
          <p:nvPr>
            <p:ph idx="1"/>
          </p:nvPr>
        </p:nvSpPr>
        <p:spPr/>
        <p:txBody>
          <a:bodyPr>
            <a:normAutofit/>
          </a:bodyPr>
          <a:lstStyle/>
          <a:p>
            <a:pPr marL="0" indent="0" algn="just">
              <a:buNone/>
            </a:pPr>
            <a:r>
              <a:rPr lang="en-US" dirty="0"/>
              <a:t>Here, we give some factors to consider when choosing between virtual machines and containers for application deployment.</a:t>
            </a:r>
          </a:p>
          <a:p>
            <a:pPr marL="0" indent="0" algn="just">
              <a:buNone/>
            </a:pPr>
            <a:r>
              <a:rPr lang="en-US" b="1" dirty="0"/>
              <a:t>Environment configuration</a:t>
            </a:r>
          </a:p>
          <a:p>
            <a:pPr algn="just"/>
            <a:r>
              <a:rPr lang="en-US" dirty="0"/>
              <a:t>Virtual machines give developers more control over the application's environment. They can manually install system software, snapshot configuration states, and restore them to a previous state if required. They are useful for ideation and experimentation or for testing different environments to improve an application's performance.</a:t>
            </a:r>
          </a:p>
          <a:p>
            <a:pPr algn="just"/>
            <a:r>
              <a:rPr lang="en-US" dirty="0"/>
              <a:t>Containers provide static definitions of configurations once the best ones have been selected.</a:t>
            </a:r>
          </a:p>
          <a:p>
            <a:endParaRPr lang="en-US" dirty="0"/>
          </a:p>
        </p:txBody>
      </p:sp>
    </p:spTree>
    <p:extLst>
      <p:ext uri="{BB962C8B-B14F-4D97-AF65-F5344CB8AC3E}">
        <p14:creationId xmlns:p14="http://schemas.microsoft.com/office/powerpoint/2010/main" val="33847966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35163-4BEB-8DAC-7165-80B2F6AB7A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70CDC9-AFC5-8A11-D7CA-B8926BA8C7EC}"/>
              </a:ext>
            </a:extLst>
          </p:cNvPr>
          <p:cNvSpPr>
            <a:spLocks noGrp="1"/>
          </p:cNvSpPr>
          <p:nvPr>
            <p:ph idx="1"/>
          </p:nvPr>
        </p:nvSpPr>
        <p:spPr/>
        <p:txBody>
          <a:bodyPr/>
          <a:lstStyle/>
          <a:p>
            <a:pPr marL="0" indent="0">
              <a:buNone/>
            </a:pPr>
            <a:r>
              <a:rPr lang="en-US" b="1" dirty="0"/>
              <a:t>Software development speed</a:t>
            </a:r>
          </a:p>
          <a:p>
            <a:r>
              <a:rPr lang="en-US" dirty="0"/>
              <a:t>Virtual machines are full-stack systems and can be laborious to build and regenerate. Any modifications are time-consuming to validate as you have to regenerate the environment.</a:t>
            </a:r>
          </a:p>
          <a:p>
            <a:r>
              <a:rPr lang="en-US" dirty="0"/>
              <a:t>Containers are a better choice if you want to build, test, and release new features frequently. As they only include high-level software, they are very fast to modify and iterate on.</a:t>
            </a:r>
          </a:p>
          <a:p>
            <a:endParaRPr lang="en-US" dirty="0"/>
          </a:p>
        </p:txBody>
      </p:sp>
    </p:spTree>
    <p:extLst>
      <p:ext uri="{BB962C8B-B14F-4D97-AF65-F5344CB8AC3E}">
        <p14:creationId xmlns:p14="http://schemas.microsoft.com/office/powerpoint/2010/main" val="830867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C853-1B23-EE72-14AE-20C1E6ED37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603F1A-E651-EB33-CC86-0C53DD9EC334}"/>
              </a:ext>
            </a:extLst>
          </p:cNvPr>
          <p:cNvSpPr>
            <a:spLocks noGrp="1"/>
          </p:cNvSpPr>
          <p:nvPr>
            <p:ph idx="1"/>
          </p:nvPr>
        </p:nvSpPr>
        <p:spPr/>
        <p:txBody>
          <a:bodyPr>
            <a:normAutofit fontScale="92500"/>
          </a:bodyPr>
          <a:lstStyle/>
          <a:p>
            <a:pPr marL="0" indent="0">
              <a:buNone/>
            </a:pPr>
            <a:r>
              <a:rPr lang="en-US" b="1" dirty="0"/>
              <a:t>Scalability</a:t>
            </a:r>
          </a:p>
          <a:p>
            <a:pPr algn="just"/>
            <a:r>
              <a:rPr lang="en-US" dirty="0"/>
              <a:t>Virtual machines take up more storage space and require you to provision more hardware in your on-premises data centers. Switching to cloud instances reduces costs but migrating your entire environment brings its own challenges.</a:t>
            </a:r>
          </a:p>
          <a:p>
            <a:pPr algn="just"/>
            <a:r>
              <a:rPr lang="en-US" dirty="0"/>
              <a:t>Containers take up less space and are easier to scale. More importantly, containers provide granular control on application scalability by allowing you to use microservices. Microservices are an architectural and organizational approach to software development where software is composed of small independent services that communicate over well-defined APIs. Containers let you scale individual microservices as required.</a:t>
            </a:r>
          </a:p>
          <a:p>
            <a:endParaRPr lang="en-US" dirty="0"/>
          </a:p>
        </p:txBody>
      </p:sp>
    </p:spTree>
    <p:extLst>
      <p:ext uri="{BB962C8B-B14F-4D97-AF65-F5344CB8AC3E}">
        <p14:creationId xmlns:p14="http://schemas.microsoft.com/office/powerpoint/2010/main" val="28405154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D7F7-9243-ADF3-B6C0-41C9B996E6C0}"/>
              </a:ext>
            </a:extLst>
          </p:cNvPr>
          <p:cNvSpPr>
            <a:spLocks noGrp="1"/>
          </p:cNvSpPr>
          <p:nvPr>
            <p:ph type="title"/>
          </p:nvPr>
        </p:nvSpPr>
        <p:spPr/>
        <p:txBody>
          <a:bodyPr>
            <a:normAutofit fontScale="90000"/>
          </a:bodyPr>
          <a:lstStyle/>
          <a:p>
            <a:r>
              <a:rPr lang="en-US" b="1" dirty="0"/>
              <a:t>Summary of differences: container vs. virtual machine</a:t>
            </a:r>
            <a:br>
              <a:rPr lang="en-US" dirty="0"/>
            </a:br>
            <a:endParaRPr lang="en-US" dirty="0"/>
          </a:p>
        </p:txBody>
      </p:sp>
      <p:graphicFrame>
        <p:nvGraphicFramePr>
          <p:cNvPr id="5" name="Content Placeholder 4">
            <a:extLst>
              <a:ext uri="{FF2B5EF4-FFF2-40B4-BE49-F238E27FC236}">
                <a16:creationId xmlns:a16="http://schemas.microsoft.com/office/drawing/2014/main" id="{21A01395-374E-AE31-7860-3F8F3AFFE724}"/>
              </a:ext>
            </a:extLst>
          </p:cNvPr>
          <p:cNvGraphicFramePr>
            <a:graphicFrameLocks noGrp="1"/>
          </p:cNvGraphicFramePr>
          <p:nvPr>
            <p:ph idx="1"/>
            <p:extLst>
              <p:ext uri="{D42A27DB-BD31-4B8C-83A1-F6EECF244321}">
                <p14:modId xmlns:p14="http://schemas.microsoft.com/office/powerpoint/2010/main" val="942855077"/>
              </p:ext>
            </p:extLst>
          </p:nvPr>
        </p:nvGraphicFramePr>
        <p:xfrm>
          <a:off x="0" y="1562100"/>
          <a:ext cx="12090399" cy="5259304"/>
        </p:xfrm>
        <a:graphic>
          <a:graphicData uri="http://schemas.openxmlformats.org/drawingml/2006/table">
            <a:tbl>
              <a:tblPr>
                <a:tableStyleId>{616DA210-FB5B-4158-B5E0-FEB733F419BA}</a:tableStyleId>
              </a:tblPr>
              <a:tblGrid>
                <a:gridCol w="2065106">
                  <a:extLst>
                    <a:ext uri="{9D8B030D-6E8A-4147-A177-3AD203B41FA5}">
                      <a16:colId xmlns:a16="http://schemas.microsoft.com/office/drawing/2014/main" val="3213037204"/>
                    </a:ext>
                  </a:extLst>
                </a:gridCol>
                <a:gridCol w="4862287">
                  <a:extLst>
                    <a:ext uri="{9D8B030D-6E8A-4147-A177-3AD203B41FA5}">
                      <a16:colId xmlns:a16="http://schemas.microsoft.com/office/drawing/2014/main" val="1505686675"/>
                    </a:ext>
                  </a:extLst>
                </a:gridCol>
                <a:gridCol w="5163006">
                  <a:extLst>
                    <a:ext uri="{9D8B030D-6E8A-4147-A177-3AD203B41FA5}">
                      <a16:colId xmlns:a16="http://schemas.microsoft.com/office/drawing/2014/main" val="2840385291"/>
                    </a:ext>
                  </a:extLst>
                </a:gridCol>
              </a:tblGrid>
              <a:tr h="313494">
                <a:tc>
                  <a:txBody>
                    <a:bodyPr/>
                    <a:lstStyle/>
                    <a:p>
                      <a:pPr fontAlgn="t">
                        <a:buNone/>
                      </a:pPr>
                      <a:r>
                        <a:rPr lang="en-US" sz="2400" b="1" dirty="0">
                          <a:effectLst/>
                        </a:rPr>
                        <a:t>Characteristics</a:t>
                      </a:r>
                    </a:p>
                  </a:txBody>
                  <a:tcPr marL="19093" marR="19093" marT="19093" marB="19093"/>
                </a:tc>
                <a:tc>
                  <a:txBody>
                    <a:bodyPr/>
                    <a:lstStyle/>
                    <a:p>
                      <a:pPr fontAlgn="t">
                        <a:buNone/>
                      </a:pPr>
                      <a:r>
                        <a:rPr lang="en-US" sz="2400" b="1">
                          <a:effectLst/>
                        </a:rPr>
                        <a:t>Container</a:t>
                      </a:r>
                    </a:p>
                  </a:txBody>
                  <a:tcPr marL="19093" marR="19093" marT="19093" marB="19093"/>
                </a:tc>
                <a:tc>
                  <a:txBody>
                    <a:bodyPr/>
                    <a:lstStyle/>
                    <a:p>
                      <a:pPr fontAlgn="t">
                        <a:buNone/>
                      </a:pPr>
                      <a:r>
                        <a:rPr lang="en-US" sz="2400" b="1" dirty="0">
                          <a:effectLst/>
                        </a:rPr>
                        <a:t>Virtual machine</a:t>
                      </a:r>
                    </a:p>
                  </a:txBody>
                  <a:tcPr marL="19093" marR="19093" marT="19093" marB="19093"/>
                </a:tc>
                <a:extLst>
                  <a:ext uri="{0D108BD9-81ED-4DB2-BD59-A6C34878D82A}">
                    <a16:rowId xmlns:a16="http://schemas.microsoft.com/office/drawing/2014/main" val="2722817374"/>
                  </a:ext>
                </a:extLst>
              </a:tr>
              <a:tr h="1126636">
                <a:tc>
                  <a:txBody>
                    <a:bodyPr/>
                    <a:lstStyle/>
                    <a:p>
                      <a:pPr fontAlgn="t">
                        <a:buNone/>
                      </a:pPr>
                      <a:r>
                        <a:rPr lang="en-US" sz="2400" b="1" dirty="0">
                          <a:effectLst/>
                        </a:rPr>
                        <a:t>Definition</a:t>
                      </a:r>
                    </a:p>
                  </a:txBody>
                  <a:tcPr marL="19093" marR="19093" marT="19093" marB="19093"/>
                </a:tc>
                <a:tc>
                  <a:txBody>
                    <a:bodyPr/>
                    <a:lstStyle/>
                    <a:p>
                      <a:pPr fontAlgn="t">
                        <a:buNone/>
                      </a:pPr>
                      <a:r>
                        <a:rPr lang="en-US" sz="2400" dirty="0">
                          <a:effectLst/>
                        </a:rPr>
                        <a:t>Software code package containing an application’s code, its libraries, and other dependencies that make up the application running environment.</a:t>
                      </a:r>
                    </a:p>
                  </a:txBody>
                  <a:tcPr marL="19093" marR="19093" marT="19093" marB="19093"/>
                </a:tc>
                <a:tc>
                  <a:txBody>
                    <a:bodyPr/>
                    <a:lstStyle/>
                    <a:p>
                      <a:pPr fontAlgn="t">
                        <a:buNone/>
                      </a:pPr>
                      <a:r>
                        <a:rPr lang="en-US" sz="2400" dirty="0">
                          <a:effectLst/>
                        </a:rPr>
                        <a:t>Digital replica of a physical machine. Partitions the physical hardware into multiple environments.</a:t>
                      </a:r>
                    </a:p>
                  </a:txBody>
                  <a:tcPr marL="19093" marR="19093" marT="19093" marB="19093"/>
                </a:tc>
                <a:extLst>
                  <a:ext uri="{0D108BD9-81ED-4DB2-BD59-A6C34878D82A}">
                    <a16:rowId xmlns:a16="http://schemas.microsoft.com/office/drawing/2014/main" val="2860243057"/>
                  </a:ext>
                </a:extLst>
              </a:tr>
              <a:tr h="584541">
                <a:tc>
                  <a:txBody>
                    <a:bodyPr/>
                    <a:lstStyle/>
                    <a:p>
                      <a:pPr fontAlgn="t">
                        <a:buNone/>
                      </a:pPr>
                      <a:r>
                        <a:rPr lang="en-US" sz="2400" b="1">
                          <a:effectLst/>
                        </a:rPr>
                        <a:t>Virtualization</a:t>
                      </a:r>
                    </a:p>
                  </a:txBody>
                  <a:tcPr marL="19093" marR="19093" marT="19093" marB="19093"/>
                </a:tc>
                <a:tc>
                  <a:txBody>
                    <a:bodyPr/>
                    <a:lstStyle/>
                    <a:p>
                      <a:pPr fontAlgn="t">
                        <a:buNone/>
                      </a:pPr>
                      <a:r>
                        <a:rPr lang="en-US" sz="2400" dirty="0">
                          <a:effectLst/>
                        </a:rPr>
                        <a:t>Virtualizes the operating system.</a:t>
                      </a:r>
                    </a:p>
                  </a:txBody>
                  <a:tcPr marL="19093" marR="19093" marT="19093" marB="19093"/>
                </a:tc>
                <a:tc>
                  <a:txBody>
                    <a:bodyPr/>
                    <a:lstStyle/>
                    <a:p>
                      <a:pPr fontAlgn="t">
                        <a:buNone/>
                      </a:pPr>
                      <a:r>
                        <a:rPr lang="en-US" sz="2400" dirty="0">
                          <a:effectLst/>
                        </a:rPr>
                        <a:t>Virtualizes the underlying physical infrastructure.</a:t>
                      </a:r>
                    </a:p>
                  </a:txBody>
                  <a:tcPr marL="19093" marR="19093" marT="19093" marB="19093"/>
                </a:tc>
                <a:extLst>
                  <a:ext uri="{0D108BD9-81ED-4DB2-BD59-A6C34878D82A}">
                    <a16:rowId xmlns:a16="http://schemas.microsoft.com/office/drawing/2014/main" val="2845766084"/>
                  </a:ext>
                </a:extLst>
              </a:tr>
              <a:tr h="855588">
                <a:tc>
                  <a:txBody>
                    <a:bodyPr/>
                    <a:lstStyle/>
                    <a:p>
                      <a:pPr fontAlgn="t">
                        <a:buNone/>
                      </a:pPr>
                      <a:r>
                        <a:rPr lang="en-US" sz="2400" b="1" dirty="0">
                          <a:effectLst/>
                        </a:rPr>
                        <a:t>Encapsulation</a:t>
                      </a:r>
                    </a:p>
                  </a:txBody>
                  <a:tcPr marL="19093" marR="19093" marT="19093" marB="19093"/>
                </a:tc>
                <a:tc>
                  <a:txBody>
                    <a:bodyPr/>
                    <a:lstStyle/>
                    <a:p>
                      <a:pPr fontAlgn="t">
                        <a:buNone/>
                      </a:pPr>
                      <a:r>
                        <a:rPr lang="en-US" sz="2400" dirty="0">
                          <a:effectLst/>
                        </a:rPr>
                        <a:t>Software layer above the operating system required for running the application or application component.</a:t>
                      </a:r>
                    </a:p>
                  </a:txBody>
                  <a:tcPr marL="19093" marR="19093" marT="19093" marB="19093"/>
                </a:tc>
                <a:tc>
                  <a:txBody>
                    <a:bodyPr/>
                    <a:lstStyle/>
                    <a:p>
                      <a:pPr fontAlgn="t">
                        <a:buNone/>
                      </a:pPr>
                      <a:r>
                        <a:rPr lang="en-US" sz="2400" dirty="0">
                          <a:effectLst/>
                        </a:rPr>
                        <a:t>Operating system, all software layers above it, multiple applications.</a:t>
                      </a:r>
                    </a:p>
                  </a:txBody>
                  <a:tcPr marL="19093" marR="19093" marT="19093" marB="19093"/>
                </a:tc>
                <a:extLst>
                  <a:ext uri="{0D108BD9-81ED-4DB2-BD59-A6C34878D82A}">
                    <a16:rowId xmlns:a16="http://schemas.microsoft.com/office/drawing/2014/main" val="2534303513"/>
                  </a:ext>
                </a:extLst>
              </a:tr>
              <a:tr h="855588">
                <a:tc>
                  <a:txBody>
                    <a:bodyPr/>
                    <a:lstStyle/>
                    <a:p>
                      <a:pPr fontAlgn="t">
                        <a:buNone/>
                      </a:pPr>
                      <a:r>
                        <a:rPr lang="en-US" sz="2400" b="1">
                          <a:effectLst/>
                        </a:rPr>
                        <a:t>Technology</a:t>
                      </a:r>
                    </a:p>
                  </a:txBody>
                  <a:tcPr marL="19093" marR="19093" marT="19093" marB="19093"/>
                </a:tc>
                <a:tc>
                  <a:txBody>
                    <a:bodyPr/>
                    <a:lstStyle/>
                    <a:p>
                      <a:pPr fontAlgn="t">
                        <a:buNone/>
                      </a:pPr>
                      <a:r>
                        <a:rPr lang="en-US" sz="2400">
                          <a:effectLst/>
                        </a:rPr>
                        <a:t>Container engine coordinates with the underlying operating system for resources. </a:t>
                      </a:r>
                    </a:p>
                  </a:txBody>
                  <a:tcPr marL="19093" marR="19093" marT="19093" marB="19093"/>
                </a:tc>
                <a:tc>
                  <a:txBody>
                    <a:bodyPr/>
                    <a:lstStyle/>
                    <a:p>
                      <a:pPr fontAlgn="t">
                        <a:buNone/>
                      </a:pPr>
                      <a:r>
                        <a:rPr lang="en-US" sz="2400" dirty="0">
                          <a:effectLst/>
                        </a:rPr>
                        <a:t>Hypervisor coordinates with underlying operating system or hardware. </a:t>
                      </a:r>
                    </a:p>
                  </a:txBody>
                  <a:tcPr marL="19093" marR="19093" marT="19093" marB="19093"/>
                </a:tc>
                <a:extLst>
                  <a:ext uri="{0D108BD9-81ED-4DB2-BD59-A6C34878D82A}">
                    <a16:rowId xmlns:a16="http://schemas.microsoft.com/office/drawing/2014/main" val="1521808656"/>
                  </a:ext>
                </a:extLst>
              </a:tr>
              <a:tr h="313494">
                <a:tc>
                  <a:txBody>
                    <a:bodyPr/>
                    <a:lstStyle/>
                    <a:p>
                      <a:pPr fontAlgn="t">
                        <a:buNone/>
                      </a:pPr>
                      <a:r>
                        <a:rPr lang="en-US" sz="1600">
                          <a:effectLst/>
                        </a:rPr>
                        <a:t> </a:t>
                      </a:r>
                    </a:p>
                  </a:txBody>
                  <a:tcPr marL="19093" marR="19093" marT="19093" marB="19093"/>
                </a:tc>
                <a:tc>
                  <a:txBody>
                    <a:bodyPr/>
                    <a:lstStyle/>
                    <a:p>
                      <a:pPr fontAlgn="t">
                        <a:buNone/>
                      </a:pPr>
                      <a:endParaRPr lang="en-US" sz="1600" dirty="0">
                        <a:effectLst/>
                      </a:endParaRPr>
                    </a:p>
                  </a:txBody>
                  <a:tcPr marL="19093" marR="19093" marT="19093" marB="19093"/>
                </a:tc>
                <a:tc>
                  <a:txBody>
                    <a:bodyPr/>
                    <a:lstStyle/>
                    <a:p>
                      <a:pPr fontAlgn="t">
                        <a:buNone/>
                      </a:pPr>
                      <a:endParaRPr lang="en-US" sz="1600" dirty="0">
                        <a:effectLst/>
                      </a:endParaRPr>
                    </a:p>
                  </a:txBody>
                  <a:tcPr marL="19093" marR="19093" marT="19093" marB="19093"/>
                </a:tc>
                <a:extLst>
                  <a:ext uri="{0D108BD9-81ED-4DB2-BD59-A6C34878D82A}">
                    <a16:rowId xmlns:a16="http://schemas.microsoft.com/office/drawing/2014/main" val="1569614801"/>
                  </a:ext>
                </a:extLst>
              </a:tr>
            </a:tbl>
          </a:graphicData>
        </a:graphic>
      </p:graphicFrame>
    </p:spTree>
    <p:extLst>
      <p:ext uri="{BB962C8B-B14F-4D97-AF65-F5344CB8AC3E}">
        <p14:creationId xmlns:p14="http://schemas.microsoft.com/office/powerpoint/2010/main" val="2974458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C8D69EE-8426-FBA2-7635-D257A98E5E0F}"/>
              </a:ext>
            </a:extLst>
          </p:cNvPr>
          <p:cNvGraphicFramePr>
            <a:graphicFrameLocks noGrp="1"/>
          </p:cNvGraphicFramePr>
          <p:nvPr>
            <p:ph idx="1"/>
            <p:extLst>
              <p:ext uri="{D42A27DB-BD31-4B8C-83A1-F6EECF244321}">
                <p14:modId xmlns:p14="http://schemas.microsoft.com/office/powerpoint/2010/main" val="11969819"/>
              </p:ext>
            </p:extLst>
          </p:nvPr>
        </p:nvGraphicFramePr>
        <p:xfrm>
          <a:off x="750013" y="893852"/>
          <a:ext cx="10864137" cy="5544894"/>
        </p:xfrm>
        <a:graphic>
          <a:graphicData uri="http://schemas.openxmlformats.org/drawingml/2006/table">
            <a:tbl>
              <a:tblPr>
                <a:tableStyleId>{616DA210-FB5B-4158-B5E0-FEB733F419BA}</a:tableStyleId>
              </a:tblPr>
              <a:tblGrid>
                <a:gridCol w="1969749">
                  <a:extLst>
                    <a:ext uri="{9D8B030D-6E8A-4147-A177-3AD203B41FA5}">
                      <a16:colId xmlns:a16="http://schemas.microsoft.com/office/drawing/2014/main" val="2043419278"/>
                    </a:ext>
                  </a:extLst>
                </a:gridCol>
                <a:gridCol w="4255037">
                  <a:extLst>
                    <a:ext uri="{9D8B030D-6E8A-4147-A177-3AD203B41FA5}">
                      <a16:colId xmlns:a16="http://schemas.microsoft.com/office/drawing/2014/main" val="3991287664"/>
                    </a:ext>
                  </a:extLst>
                </a:gridCol>
                <a:gridCol w="4639351">
                  <a:extLst>
                    <a:ext uri="{9D8B030D-6E8A-4147-A177-3AD203B41FA5}">
                      <a16:colId xmlns:a16="http://schemas.microsoft.com/office/drawing/2014/main" val="249446683"/>
                    </a:ext>
                  </a:extLst>
                </a:gridCol>
              </a:tblGrid>
              <a:tr h="780416">
                <a:tc>
                  <a:txBody>
                    <a:bodyPr/>
                    <a:lstStyle/>
                    <a:p>
                      <a:pPr fontAlgn="t">
                        <a:buNone/>
                      </a:pPr>
                      <a:r>
                        <a:rPr lang="en-US" sz="2400" b="1" dirty="0">
                          <a:effectLst/>
                        </a:rPr>
                        <a:t>Characteristics</a:t>
                      </a:r>
                    </a:p>
                  </a:txBody>
                  <a:tcPr marL="19093" marR="19093" marT="19093" marB="19093"/>
                </a:tc>
                <a:tc>
                  <a:txBody>
                    <a:bodyPr/>
                    <a:lstStyle/>
                    <a:p>
                      <a:pPr fontAlgn="t">
                        <a:buNone/>
                      </a:pPr>
                      <a:r>
                        <a:rPr lang="en-US" sz="2400" b="1">
                          <a:effectLst/>
                        </a:rPr>
                        <a:t>Container</a:t>
                      </a:r>
                    </a:p>
                  </a:txBody>
                  <a:tcPr marL="19093" marR="19093" marT="19093" marB="19093"/>
                </a:tc>
                <a:tc>
                  <a:txBody>
                    <a:bodyPr/>
                    <a:lstStyle/>
                    <a:p>
                      <a:pPr fontAlgn="t">
                        <a:buNone/>
                      </a:pPr>
                      <a:r>
                        <a:rPr lang="en-US" sz="2400" b="1" dirty="0">
                          <a:effectLst/>
                        </a:rPr>
                        <a:t>Virtual machine</a:t>
                      </a:r>
                    </a:p>
                  </a:txBody>
                  <a:tcPr marL="19093" marR="19093" marT="19093" marB="19093"/>
                </a:tc>
                <a:extLst>
                  <a:ext uri="{0D108BD9-81ED-4DB2-BD59-A6C34878D82A}">
                    <a16:rowId xmlns:a16="http://schemas.microsoft.com/office/drawing/2014/main" val="1047481146"/>
                  </a:ext>
                </a:extLst>
              </a:tr>
              <a:tr h="689912">
                <a:tc>
                  <a:txBody>
                    <a:bodyPr/>
                    <a:lstStyle/>
                    <a:p>
                      <a:pPr fontAlgn="t">
                        <a:buNone/>
                      </a:pPr>
                      <a:r>
                        <a:rPr lang="en-US" sz="2400" b="1" dirty="0">
                          <a:effectLst/>
                        </a:rPr>
                        <a:t>Size</a:t>
                      </a:r>
                    </a:p>
                  </a:txBody>
                  <a:tcPr marL="19093" marR="19093" marT="19093" marB="19093"/>
                </a:tc>
                <a:tc>
                  <a:txBody>
                    <a:bodyPr/>
                    <a:lstStyle/>
                    <a:p>
                      <a:pPr fontAlgn="t">
                        <a:buNone/>
                      </a:pPr>
                      <a:r>
                        <a:rPr lang="en-US" sz="2400">
                          <a:effectLst/>
                        </a:rPr>
                        <a:t>Lighter weight (think in terms of MB).</a:t>
                      </a:r>
                    </a:p>
                  </a:txBody>
                  <a:tcPr marL="19093" marR="19093" marT="19093" marB="19093"/>
                </a:tc>
                <a:tc>
                  <a:txBody>
                    <a:bodyPr/>
                    <a:lstStyle/>
                    <a:p>
                      <a:pPr fontAlgn="t">
                        <a:buNone/>
                      </a:pPr>
                      <a:r>
                        <a:rPr lang="en-US" sz="2400" dirty="0">
                          <a:effectLst/>
                        </a:rPr>
                        <a:t>Much larger (think in terms of GB).</a:t>
                      </a:r>
                    </a:p>
                  </a:txBody>
                  <a:tcPr marL="19093" marR="19093" marT="19093" marB="19093"/>
                </a:tc>
                <a:extLst>
                  <a:ext uri="{0D108BD9-81ED-4DB2-BD59-A6C34878D82A}">
                    <a16:rowId xmlns:a16="http://schemas.microsoft.com/office/drawing/2014/main" val="2416486522"/>
                  </a:ext>
                </a:extLst>
              </a:tr>
              <a:tr h="1012118">
                <a:tc>
                  <a:txBody>
                    <a:bodyPr/>
                    <a:lstStyle/>
                    <a:p>
                      <a:pPr fontAlgn="t">
                        <a:buNone/>
                      </a:pPr>
                      <a:r>
                        <a:rPr lang="en-US" sz="2400" b="1">
                          <a:effectLst/>
                        </a:rPr>
                        <a:t>Control</a:t>
                      </a:r>
                    </a:p>
                  </a:txBody>
                  <a:tcPr marL="19093" marR="19093" marT="19093" marB="19093"/>
                </a:tc>
                <a:tc>
                  <a:txBody>
                    <a:bodyPr/>
                    <a:lstStyle/>
                    <a:p>
                      <a:pPr fontAlgn="t">
                        <a:buNone/>
                      </a:pPr>
                      <a:r>
                        <a:rPr lang="en-US" sz="2400" dirty="0">
                          <a:effectLst/>
                        </a:rPr>
                        <a:t>Less control of the environment outside the container.</a:t>
                      </a:r>
                    </a:p>
                  </a:txBody>
                  <a:tcPr marL="19093" marR="19093" marT="19093" marB="19093"/>
                </a:tc>
                <a:tc>
                  <a:txBody>
                    <a:bodyPr/>
                    <a:lstStyle/>
                    <a:p>
                      <a:pPr fontAlgn="t">
                        <a:buNone/>
                      </a:pPr>
                      <a:r>
                        <a:rPr lang="en-US" sz="2400">
                          <a:effectLst/>
                        </a:rPr>
                        <a:t>More control over the entire environment.</a:t>
                      </a:r>
                    </a:p>
                  </a:txBody>
                  <a:tcPr marL="19093" marR="19093" marT="19093" marB="19093"/>
                </a:tc>
                <a:extLst>
                  <a:ext uri="{0D108BD9-81ED-4DB2-BD59-A6C34878D82A}">
                    <a16:rowId xmlns:a16="http://schemas.microsoft.com/office/drawing/2014/main" val="3752444550"/>
                  </a:ext>
                </a:extLst>
              </a:tr>
              <a:tr h="1481428">
                <a:tc>
                  <a:txBody>
                    <a:bodyPr/>
                    <a:lstStyle/>
                    <a:p>
                      <a:pPr fontAlgn="t">
                        <a:buNone/>
                      </a:pPr>
                      <a:r>
                        <a:rPr lang="en-US" sz="2400" b="1">
                          <a:effectLst/>
                        </a:rPr>
                        <a:t>Flexibility</a:t>
                      </a:r>
                    </a:p>
                  </a:txBody>
                  <a:tcPr marL="19093" marR="19093" marT="19093" marB="19093"/>
                </a:tc>
                <a:tc>
                  <a:txBody>
                    <a:bodyPr/>
                    <a:lstStyle/>
                    <a:p>
                      <a:pPr fontAlgn="t">
                        <a:buNone/>
                      </a:pPr>
                      <a:r>
                        <a:rPr lang="en-US" sz="2400">
                          <a:effectLst/>
                        </a:rPr>
                        <a:t>More flexible. You can quickly migrate between on-premises and cloud-centered environments.</a:t>
                      </a:r>
                    </a:p>
                  </a:txBody>
                  <a:tcPr marL="19093" marR="19093" marT="19093" marB="19093"/>
                </a:tc>
                <a:tc>
                  <a:txBody>
                    <a:bodyPr/>
                    <a:lstStyle/>
                    <a:p>
                      <a:pPr fontAlgn="t">
                        <a:buNone/>
                      </a:pPr>
                      <a:r>
                        <a:rPr lang="en-US" sz="2400" dirty="0">
                          <a:effectLst/>
                        </a:rPr>
                        <a:t>Less flexible. Migration has challenges.</a:t>
                      </a:r>
                    </a:p>
                  </a:txBody>
                  <a:tcPr marL="19093" marR="19093" marT="19093" marB="19093"/>
                </a:tc>
                <a:extLst>
                  <a:ext uri="{0D108BD9-81ED-4DB2-BD59-A6C34878D82A}">
                    <a16:rowId xmlns:a16="http://schemas.microsoft.com/office/drawing/2014/main" val="2353435584"/>
                  </a:ext>
                </a:extLst>
              </a:tr>
              <a:tr h="1481428">
                <a:tc>
                  <a:txBody>
                    <a:bodyPr/>
                    <a:lstStyle/>
                    <a:p>
                      <a:pPr fontAlgn="t">
                        <a:buNone/>
                      </a:pPr>
                      <a:r>
                        <a:rPr lang="en-US" sz="2400" b="1" dirty="0">
                          <a:effectLst/>
                        </a:rPr>
                        <a:t>Scalability</a:t>
                      </a:r>
                    </a:p>
                  </a:txBody>
                  <a:tcPr marL="19093" marR="19093" marT="19093" marB="19093"/>
                </a:tc>
                <a:tc>
                  <a:txBody>
                    <a:bodyPr/>
                    <a:lstStyle/>
                    <a:p>
                      <a:pPr fontAlgn="t">
                        <a:buNone/>
                      </a:pPr>
                      <a:r>
                        <a:rPr lang="en-US" sz="2400" dirty="0">
                          <a:effectLst/>
                        </a:rPr>
                        <a:t>Highly scalable. Granular scalability possible with microservices.</a:t>
                      </a:r>
                    </a:p>
                  </a:txBody>
                  <a:tcPr marL="19093" marR="19093" marT="19093" marB="19093"/>
                </a:tc>
                <a:tc>
                  <a:txBody>
                    <a:bodyPr/>
                    <a:lstStyle/>
                    <a:p>
                      <a:pPr fontAlgn="t">
                        <a:buNone/>
                      </a:pPr>
                      <a:r>
                        <a:rPr lang="en-US" sz="2400" dirty="0">
                          <a:effectLst/>
                        </a:rPr>
                        <a:t>Scaling can be costly. Requires switching from on-premises to cloud instances for cost-effective scale.</a:t>
                      </a:r>
                    </a:p>
                  </a:txBody>
                  <a:tcPr marL="19093" marR="19093" marT="19093" marB="19093"/>
                </a:tc>
                <a:extLst>
                  <a:ext uri="{0D108BD9-81ED-4DB2-BD59-A6C34878D82A}">
                    <a16:rowId xmlns:a16="http://schemas.microsoft.com/office/drawing/2014/main" val="2699496576"/>
                  </a:ext>
                </a:extLst>
              </a:tr>
            </a:tbl>
          </a:graphicData>
        </a:graphic>
      </p:graphicFrame>
    </p:spTree>
    <p:extLst>
      <p:ext uri="{BB962C8B-B14F-4D97-AF65-F5344CB8AC3E}">
        <p14:creationId xmlns:p14="http://schemas.microsoft.com/office/powerpoint/2010/main" val="8596209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EE36C-B6F4-653E-E8EE-F8DB5B4918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28826E-7EC3-842C-6042-94F7EE8668FC}"/>
              </a:ext>
            </a:extLst>
          </p:cNvPr>
          <p:cNvSpPr>
            <a:spLocks noGrp="1"/>
          </p:cNvSpPr>
          <p:nvPr>
            <p:ph idx="1"/>
          </p:nvPr>
        </p:nvSpPr>
        <p:spPr/>
        <p:txBody>
          <a:bodyPr/>
          <a:lstStyle/>
          <a:p>
            <a:r>
              <a:rPr lang="en-US" dirty="0"/>
              <a:t>Ref: https://aws.amazon.com/compare/the-difference-between-containers-and-virtual-machines/</a:t>
            </a:r>
          </a:p>
        </p:txBody>
      </p:sp>
    </p:spTree>
    <p:extLst>
      <p:ext uri="{BB962C8B-B14F-4D97-AF65-F5344CB8AC3E}">
        <p14:creationId xmlns:p14="http://schemas.microsoft.com/office/powerpoint/2010/main" val="17578065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4F601-430A-A978-8977-52347778F3E8}"/>
              </a:ext>
            </a:extLst>
          </p:cNvPr>
          <p:cNvSpPr>
            <a:spLocks noGrp="1"/>
          </p:cNvSpPr>
          <p:nvPr>
            <p:ph type="title"/>
          </p:nvPr>
        </p:nvSpPr>
        <p:spPr/>
        <p:txBody>
          <a:bodyPr/>
          <a:lstStyle/>
          <a:p>
            <a:r>
              <a:rPr lang="en-US" dirty="0"/>
              <a:t>Docker and Kubernetes Overview</a:t>
            </a:r>
          </a:p>
        </p:txBody>
      </p:sp>
      <p:sp>
        <p:nvSpPr>
          <p:cNvPr id="3" name="Content Placeholder 2">
            <a:extLst>
              <a:ext uri="{FF2B5EF4-FFF2-40B4-BE49-F238E27FC236}">
                <a16:creationId xmlns:a16="http://schemas.microsoft.com/office/drawing/2014/main" id="{E4BAEA0C-A28D-971B-8234-44F35D0C2E28}"/>
              </a:ext>
            </a:extLst>
          </p:cNvPr>
          <p:cNvSpPr>
            <a:spLocks noGrp="1"/>
          </p:cNvSpPr>
          <p:nvPr>
            <p:ph idx="1"/>
          </p:nvPr>
        </p:nvSpPr>
        <p:spPr/>
        <p:txBody>
          <a:bodyPr>
            <a:normAutofit/>
          </a:bodyPr>
          <a:lstStyle/>
          <a:p>
            <a:pPr algn="just"/>
            <a:r>
              <a:rPr lang="en-US" dirty="0"/>
              <a:t>Docker is a tool used to containerize your application, i.e. it packs the required code along with the dependencies required to operate an application. </a:t>
            </a:r>
          </a:p>
          <a:p>
            <a:pPr algn="just"/>
            <a:r>
              <a:rPr lang="en-US" dirty="0"/>
              <a:t>It has proved to be a boon for the software development field as it works on any machine. </a:t>
            </a:r>
          </a:p>
          <a:p>
            <a:pPr algn="just"/>
            <a:r>
              <a:rPr lang="en-US" dirty="0"/>
              <a:t>Basically, an application needs various dependencies when it is being developed to function properly, and developers often face errors in running the code which may be related to his/her system. </a:t>
            </a:r>
          </a:p>
        </p:txBody>
      </p:sp>
    </p:spTree>
    <p:extLst>
      <p:ext uri="{BB962C8B-B14F-4D97-AF65-F5344CB8AC3E}">
        <p14:creationId xmlns:p14="http://schemas.microsoft.com/office/powerpoint/2010/main" val="4221201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CA76-16B7-A7CE-D37D-2952D1159C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EA3553-319D-57DE-E09B-3E9414F662F9}"/>
              </a:ext>
            </a:extLst>
          </p:cNvPr>
          <p:cNvSpPr>
            <a:spLocks noGrp="1"/>
          </p:cNvSpPr>
          <p:nvPr>
            <p:ph idx="1"/>
          </p:nvPr>
        </p:nvSpPr>
        <p:spPr/>
        <p:txBody>
          <a:bodyPr/>
          <a:lstStyle/>
          <a:p>
            <a:pPr algn="just"/>
            <a:r>
              <a:rPr lang="en-US" dirty="0"/>
              <a:t>It is imperative to make changes and rectifications in the required places in order to go forward. </a:t>
            </a:r>
          </a:p>
          <a:p>
            <a:pPr algn="just"/>
            <a:r>
              <a:rPr lang="en-US" dirty="0"/>
              <a:t>This may affect the code and there might be chances that the application will only work on that particular machine because of which the application does not start when the code is passed and the debugging of errors on the other machine can become a cumbersome task.</a:t>
            </a:r>
          </a:p>
          <a:p>
            <a:endParaRPr lang="en-US" dirty="0"/>
          </a:p>
        </p:txBody>
      </p:sp>
    </p:spTree>
    <p:extLst>
      <p:ext uri="{BB962C8B-B14F-4D97-AF65-F5344CB8AC3E}">
        <p14:creationId xmlns:p14="http://schemas.microsoft.com/office/powerpoint/2010/main" val="27572047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8AAA7-8F44-650A-AD54-52DFA4941C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88E47F-79C1-3CBF-1911-7000F33C6DE1}"/>
              </a:ext>
            </a:extLst>
          </p:cNvPr>
          <p:cNvSpPr>
            <a:spLocks noGrp="1"/>
          </p:cNvSpPr>
          <p:nvPr>
            <p:ph idx="1"/>
          </p:nvPr>
        </p:nvSpPr>
        <p:spPr/>
        <p:txBody>
          <a:bodyPr/>
          <a:lstStyle/>
          <a:p>
            <a:pPr algn="just"/>
            <a:r>
              <a:rPr lang="en-US" dirty="0"/>
              <a:t>Docker saves you from all these hassles as it runs your application in an isolated environment called containers under which you can install all the required dependencies. </a:t>
            </a:r>
          </a:p>
          <a:p>
            <a:pPr algn="just"/>
            <a:r>
              <a:rPr lang="en-US" dirty="0"/>
              <a:t>After that, you can create an image of that container and push it to the docker-hub (Similar to GitHub, wherein we maintain our code repository). </a:t>
            </a:r>
          </a:p>
          <a:p>
            <a:pPr algn="just"/>
            <a:r>
              <a:rPr lang="en-US" dirty="0"/>
              <a:t>The derived image is like a blueprint of the container's dependencies which you can share with your project partners without any hassle.</a:t>
            </a:r>
          </a:p>
        </p:txBody>
      </p:sp>
    </p:spTree>
    <p:extLst>
      <p:ext uri="{BB962C8B-B14F-4D97-AF65-F5344CB8AC3E}">
        <p14:creationId xmlns:p14="http://schemas.microsoft.com/office/powerpoint/2010/main" val="21922741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22943-C31A-BD7E-4128-1DBE0C5134B3}"/>
              </a:ext>
            </a:extLst>
          </p:cNvPr>
          <p:cNvSpPr>
            <a:spLocks noGrp="1"/>
          </p:cNvSpPr>
          <p:nvPr>
            <p:ph type="title"/>
          </p:nvPr>
        </p:nvSpPr>
        <p:spPr/>
        <p:txBody>
          <a:bodyPr/>
          <a:lstStyle/>
          <a:p>
            <a:r>
              <a:rPr lang="en-US" dirty="0"/>
              <a:t>Kubernetes</a:t>
            </a:r>
          </a:p>
        </p:txBody>
      </p:sp>
      <p:sp>
        <p:nvSpPr>
          <p:cNvPr id="3" name="Content Placeholder 2">
            <a:extLst>
              <a:ext uri="{FF2B5EF4-FFF2-40B4-BE49-F238E27FC236}">
                <a16:creationId xmlns:a16="http://schemas.microsoft.com/office/drawing/2014/main" id="{752F6C13-D4AF-C086-57D0-85E83E6717D2}"/>
              </a:ext>
            </a:extLst>
          </p:cNvPr>
          <p:cNvSpPr>
            <a:spLocks noGrp="1"/>
          </p:cNvSpPr>
          <p:nvPr>
            <p:ph idx="1"/>
          </p:nvPr>
        </p:nvSpPr>
        <p:spPr/>
        <p:txBody>
          <a:bodyPr/>
          <a:lstStyle/>
          <a:p>
            <a:pPr algn="just"/>
            <a:r>
              <a:rPr lang="en-US" dirty="0"/>
              <a:t>The name Kubernetes originates from Greek, meaning helmsman or pilot. </a:t>
            </a:r>
          </a:p>
          <a:p>
            <a:pPr algn="just"/>
            <a:r>
              <a:rPr lang="en-US" dirty="0"/>
              <a:t>K8s as an abbreviation results from counting the eight letters between the "K" and the "s". </a:t>
            </a:r>
          </a:p>
          <a:p>
            <a:pPr algn="just"/>
            <a:r>
              <a:rPr lang="en-US" dirty="0"/>
              <a:t>Google open sourced the Kubernetes project in 2014. </a:t>
            </a:r>
          </a:p>
          <a:p>
            <a:pPr algn="just"/>
            <a:r>
              <a:rPr lang="en-US" dirty="0"/>
              <a:t>Kubernetes combines over 15 years of Google's experience running production workloads at scale with best-of-breed ideas and practices from the community.</a:t>
            </a:r>
          </a:p>
        </p:txBody>
      </p:sp>
    </p:spTree>
    <p:extLst>
      <p:ext uri="{BB962C8B-B14F-4D97-AF65-F5344CB8AC3E}">
        <p14:creationId xmlns:p14="http://schemas.microsoft.com/office/powerpoint/2010/main" val="232113112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3AD11-12FF-CF57-57F2-FA3BCC4344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2E36D0-7323-A96B-D3A1-24BFA73E5381}"/>
              </a:ext>
            </a:extLst>
          </p:cNvPr>
          <p:cNvSpPr>
            <a:spLocks noGrp="1"/>
          </p:cNvSpPr>
          <p:nvPr>
            <p:ph idx="1"/>
          </p:nvPr>
        </p:nvSpPr>
        <p:spPr/>
        <p:txBody>
          <a:bodyPr/>
          <a:lstStyle/>
          <a:p>
            <a:r>
              <a:rPr lang="en-US" dirty="0"/>
              <a:t>Kubernetes is a portable, extensible, open source platform for managing containerized workloads and services that facilitate both declarative configuration and automation. </a:t>
            </a:r>
          </a:p>
          <a:p>
            <a:r>
              <a:rPr lang="en-US" dirty="0"/>
              <a:t>It has a large, rapidly growing ecosystem. </a:t>
            </a:r>
          </a:p>
          <a:p>
            <a:r>
              <a:rPr lang="en-US" dirty="0"/>
              <a:t>Kubernetes services, support, and tools are widely available.</a:t>
            </a:r>
          </a:p>
        </p:txBody>
      </p:sp>
    </p:spTree>
    <p:extLst>
      <p:ext uri="{BB962C8B-B14F-4D97-AF65-F5344CB8AC3E}">
        <p14:creationId xmlns:p14="http://schemas.microsoft.com/office/powerpoint/2010/main" val="19223055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2266-2BB2-2B6E-18A2-73BFFF4FA1E2}"/>
              </a:ext>
            </a:extLst>
          </p:cNvPr>
          <p:cNvSpPr>
            <a:spLocks noGrp="1"/>
          </p:cNvSpPr>
          <p:nvPr>
            <p:ph type="title"/>
          </p:nvPr>
        </p:nvSpPr>
        <p:spPr/>
        <p:txBody>
          <a:bodyPr/>
          <a:lstStyle/>
          <a:p>
            <a:r>
              <a:rPr lang="en-US" dirty="0"/>
              <a:t>Why you need Kubernetes and what it can do</a:t>
            </a:r>
            <a:br>
              <a:rPr lang="en-US" dirty="0"/>
            </a:br>
            <a:endParaRPr lang="en-US" dirty="0"/>
          </a:p>
        </p:txBody>
      </p:sp>
      <p:sp>
        <p:nvSpPr>
          <p:cNvPr id="3" name="Content Placeholder 2">
            <a:extLst>
              <a:ext uri="{FF2B5EF4-FFF2-40B4-BE49-F238E27FC236}">
                <a16:creationId xmlns:a16="http://schemas.microsoft.com/office/drawing/2014/main" id="{60EDEBD1-B4EF-DCC3-4D89-3C8EF302ADCF}"/>
              </a:ext>
            </a:extLst>
          </p:cNvPr>
          <p:cNvSpPr>
            <a:spLocks noGrp="1"/>
          </p:cNvSpPr>
          <p:nvPr>
            <p:ph idx="1"/>
          </p:nvPr>
        </p:nvSpPr>
        <p:spPr/>
        <p:txBody>
          <a:bodyPr/>
          <a:lstStyle/>
          <a:p>
            <a:pPr algn="just"/>
            <a:r>
              <a:rPr lang="en-US" dirty="0"/>
              <a:t>Containers are a good way to bundle and run your applications. In a production environment, you need to manage the containers that run the applications and ensure that there is no downtime. For example, if a container goes down, another container needs to start. Wouldn't it be easier if this behavior was handled by a system?</a:t>
            </a:r>
          </a:p>
          <a:p>
            <a:pPr algn="just"/>
            <a:r>
              <a:rPr lang="en-US" dirty="0"/>
              <a:t>That's how Kubernetes comes to the rescue! Kubernetes provides you with a framework to run distributed systems resiliently. It takes care of scaling and failover for your application, provides deployment patterns, and more. For example: Kubernetes can easily manage a canary deployment for your system.</a:t>
            </a:r>
          </a:p>
          <a:p>
            <a:endParaRPr lang="en-US" dirty="0"/>
          </a:p>
        </p:txBody>
      </p:sp>
    </p:spTree>
    <p:extLst>
      <p:ext uri="{BB962C8B-B14F-4D97-AF65-F5344CB8AC3E}">
        <p14:creationId xmlns:p14="http://schemas.microsoft.com/office/powerpoint/2010/main" val="29033169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07866-1199-EED3-8AEC-171C6A9138F2}"/>
              </a:ext>
            </a:extLst>
          </p:cNvPr>
          <p:cNvSpPr>
            <a:spLocks noGrp="1"/>
          </p:cNvSpPr>
          <p:nvPr>
            <p:ph type="title"/>
          </p:nvPr>
        </p:nvSpPr>
        <p:spPr/>
        <p:txBody>
          <a:bodyPr/>
          <a:lstStyle/>
          <a:p>
            <a:r>
              <a:rPr lang="en-US" dirty="0"/>
              <a:t>Kubernetes provides you with:</a:t>
            </a:r>
          </a:p>
        </p:txBody>
      </p:sp>
      <p:sp>
        <p:nvSpPr>
          <p:cNvPr id="3" name="Content Placeholder 2">
            <a:extLst>
              <a:ext uri="{FF2B5EF4-FFF2-40B4-BE49-F238E27FC236}">
                <a16:creationId xmlns:a16="http://schemas.microsoft.com/office/drawing/2014/main" id="{EA355D04-1616-8FAC-3130-37F167B34B1F}"/>
              </a:ext>
            </a:extLst>
          </p:cNvPr>
          <p:cNvSpPr>
            <a:spLocks noGrp="1"/>
          </p:cNvSpPr>
          <p:nvPr>
            <p:ph idx="1"/>
          </p:nvPr>
        </p:nvSpPr>
        <p:spPr/>
        <p:txBody>
          <a:bodyPr>
            <a:normAutofit fontScale="92500" lnSpcReduction="20000"/>
          </a:bodyPr>
          <a:lstStyle/>
          <a:p>
            <a:pPr algn="just"/>
            <a:r>
              <a:rPr lang="en-US" b="1" dirty="0"/>
              <a:t>Service discovery and load balancing</a:t>
            </a:r>
            <a:r>
              <a:rPr lang="en-US" dirty="0"/>
              <a:t> Kubernetes can expose a container using a DNS name or its own IP address. If traffic to a container is high, Kubernetes is able to load balance and distribute the network traffic so that the deployment is stable.</a:t>
            </a:r>
          </a:p>
          <a:p>
            <a:pPr algn="just"/>
            <a:r>
              <a:rPr lang="en-US" b="1" dirty="0"/>
              <a:t>Storage orchestration</a:t>
            </a:r>
            <a:r>
              <a:rPr lang="en-US" dirty="0"/>
              <a:t> Kubernetes allows you to automatically mount a storage system of your choice, such as local storage, public cloud providers, and more.</a:t>
            </a:r>
          </a:p>
          <a:p>
            <a:pPr algn="just"/>
            <a:r>
              <a:rPr lang="en-US" b="1" dirty="0"/>
              <a:t>Automated rollouts and rollbacks</a:t>
            </a:r>
            <a:r>
              <a:rPr lang="en-US" dirty="0"/>
              <a:t> You can describe the desired state for your deployed containers using Kubernetes, and it can change the actual state to the desired state at a controlled rate. For example, you can automate Kubernetes to create new containers for your deployment, remove existing containers and adopt all their resources to the new container.</a:t>
            </a:r>
          </a:p>
          <a:p>
            <a:endParaRPr lang="en-US" dirty="0"/>
          </a:p>
        </p:txBody>
      </p:sp>
    </p:spTree>
    <p:extLst>
      <p:ext uri="{BB962C8B-B14F-4D97-AF65-F5344CB8AC3E}">
        <p14:creationId xmlns:p14="http://schemas.microsoft.com/office/powerpoint/2010/main" val="271972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F645E-18BC-2C43-802C-08397382C6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4ACEB0-3DB2-F699-2D55-D505D4F62B08}"/>
              </a:ext>
            </a:extLst>
          </p:cNvPr>
          <p:cNvSpPr>
            <a:spLocks noGrp="1"/>
          </p:cNvSpPr>
          <p:nvPr>
            <p:ph idx="1"/>
          </p:nvPr>
        </p:nvSpPr>
        <p:spPr/>
        <p:txBody>
          <a:bodyPr>
            <a:normAutofit fontScale="92500" lnSpcReduction="10000"/>
          </a:bodyPr>
          <a:lstStyle/>
          <a:p>
            <a:pPr algn="just"/>
            <a:r>
              <a:rPr lang="en-US" b="1" dirty="0"/>
              <a:t>Automatic bin packing</a:t>
            </a:r>
            <a:r>
              <a:rPr lang="en-US" dirty="0"/>
              <a:t> You provide Kubernetes with a cluster of nodes that it can use to run containerized tasks. You tell Kubernetes how much CPU and memory (RAM) each container needs. Kubernetes can fit containers onto your nodes to make the best use of your resources.</a:t>
            </a:r>
          </a:p>
          <a:p>
            <a:pPr algn="just"/>
            <a:r>
              <a:rPr lang="en-US" b="1" dirty="0"/>
              <a:t>Self-healing</a:t>
            </a:r>
            <a:r>
              <a:rPr lang="en-US" dirty="0"/>
              <a:t> Kubernetes restarts containers that fail, replaces containers, kills containers that don't respond to your user-defined health check, and doesn't advertise them to clients until they are ready to serve.</a:t>
            </a:r>
          </a:p>
          <a:p>
            <a:pPr algn="just"/>
            <a:r>
              <a:rPr lang="en-US" b="1" dirty="0"/>
              <a:t>Secret and configuration management</a:t>
            </a:r>
            <a:r>
              <a:rPr lang="en-US" dirty="0"/>
              <a:t> Kubernetes lets you store and manage sensitive information, such as passwords, OAuth tokens, and SSH keys. You can deploy and update secrets and application configuration without rebuilding your container images, and without exposing secrets in your stack configuration.</a:t>
            </a:r>
          </a:p>
          <a:p>
            <a:endParaRPr lang="en-US" dirty="0"/>
          </a:p>
        </p:txBody>
      </p:sp>
    </p:spTree>
    <p:extLst>
      <p:ext uri="{BB962C8B-B14F-4D97-AF65-F5344CB8AC3E}">
        <p14:creationId xmlns:p14="http://schemas.microsoft.com/office/powerpoint/2010/main" val="17313208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49C2-BC98-F3EF-6CF0-23C05013E8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68F83F-0154-2D8B-6CF4-E62789805DA8}"/>
              </a:ext>
            </a:extLst>
          </p:cNvPr>
          <p:cNvSpPr>
            <a:spLocks noGrp="1"/>
          </p:cNvSpPr>
          <p:nvPr>
            <p:ph idx="1"/>
          </p:nvPr>
        </p:nvSpPr>
        <p:spPr/>
        <p:txBody>
          <a:bodyPr/>
          <a:lstStyle/>
          <a:p>
            <a:pPr algn="just"/>
            <a:r>
              <a:rPr lang="en-US" b="1" dirty="0"/>
              <a:t>Batch execution</a:t>
            </a:r>
            <a:r>
              <a:rPr lang="en-US" dirty="0"/>
              <a:t> In addition to services, Kubernetes can manage your batch and CI workloads, replacing containers that fail, if desired.</a:t>
            </a:r>
          </a:p>
          <a:p>
            <a:pPr algn="just"/>
            <a:r>
              <a:rPr lang="en-US" b="1" dirty="0"/>
              <a:t>Horizontal scaling</a:t>
            </a:r>
            <a:r>
              <a:rPr lang="en-US" dirty="0"/>
              <a:t> Scale your application up and down with a simple command, with a UI, or automatically based on CPU usage.</a:t>
            </a:r>
          </a:p>
          <a:p>
            <a:pPr algn="just"/>
            <a:r>
              <a:rPr lang="en-US" b="1" dirty="0"/>
              <a:t>IPv4/IPv6 dual-stack</a:t>
            </a:r>
            <a:r>
              <a:rPr lang="en-US" dirty="0"/>
              <a:t> Allocation of IPv4 and IPv6 addresses to Pods and Services</a:t>
            </a:r>
          </a:p>
          <a:p>
            <a:pPr algn="just"/>
            <a:r>
              <a:rPr lang="en-US" b="1" dirty="0"/>
              <a:t>Designed for extensibility</a:t>
            </a:r>
            <a:r>
              <a:rPr lang="en-US" dirty="0"/>
              <a:t> Add features to your Kubernetes cluster without changing upstream source code.</a:t>
            </a:r>
          </a:p>
          <a:p>
            <a:endParaRPr lang="en-US" dirty="0"/>
          </a:p>
        </p:txBody>
      </p:sp>
    </p:spTree>
    <p:extLst>
      <p:ext uri="{BB962C8B-B14F-4D97-AF65-F5344CB8AC3E}">
        <p14:creationId xmlns:p14="http://schemas.microsoft.com/office/powerpoint/2010/main" val="30406990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2CD74-73A3-7C86-63DA-F6681CF37A00}"/>
              </a:ext>
            </a:extLst>
          </p:cNvPr>
          <p:cNvSpPr>
            <a:spLocks noGrp="1"/>
          </p:cNvSpPr>
          <p:nvPr>
            <p:ph type="title"/>
          </p:nvPr>
        </p:nvSpPr>
        <p:spPr/>
        <p:txBody>
          <a:bodyPr/>
          <a:lstStyle/>
          <a:p>
            <a:r>
              <a:rPr lang="en-US" dirty="0"/>
              <a:t>What Kubernetes is not</a:t>
            </a:r>
            <a:r>
              <a:rPr lang="en-US" u="sng" dirty="0">
                <a:hlinkClick r:id="rId2"/>
              </a:rPr>
              <a:t> </a:t>
            </a:r>
            <a:br>
              <a:rPr lang="en-US" dirty="0"/>
            </a:br>
            <a:endParaRPr lang="en-US" dirty="0"/>
          </a:p>
        </p:txBody>
      </p:sp>
      <p:sp>
        <p:nvSpPr>
          <p:cNvPr id="3" name="Content Placeholder 2">
            <a:extLst>
              <a:ext uri="{FF2B5EF4-FFF2-40B4-BE49-F238E27FC236}">
                <a16:creationId xmlns:a16="http://schemas.microsoft.com/office/drawing/2014/main" id="{DE37D0F2-DE16-685B-9BC0-930C66B830E1}"/>
              </a:ext>
            </a:extLst>
          </p:cNvPr>
          <p:cNvSpPr>
            <a:spLocks noGrp="1"/>
          </p:cNvSpPr>
          <p:nvPr>
            <p:ph idx="1"/>
          </p:nvPr>
        </p:nvSpPr>
        <p:spPr/>
        <p:txBody>
          <a:bodyPr>
            <a:normAutofit fontScale="92500"/>
          </a:bodyPr>
          <a:lstStyle/>
          <a:p>
            <a:pPr algn="just"/>
            <a:r>
              <a:rPr lang="en-US" dirty="0"/>
              <a:t>Kubernetes is not a traditional, all-inclusive PaaS (Platform as a Service) system. </a:t>
            </a:r>
          </a:p>
          <a:p>
            <a:pPr algn="just"/>
            <a:r>
              <a:rPr lang="en-US" dirty="0"/>
              <a:t>Since Kubernetes operates at the container level rather than at the hardware level, it provides some generally applicable features common to PaaS offerings, such as deployment, scaling, load balancing, and lets users integrate their logging, monitoring, and alerting solutions.</a:t>
            </a:r>
          </a:p>
          <a:p>
            <a:pPr algn="just"/>
            <a:r>
              <a:rPr lang="en-US" dirty="0"/>
              <a:t> However, Kubernetes is not monolithic, and these default solutions are optional and pluggable. </a:t>
            </a:r>
          </a:p>
          <a:p>
            <a:pPr algn="just"/>
            <a:r>
              <a:rPr lang="en-US" dirty="0"/>
              <a:t>Kubernetes provides the building blocks for building developer platforms, but preserves user choice and flexibility where it is important.</a:t>
            </a:r>
          </a:p>
        </p:txBody>
      </p:sp>
    </p:spTree>
    <p:extLst>
      <p:ext uri="{BB962C8B-B14F-4D97-AF65-F5344CB8AC3E}">
        <p14:creationId xmlns:p14="http://schemas.microsoft.com/office/powerpoint/2010/main" val="16776501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2A638-3A82-B516-4DBA-BAAA2A817A10}"/>
              </a:ext>
            </a:extLst>
          </p:cNvPr>
          <p:cNvSpPr>
            <a:spLocks noGrp="1"/>
          </p:cNvSpPr>
          <p:nvPr>
            <p:ph type="title"/>
          </p:nvPr>
        </p:nvSpPr>
        <p:spPr/>
        <p:txBody>
          <a:bodyPr/>
          <a:lstStyle/>
          <a:p>
            <a:r>
              <a:rPr lang="en-US" dirty="0"/>
              <a:t>Kubernetes:</a:t>
            </a:r>
            <a:br>
              <a:rPr lang="en-US" dirty="0"/>
            </a:br>
            <a:endParaRPr lang="en-US" dirty="0"/>
          </a:p>
        </p:txBody>
      </p:sp>
      <p:sp>
        <p:nvSpPr>
          <p:cNvPr id="3" name="Content Placeholder 2">
            <a:extLst>
              <a:ext uri="{FF2B5EF4-FFF2-40B4-BE49-F238E27FC236}">
                <a16:creationId xmlns:a16="http://schemas.microsoft.com/office/drawing/2014/main" id="{20972159-BFF1-73E1-11EC-224290EF9579}"/>
              </a:ext>
            </a:extLst>
          </p:cNvPr>
          <p:cNvSpPr>
            <a:spLocks noGrp="1"/>
          </p:cNvSpPr>
          <p:nvPr>
            <p:ph idx="1"/>
          </p:nvPr>
        </p:nvSpPr>
        <p:spPr/>
        <p:txBody>
          <a:bodyPr/>
          <a:lstStyle/>
          <a:p>
            <a:pPr algn="just"/>
            <a:r>
              <a:rPr lang="en-US" dirty="0"/>
              <a:t>Does not limit the types of applications supported. Kubernetes aims to support an extremely diverse variety of workloads, including stateless, stateful, and data-processing workloads. If an application can run in a container, it should run great on Kubernetes.</a:t>
            </a:r>
          </a:p>
          <a:p>
            <a:pPr algn="just"/>
            <a:r>
              <a:rPr lang="en-US" dirty="0"/>
              <a:t>Does not deploy source code and does not build your application. Continuous Integration, Delivery, and Deployment (CI/CD) workflows are determined by organization cultures and preferences as well as technical requirements.</a:t>
            </a:r>
          </a:p>
          <a:p>
            <a:endParaRPr lang="en-US" dirty="0"/>
          </a:p>
        </p:txBody>
      </p:sp>
    </p:spTree>
    <p:extLst>
      <p:ext uri="{BB962C8B-B14F-4D97-AF65-F5344CB8AC3E}">
        <p14:creationId xmlns:p14="http://schemas.microsoft.com/office/powerpoint/2010/main" val="27246412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5AD9A-2D5F-DB95-D1D9-ECD300FD36C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E2FBD7-7970-E3F0-20F8-9A220A79ADB6}"/>
              </a:ext>
            </a:extLst>
          </p:cNvPr>
          <p:cNvSpPr>
            <a:spLocks noGrp="1"/>
          </p:cNvSpPr>
          <p:nvPr>
            <p:ph idx="1"/>
          </p:nvPr>
        </p:nvSpPr>
        <p:spPr/>
        <p:txBody>
          <a:bodyPr>
            <a:normAutofit fontScale="92500" lnSpcReduction="20000"/>
          </a:bodyPr>
          <a:lstStyle/>
          <a:p>
            <a:pPr algn="just"/>
            <a:r>
              <a:rPr lang="en-US" dirty="0"/>
              <a:t>Does not provide application-level services, such as middleware (for example, message buses), data-processing frameworks (for example, Spark), databases (for example, MySQL), caches, nor cluster storage systems (for example, Ceph) as built-in services. Such components can run on Kubernetes, and/or can be accessed by applications running on Kubernetes through portable mechanisms, such as the Open Service Broker.</a:t>
            </a:r>
          </a:p>
          <a:p>
            <a:pPr algn="just"/>
            <a:r>
              <a:rPr lang="en-US" dirty="0"/>
              <a:t>Does not dictate logging, monitoring, or alerting solutions. It provides some integrations as proof of concept, and mechanisms to collect and export metrics.</a:t>
            </a:r>
          </a:p>
          <a:p>
            <a:pPr algn="just"/>
            <a:r>
              <a:rPr lang="en-US" dirty="0"/>
              <a:t>Does not provide nor mandate a configuration language/system (for example, </a:t>
            </a:r>
            <a:r>
              <a:rPr lang="en-US" dirty="0" err="1"/>
              <a:t>Jsonnet</a:t>
            </a:r>
            <a:r>
              <a:rPr lang="en-US" dirty="0"/>
              <a:t>). It provides a declarative API that may be targeted by arbitrary forms of declarative specifications.</a:t>
            </a:r>
          </a:p>
          <a:p>
            <a:endParaRPr lang="en-US" dirty="0"/>
          </a:p>
        </p:txBody>
      </p:sp>
    </p:spTree>
    <p:extLst>
      <p:ext uri="{BB962C8B-B14F-4D97-AF65-F5344CB8AC3E}">
        <p14:creationId xmlns:p14="http://schemas.microsoft.com/office/powerpoint/2010/main" val="2453160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2001-725C-7654-2B02-2017B51D53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77366B-CC12-BE66-9482-28941741EA0E}"/>
              </a:ext>
            </a:extLst>
          </p:cNvPr>
          <p:cNvSpPr>
            <a:spLocks noGrp="1"/>
          </p:cNvSpPr>
          <p:nvPr>
            <p:ph idx="1"/>
          </p:nvPr>
        </p:nvSpPr>
        <p:spPr/>
        <p:txBody>
          <a:bodyPr>
            <a:normAutofit lnSpcReduction="10000"/>
          </a:bodyPr>
          <a:lstStyle/>
          <a:p>
            <a:pPr algn="just"/>
            <a:r>
              <a:rPr lang="en-US" dirty="0"/>
              <a:t>Does not provide nor adopt any comprehensive machine configuration, maintenance, management, or self-healing systems.</a:t>
            </a:r>
          </a:p>
          <a:p>
            <a:pPr algn="just"/>
            <a:r>
              <a:rPr lang="en-US" dirty="0"/>
              <a:t>Additionally, Kubernetes is not a mere orchestration system. In fact, it eliminates the need for orchestration. The technical definition of orchestration is execution of a defined workflow: first do A, then B, then C. In contrast, Kubernetes comprises a set of independent, composable control processes that continuously drive the current state towards the provided desired state. It shouldn't matter how you get from A to C. Centralized control is also not required. This results in a system that is easier to use and more powerful, robust, resilient, and extensible.</a:t>
            </a:r>
          </a:p>
          <a:p>
            <a:endParaRPr lang="en-US" dirty="0"/>
          </a:p>
        </p:txBody>
      </p:sp>
    </p:spTree>
    <p:extLst>
      <p:ext uri="{BB962C8B-B14F-4D97-AF65-F5344CB8AC3E}">
        <p14:creationId xmlns:p14="http://schemas.microsoft.com/office/powerpoint/2010/main" val="18119784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0A099-C3CE-AB74-B57F-0B15CADA2601}"/>
              </a:ext>
            </a:extLst>
          </p:cNvPr>
          <p:cNvSpPr>
            <a:spLocks noGrp="1"/>
          </p:cNvSpPr>
          <p:nvPr>
            <p:ph type="title"/>
          </p:nvPr>
        </p:nvSpPr>
        <p:spPr/>
        <p:txBody>
          <a:bodyPr/>
          <a:lstStyle/>
          <a:p>
            <a:r>
              <a:rPr lang="en-US" dirty="0"/>
              <a:t>Historical context for Kubernetes</a:t>
            </a:r>
            <a:br>
              <a:rPr lang="en-US" dirty="0"/>
            </a:br>
            <a:endParaRPr lang="en-US" dirty="0"/>
          </a:p>
        </p:txBody>
      </p:sp>
      <p:sp>
        <p:nvSpPr>
          <p:cNvPr id="3" name="Content Placeholder 2">
            <a:extLst>
              <a:ext uri="{FF2B5EF4-FFF2-40B4-BE49-F238E27FC236}">
                <a16:creationId xmlns:a16="http://schemas.microsoft.com/office/drawing/2014/main" id="{5D675A9D-E0C9-5CA6-E123-57C6EA72878A}"/>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8999FFCB-8B85-ABBF-CF60-E9F5FC000263}"/>
              </a:ext>
            </a:extLst>
          </p:cNvPr>
          <p:cNvPicPr>
            <a:picLocks noChangeAspect="1"/>
          </p:cNvPicPr>
          <p:nvPr/>
        </p:nvPicPr>
        <p:blipFill>
          <a:blip r:embed="rId2"/>
          <a:stretch>
            <a:fillRect/>
          </a:stretch>
        </p:blipFill>
        <p:spPr>
          <a:xfrm>
            <a:off x="1417834" y="2276429"/>
            <a:ext cx="8404260" cy="3795598"/>
          </a:xfrm>
          <a:prstGeom prst="rect">
            <a:avLst/>
          </a:prstGeom>
        </p:spPr>
      </p:pic>
    </p:spTree>
    <p:extLst>
      <p:ext uri="{BB962C8B-B14F-4D97-AF65-F5344CB8AC3E}">
        <p14:creationId xmlns:p14="http://schemas.microsoft.com/office/powerpoint/2010/main" val="20499584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A75A0-7F4C-3054-F396-6D8CA670E58A}"/>
              </a:ext>
            </a:extLst>
          </p:cNvPr>
          <p:cNvSpPr>
            <a:spLocks noGrp="1"/>
          </p:cNvSpPr>
          <p:nvPr>
            <p:ph type="title"/>
          </p:nvPr>
        </p:nvSpPr>
        <p:spPr/>
        <p:txBody>
          <a:bodyPr/>
          <a:lstStyle/>
          <a:p>
            <a:r>
              <a:rPr lang="en-US" b="1" dirty="0"/>
              <a:t>Traditional deployment era:</a:t>
            </a:r>
            <a:br>
              <a:rPr lang="en-US" dirty="0"/>
            </a:br>
            <a:endParaRPr lang="en-US" dirty="0"/>
          </a:p>
        </p:txBody>
      </p:sp>
      <p:sp>
        <p:nvSpPr>
          <p:cNvPr id="3" name="Content Placeholder 2">
            <a:extLst>
              <a:ext uri="{FF2B5EF4-FFF2-40B4-BE49-F238E27FC236}">
                <a16:creationId xmlns:a16="http://schemas.microsoft.com/office/drawing/2014/main" id="{FEB45EB1-8F81-C040-D8AB-4B22F71AEB0A}"/>
              </a:ext>
            </a:extLst>
          </p:cNvPr>
          <p:cNvSpPr>
            <a:spLocks noGrp="1"/>
          </p:cNvSpPr>
          <p:nvPr>
            <p:ph idx="1"/>
          </p:nvPr>
        </p:nvSpPr>
        <p:spPr/>
        <p:txBody>
          <a:bodyPr>
            <a:normAutofit lnSpcReduction="10000"/>
          </a:bodyPr>
          <a:lstStyle/>
          <a:p>
            <a:pPr algn="just"/>
            <a:r>
              <a:rPr lang="en-US" dirty="0"/>
              <a:t>Early on, organizations ran applications on physical servers. </a:t>
            </a:r>
          </a:p>
          <a:p>
            <a:pPr algn="just"/>
            <a:r>
              <a:rPr lang="en-US" dirty="0"/>
              <a:t>There was no way to define resource boundaries for applications in a physical server, and this caused resource allocation issues. </a:t>
            </a:r>
          </a:p>
          <a:p>
            <a:pPr algn="just"/>
            <a:r>
              <a:rPr lang="en-US" dirty="0"/>
              <a:t>For example, if multiple applications run on a physical server, there can be instances where one application would take up most of the resources, and as a result, the other applications would underperform. </a:t>
            </a:r>
          </a:p>
          <a:p>
            <a:pPr algn="just"/>
            <a:r>
              <a:rPr lang="en-US" dirty="0"/>
              <a:t>A solution for this would be to run each application on a different physical server. But this did not scale as resources were underutilized, and it was expensive for organizations to maintain many physical servers.</a:t>
            </a:r>
          </a:p>
          <a:p>
            <a:endParaRPr lang="en-US" dirty="0"/>
          </a:p>
        </p:txBody>
      </p:sp>
    </p:spTree>
    <p:extLst>
      <p:ext uri="{BB962C8B-B14F-4D97-AF65-F5344CB8AC3E}">
        <p14:creationId xmlns:p14="http://schemas.microsoft.com/office/powerpoint/2010/main" val="10837942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590A-8F76-226F-23DC-3A576EA86286}"/>
              </a:ext>
            </a:extLst>
          </p:cNvPr>
          <p:cNvSpPr>
            <a:spLocks noGrp="1"/>
          </p:cNvSpPr>
          <p:nvPr>
            <p:ph type="title"/>
          </p:nvPr>
        </p:nvSpPr>
        <p:spPr/>
        <p:txBody>
          <a:bodyPr/>
          <a:lstStyle/>
          <a:p>
            <a:r>
              <a:rPr lang="en-US" b="1" dirty="0"/>
              <a:t>Virtualized deployment era:</a:t>
            </a:r>
            <a:br>
              <a:rPr lang="en-US" dirty="0"/>
            </a:br>
            <a:endParaRPr lang="en-US" dirty="0"/>
          </a:p>
        </p:txBody>
      </p:sp>
      <p:sp>
        <p:nvSpPr>
          <p:cNvPr id="3" name="Content Placeholder 2">
            <a:extLst>
              <a:ext uri="{FF2B5EF4-FFF2-40B4-BE49-F238E27FC236}">
                <a16:creationId xmlns:a16="http://schemas.microsoft.com/office/drawing/2014/main" id="{F1222042-3D5D-4E52-BDED-CD3EB512AF18}"/>
              </a:ext>
            </a:extLst>
          </p:cNvPr>
          <p:cNvSpPr>
            <a:spLocks noGrp="1"/>
          </p:cNvSpPr>
          <p:nvPr>
            <p:ph idx="1"/>
          </p:nvPr>
        </p:nvSpPr>
        <p:spPr/>
        <p:txBody>
          <a:bodyPr>
            <a:normAutofit fontScale="92500" lnSpcReduction="10000"/>
          </a:bodyPr>
          <a:lstStyle/>
          <a:p>
            <a:pPr algn="just"/>
            <a:r>
              <a:rPr lang="en-US" dirty="0"/>
              <a:t>As a solution, virtualization was introduced. It allows you to run multiple Virtual Machines (VMs) on a single physical server's CPU. Virtualization allows applications to be isolated between VMs and provides a level of security as the information of one application cannot be freely accessed by another application.</a:t>
            </a:r>
          </a:p>
          <a:p>
            <a:pPr algn="just"/>
            <a:r>
              <a:rPr lang="en-US" dirty="0"/>
              <a:t>Virtualization allows better utilization of resources in a physical server and allows better scalability because an application can be added or updated easily, reduces hardware costs, and much more. With virtualization you can present a set of physical resources as a cluster of disposable virtual machines.</a:t>
            </a:r>
          </a:p>
          <a:p>
            <a:pPr algn="just"/>
            <a:r>
              <a:rPr lang="en-US" dirty="0"/>
              <a:t>Each VM is a full machine running all the components, including its own operating system, on top of the virtualized hardware.</a:t>
            </a:r>
          </a:p>
          <a:p>
            <a:endParaRPr lang="en-US" dirty="0"/>
          </a:p>
        </p:txBody>
      </p:sp>
    </p:spTree>
    <p:extLst>
      <p:ext uri="{BB962C8B-B14F-4D97-AF65-F5344CB8AC3E}">
        <p14:creationId xmlns:p14="http://schemas.microsoft.com/office/powerpoint/2010/main" val="414355849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9E627-47CD-B914-CFF8-C236AF778740}"/>
              </a:ext>
            </a:extLst>
          </p:cNvPr>
          <p:cNvSpPr>
            <a:spLocks noGrp="1"/>
          </p:cNvSpPr>
          <p:nvPr>
            <p:ph type="title"/>
          </p:nvPr>
        </p:nvSpPr>
        <p:spPr/>
        <p:txBody>
          <a:bodyPr/>
          <a:lstStyle/>
          <a:p>
            <a:r>
              <a:rPr lang="en-US" b="1" dirty="0"/>
              <a:t>Container deployment era:</a:t>
            </a:r>
            <a:br>
              <a:rPr lang="en-US" dirty="0"/>
            </a:br>
            <a:endParaRPr lang="en-US" dirty="0"/>
          </a:p>
        </p:txBody>
      </p:sp>
      <p:sp>
        <p:nvSpPr>
          <p:cNvPr id="3" name="Content Placeholder 2">
            <a:extLst>
              <a:ext uri="{FF2B5EF4-FFF2-40B4-BE49-F238E27FC236}">
                <a16:creationId xmlns:a16="http://schemas.microsoft.com/office/drawing/2014/main" id="{C2EE918D-D987-F720-4FF5-BCB63A683B45}"/>
              </a:ext>
            </a:extLst>
          </p:cNvPr>
          <p:cNvSpPr>
            <a:spLocks noGrp="1"/>
          </p:cNvSpPr>
          <p:nvPr>
            <p:ph idx="1"/>
          </p:nvPr>
        </p:nvSpPr>
        <p:spPr/>
        <p:txBody>
          <a:bodyPr/>
          <a:lstStyle/>
          <a:p>
            <a:pPr algn="just"/>
            <a:r>
              <a:rPr lang="en-US" dirty="0"/>
              <a:t>Containers are similar to VMs, but they have relaxed isolation properties to share the Operating System (OS) among the applications. Therefore, containers are considered lightweight. </a:t>
            </a:r>
          </a:p>
          <a:p>
            <a:pPr algn="just"/>
            <a:r>
              <a:rPr lang="en-US" dirty="0"/>
              <a:t>Similar to a VM, a container has its own filesystem, share of CPU, memory, process space, and more. </a:t>
            </a:r>
          </a:p>
          <a:p>
            <a:pPr algn="just"/>
            <a:r>
              <a:rPr lang="en-US" dirty="0"/>
              <a:t>As they are decoupled from the underlying infrastructure, they are portable across clouds and OS distributions.</a:t>
            </a:r>
          </a:p>
          <a:p>
            <a:endParaRPr lang="en-US" dirty="0"/>
          </a:p>
        </p:txBody>
      </p:sp>
    </p:spTree>
    <p:extLst>
      <p:ext uri="{BB962C8B-B14F-4D97-AF65-F5344CB8AC3E}">
        <p14:creationId xmlns:p14="http://schemas.microsoft.com/office/powerpoint/2010/main" val="36073925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912B-A446-4101-E5EC-9BB9E4C91C9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381577-758A-ED43-2BCB-B328150E75EF}"/>
              </a:ext>
            </a:extLst>
          </p:cNvPr>
          <p:cNvSpPr>
            <a:spLocks noGrp="1"/>
          </p:cNvSpPr>
          <p:nvPr>
            <p:ph idx="1"/>
          </p:nvPr>
        </p:nvSpPr>
        <p:spPr/>
        <p:txBody>
          <a:bodyPr/>
          <a:lstStyle/>
          <a:p>
            <a:r>
              <a:rPr lang="en-US" dirty="0"/>
              <a:t>https://kubernetes.io/docs/concepts/overview/#why-you-need-kubernetes-and-what-can-it-do</a:t>
            </a:r>
          </a:p>
        </p:txBody>
      </p:sp>
      <p:sp>
        <p:nvSpPr>
          <p:cNvPr id="5" name="TextBox 4">
            <a:extLst>
              <a:ext uri="{FF2B5EF4-FFF2-40B4-BE49-F238E27FC236}">
                <a16:creationId xmlns:a16="http://schemas.microsoft.com/office/drawing/2014/main" id="{4C9071FF-8D08-CE90-76C4-9DD9EF3AFDFB}"/>
              </a:ext>
            </a:extLst>
          </p:cNvPr>
          <p:cNvSpPr txBox="1"/>
          <p:nvPr/>
        </p:nvSpPr>
        <p:spPr>
          <a:xfrm>
            <a:off x="3048856" y="3108403"/>
            <a:ext cx="6097712" cy="646331"/>
          </a:xfrm>
          <a:prstGeom prst="rect">
            <a:avLst/>
          </a:prstGeom>
          <a:noFill/>
        </p:spPr>
        <p:txBody>
          <a:bodyPr wrap="square">
            <a:spAutoFit/>
          </a:bodyPr>
          <a:lstStyle/>
          <a:p>
            <a:r>
              <a:rPr lang="en-US" dirty="0"/>
              <a:t>https://kubernetes.io/docs/concepts/overview/#why-you-need-kubernetes-and-what-can-it-do</a:t>
            </a:r>
          </a:p>
        </p:txBody>
      </p:sp>
    </p:spTree>
    <p:extLst>
      <p:ext uri="{BB962C8B-B14F-4D97-AF65-F5344CB8AC3E}">
        <p14:creationId xmlns:p14="http://schemas.microsoft.com/office/powerpoint/2010/main" val="13833163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96CEA-39CE-28AD-0E07-21F7D7A8C20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CC53BFE-A53B-C445-7758-F5CD5B63C23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C4D9FEC-B93A-E05D-B2E5-4150391EA1A8}"/>
              </a:ext>
            </a:extLst>
          </p:cNvPr>
          <p:cNvPicPr>
            <a:picLocks noChangeAspect="1"/>
          </p:cNvPicPr>
          <p:nvPr/>
        </p:nvPicPr>
        <p:blipFill>
          <a:blip r:embed="rId2"/>
          <a:stretch>
            <a:fillRect/>
          </a:stretch>
        </p:blipFill>
        <p:spPr>
          <a:xfrm>
            <a:off x="732676" y="833075"/>
            <a:ext cx="10726647" cy="5191850"/>
          </a:xfrm>
          <a:prstGeom prst="rect">
            <a:avLst/>
          </a:prstGeom>
        </p:spPr>
      </p:pic>
    </p:spTree>
    <p:extLst>
      <p:ext uri="{BB962C8B-B14F-4D97-AF65-F5344CB8AC3E}">
        <p14:creationId xmlns:p14="http://schemas.microsoft.com/office/powerpoint/2010/main" val="8121371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6C63-C810-9824-C4F4-60BB34DFDFA6}"/>
              </a:ext>
            </a:extLst>
          </p:cNvPr>
          <p:cNvSpPr>
            <a:spLocks noGrp="1"/>
          </p:cNvSpPr>
          <p:nvPr>
            <p:ph type="title"/>
          </p:nvPr>
        </p:nvSpPr>
        <p:spPr/>
        <p:txBody>
          <a:bodyPr>
            <a:normAutofit fontScale="90000"/>
          </a:bodyPr>
          <a:lstStyle/>
          <a:p>
            <a:br>
              <a:rPr lang="en-US" dirty="0"/>
            </a:br>
            <a:r>
              <a:rPr lang="en-US" dirty="0"/>
              <a:t>Kubernetes Vs. Docker: Complementary, Not Competitors</a:t>
            </a:r>
            <a:br>
              <a:rPr lang="en-US" dirty="0"/>
            </a:br>
            <a:endParaRPr lang="en-US" dirty="0"/>
          </a:p>
        </p:txBody>
      </p:sp>
      <p:sp>
        <p:nvSpPr>
          <p:cNvPr id="3" name="Content Placeholder 2">
            <a:extLst>
              <a:ext uri="{FF2B5EF4-FFF2-40B4-BE49-F238E27FC236}">
                <a16:creationId xmlns:a16="http://schemas.microsoft.com/office/drawing/2014/main" id="{6DFDDECE-44CF-2ADF-CE8A-1EEA58B5C218}"/>
              </a:ext>
            </a:extLst>
          </p:cNvPr>
          <p:cNvSpPr>
            <a:spLocks noGrp="1"/>
          </p:cNvSpPr>
          <p:nvPr>
            <p:ph idx="1"/>
          </p:nvPr>
        </p:nvSpPr>
        <p:spPr/>
        <p:txBody>
          <a:bodyPr>
            <a:normAutofit fontScale="92500" lnSpcReduction="20000"/>
          </a:bodyPr>
          <a:lstStyle/>
          <a:p>
            <a:pPr algn="just"/>
            <a:r>
              <a:rPr lang="en-US" dirty="0"/>
              <a:t>Docker and Kubernetes are often positioned as competitors, but they’re not. This misconception arises from the overlapping functionalities they offer for containerization. While they both deal with containers, they serve different purposes in the development pipeline.</a:t>
            </a:r>
          </a:p>
          <a:p>
            <a:pPr algn="just"/>
            <a:r>
              <a:rPr lang="en-US" dirty="0"/>
              <a:t>Docker is a platform that simplifies the management of application processes in containers and automates the deployment of applications inside lightweight and portable containers. Kubernetes, by contrast, is a container orchestration platform. Rather than building or deploying containers, Kubernetes coordinates, schedules, and manages already-created containers.</a:t>
            </a:r>
          </a:p>
          <a:p>
            <a:pPr algn="just"/>
            <a:r>
              <a:rPr lang="en-US" dirty="0"/>
              <a:t>Many organizations use Docker to create and manage containers and Kubernetes for orchestration. Docker and Kubernetes provide complementary technologies that work together to provide a complete solution for deploying, scaling, and managing containerized applications.</a:t>
            </a:r>
          </a:p>
          <a:p>
            <a:endParaRPr lang="en-US" dirty="0"/>
          </a:p>
        </p:txBody>
      </p:sp>
    </p:spTree>
    <p:extLst>
      <p:ext uri="{BB962C8B-B14F-4D97-AF65-F5344CB8AC3E}">
        <p14:creationId xmlns:p14="http://schemas.microsoft.com/office/powerpoint/2010/main" val="9274779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0AE61-AFE2-5FC4-ED78-C0AAE0551B01}"/>
              </a:ext>
            </a:extLst>
          </p:cNvPr>
          <p:cNvSpPr>
            <a:spLocks noGrp="1"/>
          </p:cNvSpPr>
          <p:nvPr>
            <p:ph type="title"/>
          </p:nvPr>
        </p:nvSpPr>
        <p:spPr/>
        <p:txBody>
          <a:bodyPr>
            <a:normAutofit fontScale="90000"/>
          </a:bodyPr>
          <a:lstStyle/>
          <a:p>
            <a:r>
              <a:rPr lang="en-US" dirty="0"/>
              <a:t>Serving Complementary Containerization Roles</a:t>
            </a:r>
            <a:br>
              <a:rPr lang="en-US" dirty="0"/>
            </a:br>
            <a:endParaRPr lang="en-US" dirty="0"/>
          </a:p>
        </p:txBody>
      </p:sp>
      <p:sp>
        <p:nvSpPr>
          <p:cNvPr id="3" name="Content Placeholder 2">
            <a:extLst>
              <a:ext uri="{FF2B5EF4-FFF2-40B4-BE49-F238E27FC236}">
                <a16:creationId xmlns:a16="http://schemas.microsoft.com/office/drawing/2014/main" id="{5F7D3483-73DA-272D-60AB-C2F5A1CC1CC5}"/>
              </a:ext>
            </a:extLst>
          </p:cNvPr>
          <p:cNvSpPr>
            <a:spLocks noGrp="1"/>
          </p:cNvSpPr>
          <p:nvPr>
            <p:ph idx="1"/>
          </p:nvPr>
        </p:nvSpPr>
        <p:spPr/>
        <p:txBody>
          <a:bodyPr/>
          <a:lstStyle/>
          <a:p>
            <a:pPr algn="just"/>
            <a:r>
              <a:rPr lang="en-US" dirty="0"/>
              <a:t>Docker and Kubernetes serve complementary roles in the containerization ecosystem. They work together to facilitate containerized applications' development, deployment, and management.</a:t>
            </a:r>
          </a:p>
          <a:p>
            <a:pPr algn="just"/>
            <a:r>
              <a:rPr lang="en-US" dirty="0"/>
              <a:t>Docker specializes in packaging applications into containers, encapsulating the application’s code, runtime environment, libraries, and dependencies in a single, portable unit. It creates Docker images that developers can share to deploy their applications across any system that supports Docker.</a:t>
            </a:r>
          </a:p>
          <a:p>
            <a:endParaRPr lang="en-US" dirty="0"/>
          </a:p>
        </p:txBody>
      </p:sp>
    </p:spTree>
    <p:extLst>
      <p:ext uri="{BB962C8B-B14F-4D97-AF65-F5344CB8AC3E}">
        <p14:creationId xmlns:p14="http://schemas.microsoft.com/office/powerpoint/2010/main" val="36902996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6CB7C-B8FD-99A5-A800-94848513112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3C01822-D349-DF4E-082B-D39EA02685D3}"/>
              </a:ext>
            </a:extLst>
          </p:cNvPr>
          <p:cNvSpPr>
            <a:spLocks noGrp="1"/>
          </p:cNvSpPr>
          <p:nvPr>
            <p:ph idx="1"/>
          </p:nvPr>
        </p:nvSpPr>
        <p:spPr/>
        <p:txBody>
          <a:bodyPr>
            <a:normAutofit fontScale="92500" lnSpcReduction="20000"/>
          </a:bodyPr>
          <a:lstStyle/>
          <a:p>
            <a:pPr algn="just"/>
            <a:r>
              <a:rPr lang="en-US" dirty="0"/>
              <a:t>Once applications are containerized using Docker, Kubernetes manages their deployment across a cluster of machines. It uses Docker to run containers but extends its capabilities by automating container scheduling, load balancing, auto scaling, and self-healing. Kubernetes allows for easy application deployment from Docker images, managing their lifecycle at scale and providing the infrastructure to deploy Docker containers reliably in production environments.</a:t>
            </a:r>
          </a:p>
          <a:p>
            <a:pPr algn="just"/>
            <a:r>
              <a:rPr lang="en-US" dirty="0"/>
              <a:t>Together, Docker and Kubernetes offer a comprehensive solution for containerized applications. Docker streamlines the containerization and distribution of applications, while Kubernetes provides the infrastructure to run them efficiently across a distributed computing environment.</a:t>
            </a:r>
          </a:p>
          <a:p>
            <a:pPr algn="just"/>
            <a:br>
              <a:rPr lang="en-US" dirty="0"/>
            </a:br>
            <a:endParaRPr lang="en-US" dirty="0"/>
          </a:p>
        </p:txBody>
      </p:sp>
    </p:spTree>
    <p:extLst>
      <p:ext uri="{BB962C8B-B14F-4D97-AF65-F5344CB8AC3E}">
        <p14:creationId xmlns:p14="http://schemas.microsoft.com/office/powerpoint/2010/main" val="24965726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09FC-4219-FC3D-DCD0-5D71230714E5}"/>
              </a:ext>
            </a:extLst>
          </p:cNvPr>
          <p:cNvSpPr>
            <a:spLocks noGrp="1"/>
          </p:cNvSpPr>
          <p:nvPr>
            <p:ph type="title"/>
          </p:nvPr>
        </p:nvSpPr>
        <p:spPr/>
        <p:txBody>
          <a:bodyPr>
            <a:normAutofit fontScale="90000"/>
          </a:bodyPr>
          <a:lstStyle/>
          <a:p>
            <a:r>
              <a:rPr lang="en-US" dirty="0"/>
              <a:t>Use Cases and Applications for Docker and Kubernetes</a:t>
            </a:r>
            <a:br>
              <a:rPr lang="en-US" dirty="0"/>
            </a:br>
            <a:endParaRPr lang="en-US" dirty="0"/>
          </a:p>
        </p:txBody>
      </p:sp>
      <p:sp>
        <p:nvSpPr>
          <p:cNvPr id="3" name="Content Placeholder 2">
            <a:extLst>
              <a:ext uri="{FF2B5EF4-FFF2-40B4-BE49-F238E27FC236}">
                <a16:creationId xmlns:a16="http://schemas.microsoft.com/office/drawing/2014/main" id="{85E92840-1B69-E30D-11FD-52B4CE73E4BB}"/>
              </a:ext>
            </a:extLst>
          </p:cNvPr>
          <p:cNvSpPr>
            <a:spLocks noGrp="1"/>
          </p:cNvSpPr>
          <p:nvPr>
            <p:ph idx="1"/>
          </p:nvPr>
        </p:nvSpPr>
        <p:spPr/>
        <p:txBody>
          <a:bodyPr/>
          <a:lstStyle/>
          <a:p>
            <a:pPr marL="0" indent="0">
              <a:buNone/>
            </a:pPr>
            <a:r>
              <a:rPr lang="en-US" dirty="0"/>
              <a:t>Docker and Kubernetes are commonly used together, but there are other use cases where one is a better fit than the other.</a:t>
            </a:r>
          </a:p>
          <a:p>
            <a:pPr marL="0" indent="0">
              <a:buNone/>
            </a:pPr>
            <a:r>
              <a:rPr lang="en-US" b="1" dirty="0"/>
              <a:t>Use Cases Where Docker Is Preferred</a:t>
            </a:r>
          </a:p>
          <a:p>
            <a:r>
              <a:rPr lang="en-US" dirty="0"/>
              <a:t>Docker is preferred in scenarios requiring rapid application development and deployment. Its lightweight containerization technology is ideal for microservices architectures, where each service can be developed, deployed, and scaled independently.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8848959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52E2-C408-4961-36FA-4A654D4F40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FBAB1B-BB49-C67D-1DAE-D589D0360F14}"/>
              </a:ext>
            </a:extLst>
          </p:cNvPr>
          <p:cNvSpPr>
            <a:spLocks noGrp="1"/>
          </p:cNvSpPr>
          <p:nvPr>
            <p:ph idx="1"/>
          </p:nvPr>
        </p:nvSpPr>
        <p:spPr/>
        <p:txBody>
          <a:bodyPr>
            <a:normAutofit lnSpcReduction="10000"/>
          </a:bodyPr>
          <a:lstStyle/>
          <a:p>
            <a:pPr marL="0" indent="0">
              <a:buNone/>
            </a:pPr>
            <a:r>
              <a:rPr lang="en-US" b="1" dirty="0"/>
              <a:t>Use Cases Where Kubernetes Is Better</a:t>
            </a:r>
          </a:p>
          <a:p>
            <a:pPr algn="just"/>
            <a:r>
              <a:rPr lang="en-US" dirty="0"/>
              <a:t>Kubernetes excels in managing complex, large-scale applications across multiple containers and hosts. It's ideal for environments requiring high availability. </a:t>
            </a:r>
          </a:p>
          <a:p>
            <a:pPr algn="just"/>
            <a:r>
              <a:rPr lang="en-US" dirty="0"/>
              <a:t>Kubernetes is better for orchestrating microservices architectures, ensuring seamless communication and deployment. </a:t>
            </a:r>
          </a:p>
          <a:p>
            <a:pPr algn="just"/>
            <a:r>
              <a:rPr lang="en-US" dirty="0"/>
              <a:t>It suits cloud-native applications that benefit from auto-scaling and self-healing capabilities. </a:t>
            </a:r>
          </a:p>
          <a:p>
            <a:pPr algn="just"/>
            <a:r>
              <a:rPr lang="en-US" dirty="0"/>
              <a:t>Enterprises seeking to deploy applications across hybrid or </a:t>
            </a:r>
            <a:r>
              <a:rPr lang="en-US" dirty="0" err="1"/>
              <a:t>multicloud</a:t>
            </a:r>
            <a:r>
              <a:rPr lang="en-US" dirty="0"/>
              <a:t> environments often choose Kubernetes.</a:t>
            </a:r>
          </a:p>
          <a:p>
            <a:endParaRPr lang="en-US" dirty="0"/>
          </a:p>
        </p:txBody>
      </p:sp>
    </p:spTree>
    <p:extLst>
      <p:ext uri="{BB962C8B-B14F-4D97-AF65-F5344CB8AC3E}">
        <p14:creationId xmlns:p14="http://schemas.microsoft.com/office/powerpoint/2010/main" val="37829820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24F96-96D3-ED5C-27F7-3482C81019A6}"/>
              </a:ext>
            </a:extLst>
          </p:cNvPr>
          <p:cNvSpPr>
            <a:spLocks noGrp="1"/>
          </p:cNvSpPr>
          <p:nvPr>
            <p:ph type="title"/>
          </p:nvPr>
        </p:nvSpPr>
        <p:spPr/>
        <p:txBody>
          <a:bodyPr>
            <a:normAutofit fontScale="90000"/>
          </a:bodyPr>
          <a:lstStyle/>
          <a:p>
            <a:r>
              <a:rPr lang="en-US" dirty="0"/>
              <a:t>How Docker and Kubernetes Can Be Used Together</a:t>
            </a:r>
            <a:br>
              <a:rPr lang="en-US" dirty="0"/>
            </a:br>
            <a:endParaRPr lang="en-US" dirty="0"/>
          </a:p>
        </p:txBody>
      </p:sp>
      <p:sp>
        <p:nvSpPr>
          <p:cNvPr id="3" name="Content Placeholder 2">
            <a:extLst>
              <a:ext uri="{FF2B5EF4-FFF2-40B4-BE49-F238E27FC236}">
                <a16:creationId xmlns:a16="http://schemas.microsoft.com/office/drawing/2014/main" id="{2C96CA70-BF27-4FD7-E873-AAD8E49EC870}"/>
              </a:ext>
            </a:extLst>
          </p:cNvPr>
          <p:cNvSpPr>
            <a:spLocks noGrp="1"/>
          </p:cNvSpPr>
          <p:nvPr>
            <p:ph idx="1"/>
          </p:nvPr>
        </p:nvSpPr>
        <p:spPr/>
        <p:txBody>
          <a:bodyPr>
            <a:normAutofit/>
          </a:bodyPr>
          <a:lstStyle/>
          <a:p>
            <a:r>
              <a:rPr lang="en-US" dirty="0"/>
              <a:t>E-commerce Platforms</a:t>
            </a:r>
          </a:p>
          <a:p>
            <a:pPr marL="0" indent="0" algn="just">
              <a:buNone/>
            </a:pPr>
            <a:r>
              <a:rPr lang="en-US" dirty="0"/>
              <a:t>Docker creates lightweight containers for e-commerce microservices-based architectures, allowing for rapid deployment and testing of new features. With Kubernetes, microservices can be automatically scaled during high-traffic events.</a:t>
            </a:r>
          </a:p>
          <a:p>
            <a:endParaRPr lang="en-US" dirty="0"/>
          </a:p>
        </p:txBody>
      </p:sp>
    </p:spTree>
    <p:extLst>
      <p:ext uri="{BB962C8B-B14F-4D97-AF65-F5344CB8AC3E}">
        <p14:creationId xmlns:p14="http://schemas.microsoft.com/office/powerpoint/2010/main" val="36353585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A2124-1C48-0567-6B9C-2151E2502E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E302E9-3471-EC12-9EED-1133FE75572B}"/>
              </a:ext>
            </a:extLst>
          </p:cNvPr>
          <p:cNvSpPr>
            <a:spLocks noGrp="1"/>
          </p:cNvSpPr>
          <p:nvPr>
            <p:ph idx="1"/>
          </p:nvPr>
        </p:nvSpPr>
        <p:spPr/>
        <p:txBody>
          <a:bodyPr>
            <a:normAutofit/>
          </a:bodyPr>
          <a:lstStyle/>
          <a:p>
            <a:r>
              <a:rPr lang="en-US" dirty="0"/>
              <a:t>Healthcare Organizations</a:t>
            </a:r>
          </a:p>
          <a:p>
            <a:pPr marL="0" indent="0" algn="just">
              <a:buNone/>
            </a:pPr>
            <a:r>
              <a:rPr lang="en-US" dirty="0"/>
              <a:t>Docker packages patient data processing applications, ensuring compliance with strict regulatory standards by maintaining a consistent and secure environment across development and production. Kubernetes orchestration allows these applications to scale in response to fluctuating data processing loads.</a:t>
            </a:r>
          </a:p>
          <a:p>
            <a:endParaRPr lang="en-US" dirty="0"/>
          </a:p>
        </p:txBody>
      </p:sp>
    </p:spTree>
    <p:extLst>
      <p:ext uri="{BB962C8B-B14F-4D97-AF65-F5344CB8AC3E}">
        <p14:creationId xmlns:p14="http://schemas.microsoft.com/office/powerpoint/2010/main" val="42748532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E840F-FFB5-0A04-7077-E560DC9A97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A58316-FF71-E31E-BD40-14D728A9B265}"/>
              </a:ext>
            </a:extLst>
          </p:cNvPr>
          <p:cNvSpPr>
            <a:spLocks noGrp="1"/>
          </p:cNvSpPr>
          <p:nvPr>
            <p:ph idx="1"/>
          </p:nvPr>
        </p:nvSpPr>
        <p:spPr/>
        <p:txBody>
          <a:bodyPr/>
          <a:lstStyle/>
          <a:p>
            <a:r>
              <a:rPr lang="en-US" dirty="0"/>
              <a:t>Technology Industry</a:t>
            </a:r>
          </a:p>
          <a:p>
            <a:pPr marL="0" indent="0" algn="just">
              <a:buNone/>
            </a:pPr>
            <a:r>
              <a:rPr lang="en-US" dirty="0"/>
              <a:t>Technology companies use Docker and Kubernetes to host CI/CD pipelines to automate the build, test, and deployment processes. Kubernetes' self-healing and rollback capabilities ensure that the deployment process is efficient and resilient, minimizing downtime and speeding up development cycles.</a:t>
            </a:r>
          </a:p>
          <a:p>
            <a:endParaRPr lang="en-US" dirty="0"/>
          </a:p>
        </p:txBody>
      </p:sp>
    </p:spTree>
    <p:extLst>
      <p:ext uri="{BB962C8B-B14F-4D97-AF65-F5344CB8AC3E}">
        <p14:creationId xmlns:p14="http://schemas.microsoft.com/office/powerpoint/2010/main" val="32756349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B60D-E291-7C31-E5D1-73C622BEF8DD}"/>
              </a:ext>
            </a:extLst>
          </p:cNvPr>
          <p:cNvSpPr>
            <a:spLocks noGrp="1"/>
          </p:cNvSpPr>
          <p:nvPr>
            <p:ph type="title"/>
          </p:nvPr>
        </p:nvSpPr>
        <p:spPr/>
        <p:txBody>
          <a:bodyPr/>
          <a:lstStyle/>
          <a:p>
            <a:r>
              <a:rPr lang="en-US" b="1" dirty="0"/>
              <a:t>Load balancing in Cloud Computing</a:t>
            </a:r>
            <a:br>
              <a:rPr lang="en-US" b="1" dirty="0"/>
            </a:br>
            <a:endParaRPr lang="en-US" dirty="0"/>
          </a:p>
        </p:txBody>
      </p:sp>
      <p:sp>
        <p:nvSpPr>
          <p:cNvPr id="3" name="Content Placeholder 2">
            <a:extLst>
              <a:ext uri="{FF2B5EF4-FFF2-40B4-BE49-F238E27FC236}">
                <a16:creationId xmlns:a16="http://schemas.microsoft.com/office/drawing/2014/main" id="{957D53C4-F9F2-8C48-1D1F-D983D1EB1A68}"/>
              </a:ext>
            </a:extLst>
          </p:cNvPr>
          <p:cNvSpPr>
            <a:spLocks noGrp="1"/>
          </p:cNvSpPr>
          <p:nvPr>
            <p:ph idx="1"/>
          </p:nvPr>
        </p:nvSpPr>
        <p:spPr/>
        <p:txBody>
          <a:bodyPr/>
          <a:lstStyle/>
          <a:p>
            <a:pPr algn="just"/>
            <a:r>
              <a:rPr lang="en-US" dirty="0"/>
              <a:t>Cloud load balancing is the method of distributing workloads and computing properties across multiple resources (such as servers, virtual machines, or containers). </a:t>
            </a:r>
          </a:p>
          <a:p>
            <a:pPr algn="just"/>
            <a:r>
              <a:rPr lang="en-US" dirty="0"/>
              <a:t>As internet traffic continues to grow rapidly (historically doubling annually), managing workload demands is critical. </a:t>
            </a:r>
          </a:p>
          <a:p>
            <a:pPr algn="just"/>
            <a:r>
              <a:rPr lang="en-US" dirty="0"/>
              <a:t>Load balancing ensures no single resource is overburdened, improving overall performance, availability, and scalability.</a:t>
            </a:r>
          </a:p>
        </p:txBody>
      </p:sp>
    </p:spTree>
    <p:extLst>
      <p:ext uri="{BB962C8B-B14F-4D97-AF65-F5344CB8AC3E}">
        <p14:creationId xmlns:p14="http://schemas.microsoft.com/office/powerpoint/2010/main" val="26822943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C216B-EF8E-1150-162F-9FEE9A7371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46B6B4-7BB3-F209-1ACB-CD73E4A7A8F3}"/>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138CABF-5238-76E5-E8E2-DF1E1BDF3A96}"/>
              </a:ext>
            </a:extLst>
          </p:cNvPr>
          <p:cNvPicPr>
            <a:picLocks noChangeAspect="1"/>
          </p:cNvPicPr>
          <p:nvPr/>
        </p:nvPicPr>
        <p:blipFill>
          <a:blip r:embed="rId2"/>
          <a:stretch>
            <a:fillRect/>
          </a:stretch>
        </p:blipFill>
        <p:spPr>
          <a:xfrm>
            <a:off x="1437625" y="1028365"/>
            <a:ext cx="9316750" cy="4801270"/>
          </a:xfrm>
          <a:prstGeom prst="rect">
            <a:avLst/>
          </a:prstGeom>
        </p:spPr>
      </p:pic>
    </p:spTree>
    <p:extLst>
      <p:ext uri="{BB962C8B-B14F-4D97-AF65-F5344CB8AC3E}">
        <p14:creationId xmlns:p14="http://schemas.microsoft.com/office/powerpoint/2010/main" val="358915448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35CE8-617C-3943-B76D-63D8E20EF880}"/>
              </a:ext>
            </a:extLst>
          </p:cNvPr>
          <p:cNvSpPr>
            <a:spLocks noGrp="1"/>
          </p:cNvSpPr>
          <p:nvPr>
            <p:ph type="title"/>
          </p:nvPr>
        </p:nvSpPr>
        <p:spPr/>
        <p:txBody>
          <a:bodyPr/>
          <a:lstStyle/>
          <a:p>
            <a:r>
              <a:rPr lang="en-US" b="1" dirty="0"/>
              <a:t>The Server Overload Problem and Solutions</a:t>
            </a:r>
            <a:br>
              <a:rPr lang="en-US" b="1" dirty="0"/>
            </a:br>
            <a:endParaRPr lang="en-US" dirty="0"/>
          </a:p>
        </p:txBody>
      </p:sp>
      <p:sp>
        <p:nvSpPr>
          <p:cNvPr id="3" name="Content Placeholder 2">
            <a:extLst>
              <a:ext uri="{FF2B5EF4-FFF2-40B4-BE49-F238E27FC236}">
                <a16:creationId xmlns:a16="http://schemas.microsoft.com/office/drawing/2014/main" id="{9895D8E1-0802-4CB3-CFBB-14D2C7090500}"/>
              </a:ext>
            </a:extLst>
          </p:cNvPr>
          <p:cNvSpPr>
            <a:spLocks noGrp="1"/>
          </p:cNvSpPr>
          <p:nvPr>
            <p:ph idx="1"/>
          </p:nvPr>
        </p:nvSpPr>
        <p:spPr/>
        <p:txBody>
          <a:bodyPr>
            <a:normAutofit lnSpcReduction="10000"/>
          </a:bodyPr>
          <a:lstStyle/>
          <a:p>
            <a:pPr marL="0" indent="0" algn="just" fontAlgn="base">
              <a:buNone/>
            </a:pPr>
            <a:r>
              <a:rPr lang="en-US" dirty="0"/>
              <a:t>When web traffic spikes, servers can easily become overloaded. There are two primary ways to solve this:</a:t>
            </a:r>
          </a:p>
          <a:p>
            <a:pPr marL="514350" indent="-514350" algn="just" fontAlgn="base">
              <a:buAutoNum type="arabicPeriod"/>
            </a:pPr>
            <a:r>
              <a:rPr lang="en-US" b="1" dirty="0"/>
              <a:t>Single-Server Solution (Vertical Scaling/Upgrading):</a:t>
            </a:r>
            <a:r>
              <a:rPr lang="en-US" dirty="0"/>
              <a:t> Upgrading the existing server to a higher-performance machine.</a:t>
            </a:r>
          </a:p>
          <a:p>
            <a:pPr algn="just" fontAlgn="base"/>
            <a:r>
              <a:rPr lang="en-US" dirty="0"/>
              <a:t>Drawback: Expensive and the new server may also eventually overload.</a:t>
            </a:r>
          </a:p>
          <a:p>
            <a:pPr marL="0" indent="0" fontAlgn="base">
              <a:buNone/>
            </a:pPr>
            <a:r>
              <a:rPr lang="en-US" b="1" dirty="0"/>
              <a:t>2. Multiple-Server Solution (Horizontal Scaling/Clustering):</a:t>
            </a:r>
            <a:r>
              <a:rPr lang="en-US" dirty="0"/>
              <a:t> Building a scalable service system across a cluster of servers and distributing the traffic.</a:t>
            </a:r>
          </a:p>
          <a:p>
            <a:pPr fontAlgn="base"/>
            <a:r>
              <a:rPr lang="en-US" dirty="0"/>
              <a:t>Advantage: Highly cost-effective and much more scalable.</a:t>
            </a:r>
          </a:p>
          <a:p>
            <a:pPr marL="0" indent="0" algn="just" fontAlgn="base">
              <a:buNone/>
            </a:pPr>
            <a:endParaRPr lang="en-US" dirty="0"/>
          </a:p>
          <a:p>
            <a:endParaRPr lang="en-US" dirty="0"/>
          </a:p>
        </p:txBody>
      </p:sp>
    </p:spTree>
    <p:extLst>
      <p:ext uri="{BB962C8B-B14F-4D97-AF65-F5344CB8AC3E}">
        <p14:creationId xmlns:p14="http://schemas.microsoft.com/office/powerpoint/2010/main" val="25039000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9CE4E-5163-61B2-5C4F-18646FC82491}"/>
              </a:ext>
            </a:extLst>
          </p:cNvPr>
          <p:cNvSpPr>
            <a:spLocks noGrp="1"/>
          </p:cNvSpPr>
          <p:nvPr>
            <p:ph type="title"/>
          </p:nvPr>
        </p:nvSpPr>
        <p:spPr/>
        <p:txBody>
          <a:bodyPr/>
          <a:lstStyle/>
          <a:p>
            <a:r>
              <a:rPr lang="en-US" dirty="0"/>
              <a:t>Load Balancing</a:t>
            </a:r>
          </a:p>
        </p:txBody>
      </p:sp>
      <p:sp>
        <p:nvSpPr>
          <p:cNvPr id="3" name="Content Placeholder 2">
            <a:extLst>
              <a:ext uri="{FF2B5EF4-FFF2-40B4-BE49-F238E27FC236}">
                <a16:creationId xmlns:a16="http://schemas.microsoft.com/office/drawing/2014/main" id="{10747A0D-FA35-190F-6829-05394C178D0B}"/>
              </a:ext>
            </a:extLst>
          </p:cNvPr>
          <p:cNvSpPr>
            <a:spLocks noGrp="1"/>
          </p:cNvSpPr>
          <p:nvPr>
            <p:ph idx="1"/>
          </p:nvPr>
        </p:nvSpPr>
        <p:spPr/>
        <p:txBody>
          <a:bodyPr/>
          <a:lstStyle/>
          <a:p>
            <a:pPr algn="just"/>
            <a:r>
              <a:rPr lang="en-US" dirty="0"/>
              <a:t>Load balancing is the method of distributing network traffic equally across a pool of resources that support an application. </a:t>
            </a:r>
          </a:p>
          <a:p>
            <a:pPr algn="just"/>
            <a:r>
              <a:rPr lang="en-US" dirty="0"/>
              <a:t>Modern applications must process millions of users simultaneously and return the correct text, videos, images, and other data to each user in a fast and reliable manner. </a:t>
            </a:r>
          </a:p>
          <a:p>
            <a:pPr algn="just"/>
            <a:r>
              <a:rPr lang="en-US" dirty="0"/>
              <a:t>To handle such high volumes of traffic, most applications have many resource servers with duplicate data between them. </a:t>
            </a:r>
          </a:p>
          <a:p>
            <a:pPr algn="just"/>
            <a:r>
              <a:rPr lang="en-US" dirty="0"/>
              <a:t>A load balancer is a device that sits between the user and the server group and acts as an invisible facilitator, ensuring that all resource servers are used equally.</a:t>
            </a:r>
          </a:p>
        </p:txBody>
      </p:sp>
    </p:spTree>
    <p:extLst>
      <p:ext uri="{BB962C8B-B14F-4D97-AF65-F5344CB8AC3E}">
        <p14:creationId xmlns:p14="http://schemas.microsoft.com/office/powerpoint/2010/main" val="383121721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DE58-EF60-90FB-4057-EC780B89C2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930D1E-B2B8-53BF-A8D4-AE3BFA4FEBF8}"/>
              </a:ext>
            </a:extLst>
          </p:cNvPr>
          <p:cNvSpPr>
            <a:spLocks noGrp="1"/>
          </p:cNvSpPr>
          <p:nvPr>
            <p:ph idx="1"/>
          </p:nvPr>
        </p:nvSpPr>
        <p:spPr/>
        <p:txBody>
          <a:bodyPr>
            <a:normAutofit fontScale="92500"/>
          </a:bodyPr>
          <a:lstStyle/>
          <a:p>
            <a:pPr marL="0" indent="0">
              <a:buNone/>
            </a:pPr>
            <a:r>
              <a:rPr lang="en-US" b="1" dirty="0"/>
              <a:t>Application security</a:t>
            </a:r>
          </a:p>
          <a:p>
            <a:pPr algn="just"/>
            <a:r>
              <a:rPr lang="en-US" dirty="0"/>
              <a:t>Load balancers come with built-in security features to add another layer of security to your internet applications. They are a useful tool to deal with distributed denial of service attacks, in which attackers flood an application server with millions of concurrent requests that cause server failure. Load balancers can also do the following:</a:t>
            </a:r>
          </a:p>
          <a:p>
            <a:pPr algn="just"/>
            <a:r>
              <a:rPr lang="en-US" dirty="0"/>
              <a:t>Monitor traffic and block malicious content</a:t>
            </a:r>
          </a:p>
          <a:p>
            <a:pPr algn="just"/>
            <a:r>
              <a:rPr lang="en-US" dirty="0"/>
              <a:t>Automatically redirect attack traffic to multiple backend servers to minimize impact</a:t>
            </a:r>
          </a:p>
          <a:p>
            <a:pPr algn="just"/>
            <a:r>
              <a:rPr lang="en-US" dirty="0"/>
              <a:t>Route traffic through a group of network firewalls for additional security</a:t>
            </a:r>
          </a:p>
          <a:p>
            <a:endParaRPr lang="en-US" dirty="0"/>
          </a:p>
        </p:txBody>
      </p:sp>
    </p:spTree>
    <p:extLst>
      <p:ext uri="{BB962C8B-B14F-4D97-AF65-F5344CB8AC3E}">
        <p14:creationId xmlns:p14="http://schemas.microsoft.com/office/powerpoint/2010/main" val="26078682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97939-A10C-FB5B-786D-2A465F0BDA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8A9C3D-D881-E473-8013-7FF59467422D}"/>
              </a:ext>
            </a:extLst>
          </p:cNvPr>
          <p:cNvSpPr>
            <a:spLocks noGrp="1"/>
          </p:cNvSpPr>
          <p:nvPr>
            <p:ph idx="1"/>
          </p:nvPr>
        </p:nvSpPr>
        <p:spPr/>
        <p:txBody>
          <a:bodyPr>
            <a:normAutofit lnSpcReduction="10000"/>
          </a:bodyPr>
          <a:lstStyle/>
          <a:p>
            <a:pPr marL="0" indent="0">
              <a:buNone/>
            </a:pPr>
            <a:r>
              <a:rPr lang="en-US" b="1" dirty="0"/>
              <a:t>Application performance</a:t>
            </a:r>
          </a:p>
          <a:p>
            <a:pPr algn="just"/>
            <a:r>
              <a:rPr lang="en-US" dirty="0"/>
              <a:t>Load balancers improve application performance by increasing response time and reducing network latency. They perform several critical tasks such as the following:</a:t>
            </a:r>
          </a:p>
          <a:p>
            <a:pPr algn="just"/>
            <a:r>
              <a:rPr lang="en-US" dirty="0"/>
              <a:t>Distribute the load evenly between servers to improve application performance</a:t>
            </a:r>
          </a:p>
          <a:p>
            <a:pPr algn="just"/>
            <a:r>
              <a:rPr lang="en-US" dirty="0"/>
              <a:t>Redirect client requests to a geographically closer server to reduce latency</a:t>
            </a:r>
          </a:p>
          <a:p>
            <a:pPr algn="just"/>
            <a:r>
              <a:rPr lang="en-US" dirty="0"/>
              <a:t>Ensure the reliability and performance of physical and virtual computing resources</a:t>
            </a:r>
          </a:p>
          <a:p>
            <a:endParaRPr lang="en-US" dirty="0"/>
          </a:p>
        </p:txBody>
      </p:sp>
    </p:spTree>
    <p:extLst>
      <p:ext uri="{BB962C8B-B14F-4D97-AF65-F5344CB8AC3E}">
        <p14:creationId xmlns:p14="http://schemas.microsoft.com/office/powerpoint/2010/main" val="13176367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7AEDC-0881-E37C-6803-4559F1482F61}"/>
              </a:ext>
            </a:extLst>
          </p:cNvPr>
          <p:cNvSpPr>
            <a:spLocks noGrp="1"/>
          </p:cNvSpPr>
          <p:nvPr>
            <p:ph type="title"/>
          </p:nvPr>
        </p:nvSpPr>
        <p:spPr/>
        <p:txBody>
          <a:bodyPr/>
          <a:lstStyle/>
          <a:p>
            <a:r>
              <a:rPr lang="en-US" dirty="0"/>
              <a:t>What are load balancing algorithms?</a:t>
            </a:r>
            <a:br>
              <a:rPr lang="en-US" dirty="0"/>
            </a:br>
            <a:endParaRPr lang="en-US" dirty="0"/>
          </a:p>
        </p:txBody>
      </p:sp>
      <p:sp>
        <p:nvSpPr>
          <p:cNvPr id="3" name="Content Placeholder 2">
            <a:extLst>
              <a:ext uri="{FF2B5EF4-FFF2-40B4-BE49-F238E27FC236}">
                <a16:creationId xmlns:a16="http://schemas.microsoft.com/office/drawing/2014/main" id="{0A27B9D3-7BC3-4487-46DF-89A87DA4FE98}"/>
              </a:ext>
            </a:extLst>
          </p:cNvPr>
          <p:cNvSpPr>
            <a:spLocks noGrp="1"/>
          </p:cNvSpPr>
          <p:nvPr>
            <p:ph idx="1"/>
          </p:nvPr>
        </p:nvSpPr>
        <p:spPr/>
        <p:txBody>
          <a:bodyPr/>
          <a:lstStyle/>
          <a:p>
            <a:pPr algn="just"/>
            <a:r>
              <a:rPr lang="en-US" dirty="0"/>
              <a:t>A load balancing algorithm is the set of rules that a load balancer follows to determine the best server for each of the different client requests. Load balancing algorithms fall into two main categories.</a:t>
            </a:r>
          </a:p>
          <a:p>
            <a:r>
              <a:rPr lang="en-US" b="1" dirty="0"/>
              <a:t>Static load balancing</a:t>
            </a:r>
          </a:p>
          <a:p>
            <a:pPr marL="0" indent="0">
              <a:buNone/>
            </a:pPr>
            <a:r>
              <a:rPr lang="en-US" dirty="0"/>
              <a:t>	Static load balancing algorithms follow fixed rules and are 	independent of the current server state. </a:t>
            </a:r>
            <a:endParaRPr lang="en-US" b="1" dirty="0"/>
          </a:p>
          <a:p>
            <a:r>
              <a:rPr lang="en-US" b="1" dirty="0"/>
              <a:t>Dynamic load balancing</a:t>
            </a:r>
          </a:p>
          <a:p>
            <a:pPr marL="0" indent="0">
              <a:buNone/>
            </a:pPr>
            <a:r>
              <a:rPr lang="en-US" dirty="0"/>
              <a:t>	Dynamic load balancing algorithms examine the current state of 	the servers before distributing traffic</a:t>
            </a:r>
          </a:p>
        </p:txBody>
      </p:sp>
    </p:spTree>
    <p:extLst>
      <p:ext uri="{BB962C8B-B14F-4D97-AF65-F5344CB8AC3E}">
        <p14:creationId xmlns:p14="http://schemas.microsoft.com/office/powerpoint/2010/main" val="19902006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F90ED-D6DC-88F0-A85B-4B65CEFB7099}"/>
              </a:ext>
            </a:extLst>
          </p:cNvPr>
          <p:cNvSpPr>
            <a:spLocks noGrp="1"/>
          </p:cNvSpPr>
          <p:nvPr>
            <p:ph type="title"/>
          </p:nvPr>
        </p:nvSpPr>
        <p:spPr/>
        <p:txBody>
          <a:bodyPr/>
          <a:lstStyle/>
          <a:p>
            <a:r>
              <a:rPr lang="en-US" b="1" dirty="0"/>
              <a:t>Static load balancing</a:t>
            </a:r>
            <a:br>
              <a:rPr lang="en-US" b="1" dirty="0"/>
            </a:br>
            <a:endParaRPr lang="en-US" dirty="0"/>
          </a:p>
        </p:txBody>
      </p:sp>
      <p:sp>
        <p:nvSpPr>
          <p:cNvPr id="3" name="Content Placeholder 2">
            <a:extLst>
              <a:ext uri="{FF2B5EF4-FFF2-40B4-BE49-F238E27FC236}">
                <a16:creationId xmlns:a16="http://schemas.microsoft.com/office/drawing/2014/main" id="{E809EDA0-5D0E-3446-7AD3-FAD11DFB67D9}"/>
              </a:ext>
            </a:extLst>
          </p:cNvPr>
          <p:cNvSpPr>
            <a:spLocks noGrp="1"/>
          </p:cNvSpPr>
          <p:nvPr>
            <p:ph idx="1"/>
          </p:nvPr>
        </p:nvSpPr>
        <p:spPr/>
        <p:txBody>
          <a:bodyPr/>
          <a:lstStyle/>
          <a:p>
            <a:r>
              <a:rPr lang="en-US" dirty="0"/>
              <a:t>The following are examples of static load balancing.</a:t>
            </a:r>
          </a:p>
          <a:p>
            <a:pPr lvl="1"/>
            <a:r>
              <a:rPr lang="en-US" b="1" i="1" dirty="0"/>
              <a:t>Round-robin method</a:t>
            </a:r>
            <a:endParaRPr lang="en-US" b="1" dirty="0"/>
          </a:p>
          <a:p>
            <a:pPr lvl="1"/>
            <a:r>
              <a:rPr lang="en-US" b="1" i="1" dirty="0"/>
              <a:t>Weighted round-robin method</a:t>
            </a:r>
            <a:endParaRPr lang="en-US" b="1" dirty="0"/>
          </a:p>
          <a:p>
            <a:pPr lvl="1"/>
            <a:r>
              <a:rPr lang="en-US" b="1" i="1" dirty="0"/>
              <a:t>IP hash method</a:t>
            </a:r>
            <a:endParaRPr lang="en-US" b="1" dirty="0"/>
          </a:p>
          <a:p>
            <a:pPr lvl="1"/>
            <a:endParaRPr lang="en-US" dirty="0"/>
          </a:p>
        </p:txBody>
      </p:sp>
    </p:spTree>
    <p:extLst>
      <p:ext uri="{BB962C8B-B14F-4D97-AF65-F5344CB8AC3E}">
        <p14:creationId xmlns:p14="http://schemas.microsoft.com/office/powerpoint/2010/main" val="15237701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CAFE0-D977-6436-BA75-2E6C4F0CDB1D}"/>
              </a:ext>
            </a:extLst>
          </p:cNvPr>
          <p:cNvSpPr>
            <a:spLocks noGrp="1"/>
          </p:cNvSpPr>
          <p:nvPr>
            <p:ph type="title"/>
          </p:nvPr>
        </p:nvSpPr>
        <p:spPr/>
        <p:txBody>
          <a:bodyPr/>
          <a:lstStyle/>
          <a:p>
            <a:r>
              <a:rPr lang="en-US" b="1" i="1" dirty="0"/>
              <a:t>Round-robin method</a:t>
            </a:r>
            <a:br>
              <a:rPr lang="en-US" b="1" dirty="0"/>
            </a:br>
            <a:endParaRPr lang="en-US" dirty="0"/>
          </a:p>
        </p:txBody>
      </p:sp>
      <p:sp>
        <p:nvSpPr>
          <p:cNvPr id="3" name="Content Placeholder 2">
            <a:extLst>
              <a:ext uri="{FF2B5EF4-FFF2-40B4-BE49-F238E27FC236}">
                <a16:creationId xmlns:a16="http://schemas.microsoft.com/office/drawing/2014/main" id="{5CCA1A21-FCED-8EE0-1176-19794ADF3FFF}"/>
              </a:ext>
            </a:extLst>
          </p:cNvPr>
          <p:cNvSpPr>
            <a:spLocks noGrp="1"/>
          </p:cNvSpPr>
          <p:nvPr>
            <p:ph idx="1"/>
          </p:nvPr>
        </p:nvSpPr>
        <p:spPr/>
        <p:txBody>
          <a:bodyPr>
            <a:normAutofit/>
          </a:bodyPr>
          <a:lstStyle/>
          <a:p>
            <a:pPr algn="just"/>
            <a:r>
              <a:rPr lang="en-US" dirty="0"/>
              <a:t>Servers have IP addresses that tell the client where to send requests. The IP address is a long number that is difficult to remember. To make it easy, a Domain Name System maps website names to servers. When you enter </a:t>
            </a:r>
            <a:r>
              <a:rPr lang="en-US" dirty="0">
                <a:hlinkClick r:id="rId2"/>
              </a:rPr>
              <a:t>aws.amazon.com</a:t>
            </a:r>
            <a:r>
              <a:rPr lang="en-US" dirty="0"/>
              <a:t> into your browser, the request first goes to our name server, which returns our IP address to your browser.</a:t>
            </a:r>
          </a:p>
          <a:p>
            <a:pPr algn="just"/>
            <a:r>
              <a:rPr lang="en-US" dirty="0"/>
              <a:t>In the round-robin method, an authoritative name server does the load balancing instead of specialized hardware or software. The name server returns the IP addresses of different servers in the server farm turn by turn or in a round-robin fashion.</a:t>
            </a:r>
          </a:p>
          <a:p>
            <a:endParaRPr lang="en-US" dirty="0"/>
          </a:p>
        </p:txBody>
      </p:sp>
    </p:spTree>
    <p:extLst>
      <p:ext uri="{BB962C8B-B14F-4D97-AF65-F5344CB8AC3E}">
        <p14:creationId xmlns:p14="http://schemas.microsoft.com/office/powerpoint/2010/main" val="3515520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5AD9-0CB5-2A28-EF4A-0FEF7ACA42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10A4E8-F800-2E40-1848-23596934514D}"/>
              </a:ext>
            </a:extLst>
          </p:cNvPr>
          <p:cNvSpPr>
            <a:spLocks noGrp="1"/>
          </p:cNvSpPr>
          <p:nvPr>
            <p:ph idx="1"/>
          </p:nvPr>
        </p:nvSpPr>
        <p:spPr/>
        <p:txBody>
          <a:bodyPr/>
          <a:lstStyle/>
          <a:p>
            <a:r>
              <a:rPr lang="en-US" b="1" i="1" dirty="0"/>
              <a:t>Weighted round-robin method</a:t>
            </a:r>
            <a:endParaRPr lang="en-US" b="1" dirty="0"/>
          </a:p>
          <a:p>
            <a:pPr marL="457200" lvl="1" indent="0">
              <a:buNone/>
            </a:pPr>
            <a:r>
              <a:rPr lang="en-US" sz="2800" dirty="0"/>
              <a:t>In weighted round-robin load balancing, you can assign different weights to each server based on their priority or capacity. Servers with higher weights will receive more incoming application traffic from the name server.</a:t>
            </a:r>
          </a:p>
          <a:p>
            <a:r>
              <a:rPr lang="en-US" b="1" i="1" dirty="0"/>
              <a:t>IP hash method</a:t>
            </a:r>
            <a:endParaRPr lang="en-US" b="1" dirty="0"/>
          </a:p>
          <a:p>
            <a:pPr marL="457200" lvl="1" indent="0">
              <a:buNone/>
            </a:pPr>
            <a:r>
              <a:rPr lang="en-US" sz="2800" dirty="0"/>
              <a:t>In the IP hash method, the load balancer performs a mathematical computation, called hashing, on the client IP address. It converts the client IP address to a number, which is then mapped to individual servers.</a:t>
            </a:r>
          </a:p>
          <a:p>
            <a:endParaRPr lang="en-US" dirty="0"/>
          </a:p>
        </p:txBody>
      </p:sp>
    </p:spTree>
    <p:extLst>
      <p:ext uri="{BB962C8B-B14F-4D97-AF65-F5344CB8AC3E}">
        <p14:creationId xmlns:p14="http://schemas.microsoft.com/office/powerpoint/2010/main" val="1369763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D0638-7F73-FF9D-CDD4-10B3F60386CE}"/>
              </a:ext>
            </a:extLst>
          </p:cNvPr>
          <p:cNvSpPr>
            <a:spLocks noGrp="1"/>
          </p:cNvSpPr>
          <p:nvPr>
            <p:ph type="title"/>
          </p:nvPr>
        </p:nvSpPr>
        <p:spPr/>
        <p:txBody>
          <a:bodyPr/>
          <a:lstStyle/>
          <a:p>
            <a:r>
              <a:rPr lang="en-US" b="1" dirty="0"/>
              <a:t>Dynamic load balancing </a:t>
            </a:r>
            <a:br>
              <a:rPr lang="en-US" b="1" dirty="0"/>
            </a:br>
            <a:endParaRPr lang="en-US" dirty="0"/>
          </a:p>
        </p:txBody>
      </p:sp>
      <p:sp>
        <p:nvSpPr>
          <p:cNvPr id="3" name="Content Placeholder 2">
            <a:extLst>
              <a:ext uri="{FF2B5EF4-FFF2-40B4-BE49-F238E27FC236}">
                <a16:creationId xmlns:a16="http://schemas.microsoft.com/office/drawing/2014/main" id="{94D16AFF-58E4-6748-2010-6BD1B36C0D1D}"/>
              </a:ext>
            </a:extLst>
          </p:cNvPr>
          <p:cNvSpPr>
            <a:spLocks noGrp="1"/>
          </p:cNvSpPr>
          <p:nvPr>
            <p:ph idx="1"/>
          </p:nvPr>
        </p:nvSpPr>
        <p:spPr/>
        <p:txBody>
          <a:bodyPr/>
          <a:lstStyle/>
          <a:p>
            <a:r>
              <a:rPr lang="en-US" dirty="0"/>
              <a:t>The following are some examples of dynamic load balancing algorithms.</a:t>
            </a:r>
          </a:p>
          <a:p>
            <a:pPr lvl="1"/>
            <a:r>
              <a:rPr lang="en-US" b="1" i="1" dirty="0"/>
              <a:t>Least connection method</a:t>
            </a:r>
            <a:endParaRPr lang="en-US" b="1" dirty="0"/>
          </a:p>
          <a:p>
            <a:pPr lvl="1"/>
            <a:r>
              <a:rPr lang="en-US" b="1" i="1" dirty="0"/>
              <a:t>Weighted least connection method</a:t>
            </a:r>
            <a:endParaRPr lang="en-US" b="1" dirty="0"/>
          </a:p>
          <a:p>
            <a:pPr lvl="1"/>
            <a:r>
              <a:rPr lang="en-US" b="1" i="1" dirty="0"/>
              <a:t>Least response time method</a:t>
            </a:r>
            <a:endParaRPr lang="en-US" b="1" dirty="0"/>
          </a:p>
          <a:p>
            <a:pPr lvl="1"/>
            <a:r>
              <a:rPr lang="en-US" b="1" i="1" dirty="0"/>
              <a:t>Resource-based method</a:t>
            </a:r>
            <a:endParaRPr lang="en-US" b="1" dirty="0"/>
          </a:p>
          <a:p>
            <a:pPr lvl="1"/>
            <a:endParaRPr lang="en-US" dirty="0"/>
          </a:p>
          <a:p>
            <a:endParaRPr lang="en-US" dirty="0"/>
          </a:p>
        </p:txBody>
      </p:sp>
    </p:spTree>
    <p:extLst>
      <p:ext uri="{BB962C8B-B14F-4D97-AF65-F5344CB8AC3E}">
        <p14:creationId xmlns:p14="http://schemas.microsoft.com/office/powerpoint/2010/main" val="35919592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70243-F273-A018-A7B6-11CB4CF068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A08B6C-50CE-6635-061A-1CEFDE28D4AE}"/>
              </a:ext>
            </a:extLst>
          </p:cNvPr>
          <p:cNvSpPr>
            <a:spLocks noGrp="1"/>
          </p:cNvSpPr>
          <p:nvPr>
            <p:ph idx="1"/>
          </p:nvPr>
        </p:nvSpPr>
        <p:spPr/>
        <p:txBody>
          <a:bodyPr>
            <a:normAutofit fontScale="85000" lnSpcReduction="10000"/>
          </a:bodyPr>
          <a:lstStyle/>
          <a:p>
            <a:r>
              <a:rPr lang="en-US" b="1" i="1" dirty="0"/>
              <a:t>Least connection method</a:t>
            </a:r>
            <a:endParaRPr lang="en-US" b="1" dirty="0"/>
          </a:p>
          <a:p>
            <a:pPr algn="just"/>
            <a:r>
              <a:rPr lang="en-US" dirty="0"/>
              <a:t>A connection is an open communication channel between a client and a server. When the client sends the first request to the server, they authenticate and establish an active connection between each other. In the least connection method, the load balancer checks which servers have the fewest active connections and sends traffic to those servers. This method assumes that all connections require equal processing power for all servers.</a:t>
            </a:r>
          </a:p>
          <a:p>
            <a:pPr algn="just"/>
            <a:r>
              <a:rPr lang="en-US" b="1" i="1" dirty="0"/>
              <a:t>Weighted least connection method</a:t>
            </a:r>
            <a:endParaRPr lang="en-US" b="1" dirty="0"/>
          </a:p>
          <a:p>
            <a:pPr algn="just"/>
            <a:r>
              <a:rPr lang="en-US" dirty="0"/>
              <a:t>Weighted least connection algorithms assume that some servers can handle more active connections than others. Therefore, you can assign different weights or capacities to each server, and the load balancer sends the new client requests to the server with the least connections by capacity.</a:t>
            </a:r>
          </a:p>
          <a:p>
            <a:endParaRPr lang="en-US" dirty="0"/>
          </a:p>
        </p:txBody>
      </p:sp>
    </p:spTree>
    <p:extLst>
      <p:ext uri="{BB962C8B-B14F-4D97-AF65-F5344CB8AC3E}">
        <p14:creationId xmlns:p14="http://schemas.microsoft.com/office/powerpoint/2010/main" val="7983413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1B1C-6A3A-5439-56E7-FFB905EFD0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3C648C-3826-BFB2-EF9E-C54E03F6F47D}"/>
              </a:ext>
            </a:extLst>
          </p:cNvPr>
          <p:cNvSpPr>
            <a:spLocks noGrp="1"/>
          </p:cNvSpPr>
          <p:nvPr>
            <p:ph idx="1"/>
          </p:nvPr>
        </p:nvSpPr>
        <p:spPr/>
        <p:txBody>
          <a:bodyPr>
            <a:normAutofit fontScale="92500" lnSpcReduction="10000"/>
          </a:bodyPr>
          <a:lstStyle/>
          <a:p>
            <a:r>
              <a:rPr lang="en-US" b="1" i="1" dirty="0"/>
              <a:t>Least response time method</a:t>
            </a:r>
            <a:endParaRPr lang="en-US" b="1" dirty="0"/>
          </a:p>
          <a:p>
            <a:pPr algn="just"/>
            <a:r>
              <a:rPr lang="en-US" dirty="0"/>
              <a:t>The response time is the total time that the server takes to process the incoming requests and send a response. The least response time method combines the server response time and the active connections to determine the best server. Load balancers use this algorithm to ensure faster service for all users.</a:t>
            </a:r>
          </a:p>
          <a:p>
            <a:pPr algn="just"/>
            <a:r>
              <a:rPr lang="en-US" b="1" i="1" dirty="0"/>
              <a:t>Resource-based method</a:t>
            </a:r>
            <a:endParaRPr lang="en-US" b="1" dirty="0"/>
          </a:p>
          <a:p>
            <a:pPr algn="just"/>
            <a:r>
              <a:rPr lang="en-US" dirty="0"/>
              <a:t>In the resource-based method, load balancers distribute traffic by analyzing the current server load. Specialized software called an agent runs on each server and calculates usage of server resources, such as its computing capacity and memory. Then, the load balancer checks the agent for sufficient free resources before distributing traffic to that server.</a:t>
            </a:r>
          </a:p>
          <a:p>
            <a:endParaRPr lang="en-US" dirty="0"/>
          </a:p>
        </p:txBody>
      </p:sp>
    </p:spTree>
    <p:extLst>
      <p:ext uri="{BB962C8B-B14F-4D97-AF65-F5344CB8AC3E}">
        <p14:creationId xmlns:p14="http://schemas.microsoft.com/office/powerpoint/2010/main" val="3942525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EE08-6668-DC84-B8F5-7F7680250CBA}"/>
              </a:ext>
            </a:extLst>
          </p:cNvPr>
          <p:cNvSpPr>
            <a:spLocks noGrp="1"/>
          </p:cNvSpPr>
          <p:nvPr>
            <p:ph type="title"/>
          </p:nvPr>
        </p:nvSpPr>
        <p:spPr/>
        <p:txBody>
          <a:bodyPr/>
          <a:lstStyle/>
          <a:p>
            <a:r>
              <a:rPr lang="en-US" dirty="0"/>
              <a:t>How does load balancing work?</a:t>
            </a:r>
            <a:br>
              <a:rPr lang="en-US" dirty="0"/>
            </a:br>
            <a:endParaRPr lang="en-US" dirty="0"/>
          </a:p>
        </p:txBody>
      </p:sp>
      <p:sp>
        <p:nvSpPr>
          <p:cNvPr id="3" name="Content Placeholder 2">
            <a:extLst>
              <a:ext uri="{FF2B5EF4-FFF2-40B4-BE49-F238E27FC236}">
                <a16:creationId xmlns:a16="http://schemas.microsoft.com/office/drawing/2014/main" id="{134E8551-9FC5-C49C-76B8-D3CFBC15491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D5DAED5-488F-5626-07C8-1E147761DD0B}"/>
              </a:ext>
            </a:extLst>
          </p:cNvPr>
          <p:cNvPicPr>
            <a:picLocks noChangeAspect="1"/>
          </p:cNvPicPr>
          <p:nvPr/>
        </p:nvPicPr>
        <p:blipFill>
          <a:blip r:embed="rId2"/>
          <a:stretch>
            <a:fillRect/>
          </a:stretch>
        </p:blipFill>
        <p:spPr>
          <a:xfrm>
            <a:off x="984963" y="1150706"/>
            <a:ext cx="9617967" cy="5129582"/>
          </a:xfrm>
          <a:prstGeom prst="rect">
            <a:avLst/>
          </a:prstGeom>
        </p:spPr>
      </p:pic>
    </p:spTree>
    <p:extLst>
      <p:ext uri="{BB962C8B-B14F-4D97-AF65-F5344CB8AC3E}">
        <p14:creationId xmlns:p14="http://schemas.microsoft.com/office/powerpoint/2010/main" val="29606584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222D-9060-2767-3675-9DD1C1D380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BAB68A-C220-F01A-FBE8-ADB6BCAFE859}"/>
              </a:ext>
            </a:extLst>
          </p:cNvPr>
          <p:cNvSpPr>
            <a:spLocks noGrp="1"/>
          </p:cNvSpPr>
          <p:nvPr>
            <p:ph idx="1"/>
          </p:nvPr>
        </p:nvSpPr>
        <p:spPr/>
        <p:txBody>
          <a:bodyPr>
            <a:normAutofit fontScale="92500" lnSpcReduction="10000"/>
          </a:bodyPr>
          <a:lstStyle/>
          <a:p>
            <a:pPr algn="just"/>
            <a:r>
              <a:rPr lang="en-US" dirty="0"/>
              <a:t>Companies usually have their application running on multiple servers. Such a server arrangement is called a server farm. User requests to the application first go to the load balancer. The load balancer then routes each request to a single server in the server farm best suited to handle the request.</a:t>
            </a:r>
          </a:p>
          <a:p>
            <a:pPr algn="just"/>
            <a:r>
              <a:rPr lang="en-US" dirty="0"/>
              <a:t>Load balancing is like the work done by a manager in a restaurant. Consider a restaurant with five waiters. If customers were allowed to choose their waiters, one or two waiters could be overloaded with work while the others are idle. To avoid this scenario, the restaurant manager assigns customers to the specific waiters who are best suited to serve them.</a:t>
            </a:r>
          </a:p>
          <a:p>
            <a:pPr algn="just"/>
            <a:br>
              <a:rPr lang="en-US" dirty="0"/>
            </a:br>
            <a:endParaRPr lang="en-US" dirty="0"/>
          </a:p>
        </p:txBody>
      </p:sp>
    </p:spTree>
    <p:extLst>
      <p:ext uri="{BB962C8B-B14F-4D97-AF65-F5344CB8AC3E}">
        <p14:creationId xmlns:p14="http://schemas.microsoft.com/office/powerpoint/2010/main" val="39941212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9F202-B608-7DE0-B26E-E6406A317A5A}"/>
              </a:ext>
            </a:extLst>
          </p:cNvPr>
          <p:cNvSpPr>
            <a:spLocks noGrp="1"/>
          </p:cNvSpPr>
          <p:nvPr>
            <p:ph type="title"/>
          </p:nvPr>
        </p:nvSpPr>
        <p:spPr/>
        <p:txBody>
          <a:bodyPr/>
          <a:lstStyle/>
          <a:p>
            <a:r>
              <a:rPr lang="en-US" dirty="0"/>
              <a:t>What are the types of load balancing?</a:t>
            </a:r>
            <a:br>
              <a:rPr lang="en-US" dirty="0"/>
            </a:br>
            <a:endParaRPr lang="en-US" dirty="0"/>
          </a:p>
        </p:txBody>
      </p:sp>
      <p:sp>
        <p:nvSpPr>
          <p:cNvPr id="3" name="Content Placeholder 2">
            <a:extLst>
              <a:ext uri="{FF2B5EF4-FFF2-40B4-BE49-F238E27FC236}">
                <a16:creationId xmlns:a16="http://schemas.microsoft.com/office/drawing/2014/main" id="{4671FFDD-C25A-DBB3-02AC-FB2BF82814E9}"/>
              </a:ext>
            </a:extLst>
          </p:cNvPr>
          <p:cNvSpPr>
            <a:spLocks noGrp="1"/>
          </p:cNvSpPr>
          <p:nvPr>
            <p:ph idx="1"/>
          </p:nvPr>
        </p:nvSpPr>
        <p:spPr/>
        <p:txBody>
          <a:bodyPr/>
          <a:lstStyle/>
          <a:p>
            <a:r>
              <a:rPr lang="en-US" dirty="0"/>
              <a:t>We can classify load balancing into three main categories depending on what the load balancer checks in the client request to redirect the traffic.</a:t>
            </a:r>
          </a:p>
          <a:p>
            <a:pPr lvl="1"/>
            <a:r>
              <a:rPr lang="en-US" b="1" dirty="0"/>
              <a:t>Application load balancing</a:t>
            </a:r>
          </a:p>
          <a:p>
            <a:pPr lvl="1"/>
            <a:r>
              <a:rPr lang="en-US" b="1" dirty="0"/>
              <a:t>Network load balancing</a:t>
            </a:r>
          </a:p>
          <a:p>
            <a:pPr lvl="1"/>
            <a:r>
              <a:rPr lang="en-US" b="1" dirty="0"/>
              <a:t>Global Server load balancing</a:t>
            </a:r>
          </a:p>
          <a:p>
            <a:pPr lvl="1"/>
            <a:r>
              <a:rPr lang="en-US" b="1" dirty="0"/>
              <a:t>DNS load balancing</a:t>
            </a:r>
          </a:p>
          <a:p>
            <a:pPr lvl="1"/>
            <a:endParaRPr lang="en-US" b="1" dirty="0"/>
          </a:p>
          <a:p>
            <a:pPr lvl="1"/>
            <a:endParaRPr lang="en-US" b="1" dirty="0"/>
          </a:p>
          <a:p>
            <a:pPr lvl="1"/>
            <a:endParaRPr lang="en-US" dirty="0"/>
          </a:p>
        </p:txBody>
      </p:sp>
    </p:spTree>
    <p:extLst>
      <p:ext uri="{BB962C8B-B14F-4D97-AF65-F5344CB8AC3E}">
        <p14:creationId xmlns:p14="http://schemas.microsoft.com/office/powerpoint/2010/main" val="21890125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325D0-4ABB-EDD1-3D62-00C9E11DD950}"/>
              </a:ext>
            </a:extLst>
          </p:cNvPr>
          <p:cNvSpPr>
            <a:spLocks noGrp="1"/>
          </p:cNvSpPr>
          <p:nvPr>
            <p:ph type="title"/>
          </p:nvPr>
        </p:nvSpPr>
        <p:spPr/>
        <p:txBody>
          <a:bodyPr/>
          <a:lstStyle/>
          <a:p>
            <a:r>
              <a:rPr lang="en-US" b="1" dirty="0"/>
              <a:t>Application load balancing</a:t>
            </a:r>
            <a:br>
              <a:rPr lang="en-US" b="1" dirty="0"/>
            </a:br>
            <a:endParaRPr lang="en-US" dirty="0"/>
          </a:p>
        </p:txBody>
      </p:sp>
      <p:sp>
        <p:nvSpPr>
          <p:cNvPr id="3" name="Content Placeholder 2">
            <a:extLst>
              <a:ext uri="{FF2B5EF4-FFF2-40B4-BE49-F238E27FC236}">
                <a16:creationId xmlns:a16="http://schemas.microsoft.com/office/drawing/2014/main" id="{5D97E4DD-247D-5573-F21F-528F032A4089}"/>
              </a:ext>
            </a:extLst>
          </p:cNvPr>
          <p:cNvSpPr>
            <a:spLocks noGrp="1"/>
          </p:cNvSpPr>
          <p:nvPr>
            <p:ph idx="1"/>
          </p:nvPr>
        </p:nvSpPr>
        <p:spPr/>
        <p:txBody>
          <a:bodyPr>
            <a:normAutofit/>
          </a:bodyPr>
          <a:lstStyle/>
          <a:p>
            <a:pPr algn="just"/>
            <a:r>
              <a:rPr lang="en-US" dirty="0"/>
              <a:t>Complex modern applications have several server farms with multiple servers dedicated to a single application function. Application load balancers look at the request content, such as HTTP headers or SSL session IDs, to redirect traffic. </a:t>
            </a:r>
          </a:p>
          <a:p>
            <a:pPr algn="just"/>
            <a:r>
              <a:rPr lang="en-US" dirty="0"/>
              <a:t>For example, an ecommerce application has a product directory, shopping cart, and checkout functions. The application load balancer sends requests for browsing products to servers that contain images and videos but do not need to maintain open connections. By comparison, it sends shopping cart requests to servers that can maintain many client connections and save cart data for a long time.</a:t>
            </a:r>
          </a:p>
          <a:p>
            <a:endParaRPr lang="en-US" dirty="0"/>
          </a:p>
        </p:txBody>
      </p:sp>
    </p:spTree>
    <p:extLst>
      <p:ext uri="{BB962C8B-B14F-4D97-AF65-F5344CB8AC3E}">
        <p14:creationId xmlns:p14="http://schemas.microsoft.com/office/powerpoint/2010/main" val="39312951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BDEE3-EB70-560E-4110-375255DDE756}"/>
              </a:ext>
            </a:extLst>
          </p:cNvPr>
          <p:cNvSpPr>
            <a:spLocks noGrp="1"/>
          </p:cNvSpPr>
          <p:nvPr>
            <p:ph type="title"/>
          </p:nvPr>
        </p:nvSpPr>
        <p:spPr/>
        <p:txBody>
          <a:bodyPr/>
          <a:lstStyle/>
          <a:p>
            <a:r>
              <a:rPr lang="en-US" b="1" dirty="0"/>
              <a:t>Network load balancing</a:t>
            </a:r>
            <a:br>
              <a:rPr lang="en-US" b="1" dirty="0"/>
            </a:br>
            <a:endParaRPr lang="en-US" dirty="0"/>
          </a:p>
        </p:txBody>
      </p:sp>
      <p:sp>
        <p:nvSpPr>
          <p:cNvPr id="3" name="Content Placeholder 2">
            <a:extLst>
              <a:ext uri="{FF2B5EF4-FFF2-40B4-BE49-F238E27FC236}">
                <a16:creationId xmlns:a16="http://schemas.microsoft.com/office/drawing/2014/main" id="{91AD7EAB-0584-AF78-64F0-BC8772D93FA9}"/>
              </a:ext>
            </a:extLst>
          </p:cNvPr>
          <p:cNvSpPr>
            <a:spLocks noGrp="1"/>
          </p:cNvSpPr>
          <p:nvPr>
            <p:ph idx="1"/>
          </p:nvPr>
        </p:nvSpPr>
        <p:spPr/>
        <p:txBody>
          <a:bodyPr/>
          <a:lstStyle/>
          <a:p>
            <a:pPr algn="just"/>
            <a:r>
              <a:rPr lang="en-US" dirty="0"/>
              <a:t>Network load balancers examine IP addresses and other network information to redirect traffic optimally. They track the source of the application traffic and can assign a static IP address to several servers. Network load balancers use the static and dynamic load balancing algorithms described earlier to balance server load.</a:t>
            </a:r>
          </a:p>
          <a:p>
            <a:endParaRPr lang="en-US" dirty="0"/>
          </a:p>
        </p:txBody>
      </p:sp>
    </p:spTree>
    <p:extLst>
      <p:ext uri="{BB962C8B-B14F-4D97-AF65-F5344CB8AC3E}">
        <p14:creationId xmlns:p14="http://schemas.microsoft.com/office/powerpoint/2010/main" val="90593804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FDC0A-007E-D737-74A9-4AF9CAD17458}"/>
              </a:ext>
            </a:extLst>
          </p:cNvPr>
          <p:cNvSpPr>
            <a:spLocks noGrp="1"/>
          </p:cNvSpPr>
          <p:nvPr>
            <p:ph type="title"/>
          </p:nvPr>
        </p:nvSpPr>
        <p:spPr/>
        <p:txBody>
          <a:bodyPr/>
          <a:lstStyle/>
          <a:p>
            <a:r>
              <a:rPr lang="en-US" b="1" dirty="0"/>
              <a:t>Global server load balancing</a:t>
            </a:r>
            <a:br>
              <a:rPr lang="en-US" b="1" dirty="0"/>
            </a:br>
            <a:endParaRPr lang="en-US" dirty="0"/>
          </a:p>
        </p:txBody>
      </p:sp>
      <p:sp>
        <p:nvSpPr>
          <p:cNvPr id="3" name="Content Placeholder 2">
            <a:extLst>
              <a:ext uri="{FF2B5EF4-FFF2-40B4-BE49-F238E27FC236}">
                <a16:creationId xmlns:a16="http://schemas.microsoft.com/office/drawing/2014/main" id="{B650D264-F4A9-37AD-DCE7-3AB7DC184082}"/>
              </a:ext>
            </a:extLst>
          </p:cNvPr>
          <p:cNvSpPr>
            <a:spLocks noGrp="1"/>
          </p:cNvSpPr>
          <p:nvPr>
            <p:ph idx="1"/>
          </p:nvPr>
        </p:nvSpPr>
        <p:spPr/>
        <p:txBody>
          <a:bodyPr/>
          <a:lstStyle/>
          <a:p>
            <a:pPr algn="just"/>
            <a:r>
              <a:rPr lang="en-US" dirty="0"/>
              <a:t>Global server load balancing occurs across several geographically distributed servers. For example, companies can have servers in multiple data centers, in different countries, and in third-party cloud providers around the globe. In this case, local load balancers manage the application load within a region or zone. They attempt to redirect traffic to a server destination that is geographically closer to the client. They might redirect traffic to servers outside the client’s geographic zone only in case of server failure.</a:t>
            </a:r>
          </a:p>
          <a:p>
            <a:endParaRPr lang="en-US" dirty="0"/>
          </a:p>
        </p:txBody>
      </p:sp>
    </p:spTree>
    <p:extLst>
      <p:ext uri="{BB962C8B-B14F-4D97-AF65-F5344CB8AC3E}">
        <p14:creationId xmlns:p14="http://schemas.microsoft.com/office/powerpoint/2010/main" val="16640371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E4510-1F65-4847-B841-44CE83D6576A}"/>
              </a:ext>
            </a:extLst>
          </p:cNvPr>
          <p:cNvSpPr>
            <a:spLocks noGrp="1"/>
          </p:cNvSpPr>
          <p:nvPr>
            <p:ph type="title"/>
          </p:nvPr>
        </p:nvSpPr>
        <p:spPr/>
        <p:txBody>
          <a:bodyPr/>
          <a:lstStyle/>
          <a:p>
            <a:r>
              <a:rPr lang="en-US" b="1" dirty="0"/>
              <a:t>DNS load balancing</a:t>
            </a:r>
            <a:br>
              <a:rPr lang="en-US" b="1" dirty="0"/>
            </a:br>
            <a:endParaRPr lang="en-US" dirty="0"/>
          </a:p>
        </p:txBody>
      </p:sp>
      <p:sp>
        <p:nvSpPr>
          <p:cNvPr id="3" name="Content Placeholder 2">
            <a:extLst>
              <a:ext uri="{FF2B5EF4-FFF2-40B4-BE49-F238E27FC236}">
                <a16:creationId xmlns:a16="http://schemas.microsoft.com/office/drawing/2014/main" id="{D06DB3E8-F7CE-E3FB-DBCF-A26023A6C4C8}"/>
              </a:ext>
            </a:extLst>
          </p:cNvPr>
          <p:cNvSpPr>
            <a:spLocks noGrp="1"/>
          </p:cNvSpPr>
          <p:nvPr>
            <p:ph idx="1"/>
          </p:nvPr>
        </p:nvSpPr>
        <p:spPr/>
        <p:txBody>
          <a:bodyPr/>
          <a:lstStyle/>
          <a:p>
            <a:pPr algn="just"/>
            <a:r>
              <a:rPr lang="en-US" dirty="0"/>
              <a:t>In DNS load balancing, you configure your domain to route network requests across a pool of resources on your domain. A domain can correspond to a website, a mail system, a print server, or another service that is made accessible through the internet. DNS load balancing is helpful for maintaining application availability and balancing network traffic across a globally distributed pool of resources. </a:t>
            </a:r>
          </a:p>
          <a:p>
            <a:endParaRPr lang="en-US" dirty="0"/>
          </a:p>
        </p:txBody>
      </p:sp>
    </p:spTree>
    <p:extLst>
      <p:ext uri="{BB962C8B-B14F-4D97-AF65-F5344CB8AC3E}">
        <p14:creationId xmlns:p14="http://schemas.microsoft.com/office/powerpoint/2010/main" val="42196153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9D39-4DF7-58E0-CF57-ED54645CA51A}"/>
              </a:ext>
            </a:extLst>
          </p:cNvPr>
          <p:cNvSpPr>
            <a:spLocks noGrp="1"/>
          </p:cNvSpPr>
          <p:nvPr>
            <p:ph type="title"/>
          </p:nvPr>
        </p:nvSpPr>
        <p:spPr/>
        <p:txBody>
          <a:bodyPr>
            <a:normAutofit fontScale="90000"/>
          </a:bodyPr>
          <a:lstStyle/>
          <a:p>
            <a:r>
              <a:rPr lang="en-US" dirty="0"/>
              <a:t>What are the types of load balancing technology?</a:t>
            </a:r>
            <a:br>
              <a:rPr lang="en-US" dirty="0"/>
            </a:br>
            <a:endParaRPr lang="en-US" dirty="0"/>
          </a:p>
        </p:txBody>
      </p:sp>
      <p:sp>
        <p:nvSpPr>
          <p:cNvPr id="3" name="Content Placeholder 2">
            <a:extLst>
              <a:ext uri="{FF2B5EF4-FFF2-40B4-BE49-F238E27FC236}">
                <a16:creationId xmlns:a16="http://schemas.microsoft.com/office/drawing/2014/main" id="{1D4E6858-CF2C-3679-4294-75F8841D697D}"/>
              </a:ext>
            </a:extLst>
          </p:cNvPr>
          <p:cNvSpPr>
            <a:spLocks noGrp="1"/>
          </p:cNvSpPr>
          <p:nvPr>
            <p:ph idx="1"/>
          </p:nvPr>
        </p:nvSpPr>
        <p:spPr/>
        <p:txBody>
          <a:bodyPr>
            <a:normAutofit fontScale="92500" lnSpcReduction="10000"/>
          </a:bodyPr>
          <a:lstStyle/>
          <a:p>
            <a:pPr marL="0" indent="0">
              <a:buNone/>
            </a:pPr>
            <a:r>
              <a:rPr lang="en-US" dirty="0"/>
              <a:t>Load balancers are one of two types: hardware load balancer and software load balancer.</a:t>
            </a:r>
          </a:p>
          <a:p>
            <a:r>
              <a:rPr lang="en-US" b="1" dirty="0"/>
              <a:t>Hardware load balancers</a:t>
            </a:r>
          </a:p>
          <a:p>
            <a:pPr marL="0" indent="0">
              <a:buNone/>
            </a:pPr>
            <a:r>
              <a:rPr lang="en-US" dirty="0"/>
              <a:t>A hardware-based load balancer is a hardware appliance that can securely process and redirect gigabytes of traffic to hundreds of different servers. You can store it in your data centers and use virtualization to create multiple digital or virtual load balancers that you can centrally manage.</a:t>
            </a:r>
          </a:p>
          <a:p>
            <a:r>
              <a:rPr lang="en-US" b="1" dirty="0"/>
              <a:t>Software load balancers</a:t>
            </a:r>
          </a:p>
          <a:p>
            <a:pPr marL="0" indent="0">
              <a:buNone/>
            </a:pPr>
            <a:r>
              <a:rPr lang="en-US" dirty="0"/>
              <a:t>Software-based load balancers are applications that perform all load balancing functions. You can install them on any server or access them as a fully managed third-party service.</a:t>
            </a:r>
          </a:p>
          <a:p>
            <a:endParaRPr lang="en-US" dirty="0"/>
          </a:p>
        </p:txBody>
      </p:sp>
    </p:spTree>
    <p:extLst>
      <p:ext uri="{BB962C8B-B14F-4D97-AF65-F5344CB8AC3E}">
        <p14:creationId xmlns:p14="http://schemas.microsoft.com/office/powerpoint/2010/main" val="299142748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25D8E-B2F6-35D6-EBBC-2BB18309B518}"/>
              </a:ext>
            </a:extLst>
          </p:cNvPr>
          <p:cNvSpPr>
            <a:spLocks noGrp="1"/>
          </p:cNvSpPr>
          <p:nvPr>
            <p:ph type="title"/>
          </p:nvPr>
        </p:nvSpPr>
        <p:spPr/>
        <p:txBody>
          <a:bodyPr>
            <a:normAutofit fontScale="90000"/>
          </a:bodyPr>
          <a:lstStyle/>
          <a:p>
            <a:r>
              <a:rPr lang="en-US" b="1" dirty="0"/>
              <a:t>Comparison of hardware balancers to software load balancers</a:t>
            </a:r>
            <a:br>
              <a:rPr lang="en-US" b="1" dirty="0"/>
            </a:br>
            <a:endParaRPr lang="en-US" dirty="0"/>
          </a:p>
        </p:txBody>
      </p:sp>
      <p:sp>
        <p:nvSpPr>
          <p:cNvPr id="3" name="Content Placeholder 2">
            <a:extLst>
              <a:ext uri="{FF2B5EF4-FFF2-40B4-BE49-F238E27FC236}">
                <a16:creationId xmlns:a16="http://schemas.microsoft.com/office/drawing/2014/main" id="{3CD8C285-2178-BA63-51A8-9CA61D10660D}"/>
              </a:ext>
            </a:extLst>
          </p:cNvPr>
          <p:cNvSpPr>
            <a:spLocks noGrp="1"/>
          </p:cNvSpPr>
          <p:nvPr>
            <p:ph idx="1"/>
          </p:nvPr>
        </p:nvSpPr>
        <p:spPr/>
        <p:txBody>
          <a:bodyPr>
            <a:normAutofit/>
          </a:bodyPr>
          <a:lstStyle/>
          <a:p>
            <a:pPr algn="just"/>
            <a:r>
              <a:rPr lang="en-US" dirty="0"/>
              <a:t>Hardware load balancers require an initial investment, configuration, and ongoing maintenance. You might also not use them to full capacity, especially if you purchase one only to handle peak-time traffic spikes. If traffic volume increases suddenly beyond its current capacity, this will affect users until you can purchase and set up another load balancer.</a:t>
            </a:r>
          </a:p>
          <a:p>
            <a:pPr algn="just"/>
            <a:r>
              <a:rPr lang="en-US" dirty="0"/>
              <a:t>In contrast, software-based load balancers are much more flexible. They can scale up or down easily and are more compatible with modern cloud computing environments. They also cost less to set up, manage, and use over time.</a:t>
            </a:r>
          </a:p>
          <a:p>
            <a:endParaRPr lang="en-US" dirty="0"/>
          </a:p>
        </p:txBody>
      </p:sp>
    </p:spTree>
    <p:extLst>
      <p:ext uri="{BB962C8B-B14F-4D97-AF65-F5344CB8AC3E}">
        <p14:creationId xmlns:p14="http://schemas.microsoft.com/office/powerpoint/2010/main" val="29810094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D0AA0-CE2B-9F8A-38D7-99136A1DD89B}"/>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D8D4604E-1863-D53E-C909-7885633F896C}"/>
              </a:ext>
            </a:extLst>
          </p:cNvPr>
          <p:cNvSpPr>
            <a:spLocks noGrp="1"/>
          </p:cNvSpPr>
          <p:nvPr>
            <p:ph idx="1"/>
          </p:nvPr>
        </p:nvSpPr>
        <p:spPr/>
        <p:txBody>
          <a:bodyPr/>
          <a:lstStyle/>
          <a:p>
            <a:r>
              <a:rPr lang="en-US" dirty="0"/>
              <a:t>https://aws.amazon.com/what-is/load-balancing/</a:t>
            </a:r>
          </a:p>
        </p:txBody>
      </p:sp>
    </p:spTree>
    <p:extLst>
      <p:ext uri="{BB962C8B-B14F-4D97-AF65-F5344CB8AC3E}">
        <p14:creationId xmlns:p14="http://schemas.microsoft.com/office/powerpoint/2010/main" val="24320038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6519-82D0-0D3C-3060-627CE75CB761}"/>
              </a:ext>
            </a:extLst>
          </p:cNvPr>
          <p:cNvSpPr>
            <a:spLocks noGrp="1"/>
          </p:cNvSpPr>
          <p:nvPr>
            <p:ph type="title"/>
          </p:nvPr>
        </p:nvSpPr>
        <p:spPr/>
        <p:txBody>
          <a:bodyPr/>
          <a:lstStyle/>
          <a:p>
            <a:r>
              <a:rPr lang="en-US" b="1" dirty="0"/>
              <a:t>Resource Allocation</a:t>
            </a:r>
            <a:br>
              <a:rPr lang="en-US" b="1" dirty="0"/>
            </a:br>
            <a:endParaRPr lang="en-US" dirty="0"/>
          </a:p>
        </p:txBody>
      </p:sp>
      <p:sp>
        <p:nvSpPr>
          <p:cNvPr id="3" name="Content Placeholder 2">
            <a:extLst>
              <a:ext uri="{FF2B5EF4-FFF2-40B4-BE49-F238E27FC236}">
                <a16:creationId xmlns:a16="http://schemas.microsoft.com/office/drawing/2014/main" id="{B92D0E49-7161-C683-AF2E-A861D08A16F2}"/>
              </a:ext>
            </a:extLst>
          </p:cNvPr>
          <p:cNvSpPr>
            <a:spLocks noGrp="1"/>
          </p:cNvSpPr>
          <p:nvPr>
            <p:ph idx="1"/>
          </p:nvPr>
        </p:nvSpPr>
        <p:spPr/>
        <p:txBody>
          <a:bodyPr>
            <a:normAutofit lnSpcReduction="10000"/>
          </a:bodyPr>
          <a:lstStyle/>
          <a:p>
            <a:pPr algn="just"/>
            <a:r>
              <a:rPr lang="en-US" dirty="0"/>
              <a:t>The allocation of resources and services from a cloud provider to a customer is known as resource provisioning in cloud computing, sometimes called cloud provisioning. Resource provisioning is the process of choosing, deploying, and managing software (like load balancers and database server management systems) and hardware resources (including CPU, storage, and networks) to assure application performance.</a:t>
            </a:r>
          </a:p>
          <a:p>
            <a:pPr algn="just"/>
            <a:r>
              <a:rPr lang="en-US" dirty="0"/>
              <a:t>To effectively utilize the resources without going against SLA and achieving the QoS requirements, Static Provisioning/Dynamic Provisioning and Static/Dynamic Allocation of resources must be established based on the application needs. Resource over and under-provisioning must be prevented. </a:t>
            </a:r>
          </a:p>
        </p:txBody>
      </p:sp>
    </p:spTree>
    <p:extLst>
      <p:ext uri="{BB962C8B-B14F-4D97-AF65-F5344CB8AC3E}">
        <p14:creationId xmlns:p14="http://schemas.microsoft.com/office/powerpoint/2010/main" val="29214879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3BAA3-1AAB-BF91-C7F7-7A629806CBB0}"/>
              </a:ext>
            </a:extLst>
          </p:cNvPr>
          <p:cNvSpPr>
            <a:spLocks noGrp="1"/>
          </p:cNvSpPr>
          <p:nvPr>
            <p:ph type="title"/>
          </p:nvPr>
        </p:nvSpPr>
        <p:spPr/>
        <p:txBody>
          <a:bodyPr/>
          <a:lstStyle/>
          <a:p>
            <a:r>
              <a:rPr lang="en-US" b="1" dirty="0"/>
              <a:t>Importance of Cloud Provisioning:</a:t>
            </a:r>
            <a:br>
              <a:rPr lang="en-US" b="1" dirty="0"/>
            </a:br>
            <a:endParaRPr lang="en-US" dirty="0"/>
          </a:p>
        </p:txBody>
      </p:sp>
      <p:sp>
        <p:nvSpPr>
          <p:cNvPr id="3" name="Content Placeholder 2">
            <a:extLst>
              <a:ext uri="{FF2B5EF4-FFF2-40B4-BE49-F238E27FC236}">
                <a16:creationId xmlns:a16="http://schemas.microsoft.com/office/drawing/2014/main" id="{3D79398D-C6D1-531F-0AFB-88ECFC7219BA}"/>
              </a:ext>
            </a:extLst>
          </p:cNvPr>
          <p:cNvSpPr>
            <a:spLocks noGrp="1"/>
          </p:cNvSpPr>
          <p:nvPr>
            <p:ph idx="1"/>
          </p:nvPr>
        </p:nvSpPr>
        <p:spPr/>
        <p:txBody>
          <a:bodyPr/>
          <a:lstStyle/>
          <a:p>
            <a:pPr fontAlgn="base"/>
            <a:r>
              <a:rPr lang="en-US" b="1" dirty="0"/>
              <a:t>Scalability: </a:t>
            </a:r>
            <a:r>
              <a:rPr lang="en-US" dirty="0"/>
              <a:t>Being able to actively scale up and down with flux in demand for resources is one of the major points of cloud computing</a:t>
            </a:r>
          </a:p>
          <a:p>
            <a:pPr fontAlgn="base"/>
            <a:r>
              <a:rPr lang="en-US" b="1" dirty="0"/>
              <a:t>Speed: </a:t>
            </a:r>
            <a:r>
              <a:rPr lang="en-US" dirty="0"/>
              <a:t>Users can quickly spin up multiple machines as per their usage without the need for an IT Administrator</a:t>
            </a:r>
          </a:p>
          <a:p>
            <a:pPr fontAlgn="base"/>
            <a:r>
              <a:rPr lang="en-US" b="1" dirty="0"/>
              <a:t>Savings: </a:t>
            </a:r>
            <a:r>
              <a:rPr lang="en-US" dirty="0"/>
              <a:t>Pay as you go model allows for enormous cost savings for users, it is facilitated by provisioning or removing resources according to the demand.</a:t>
            </a:r>
          </a:p>
          <a:p>
            <a:endParaRPr lang="en-US" dirty="0"/>
          </a:p>
        </p:txBody>
      </p:sp>
    </p:spTree>
    <p:extLst>
      <p:ext uri="{BB962C8B-B14F-4D97-AF65-F5344CB8AC3E}">
        <p14:creationId xmlns:p14="http://schemas.microsoft.com/office/powerpoint/2010/main" val="35815281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D4D81-8DD6-7576-328D-8CEBB9648DEB}"/>
              </a:ext>
            </a:extLst>
          </p:cNvPr>
          <p:cNvSpPr>
            <a:spLocks noGrp="1"/>
          </p:cNvSpPr>
          <p:nvPr>
            <p:ph type="title"/>
          </p:nvPr>
        </p:nvSpPr>
        <p:spPr/>
        <p:txBody>
          <a:bodyPr/>
          <a:lstStyle/>
          <a:p>
            <a:r>
              <a:rPr lang="en-US" b="1" dirty="0"/>
              <a:t>Challenges of Cloud Provisioning:</a:t>
            </a:r>
            <a:br>
              <a:rPr lang="en-US" b="1" dirty="0"/>
            </a:br>
            <a:endParaRPr lang="en-US" dirty="0"/>
          </a:p>
        </p:txBody>
      </p:sp>
      <p:sp>
        <p:nvSpPr>
          <p:cNvPr id="3" name="Content Placeholder 2">
            <a:extLst>
              <a:ext uri="{FF2B5EF4-FFF2-40B4-BE49-F238E27FC236}">
                <a16:creationId xmlns:a16="http://schemas.microsoft.com/office/drawing/2014/main" id="{FBE92762-E24E-1E3E-2DC5-7626B82D2D36}"/>
              </a:ext>
            </a:extLst>
          </p:cNvPr>
          <p:cNvSpPr>
            <a:spLocks noGrp="1"/>
          </p:cNvSpPr>
          <p:nvPr>
            <p:ph idx="1"/>
          </p:nvPr>
        </p:nvSpPr>
        <p:spPr/>
        <p:txBody>
          <a:bodyPr/>
          <a:lstStyle/>
          <a:p>
            <a:pPr fontAlgn="base"/>
            <a:r>
              <a:rPr lang="en-US" b="1" dirty="0"/>
              <a:t>Complex management: </a:t>
            </a:r>
            <a:r>
              <a:rPr lang="en-US" dirty="0"/>
              <a:t>Cloud providers have to use various different tools and techniques to actively monitor the usage of resources</a:t>
            </a:r>
          </a:p>
          <a:p>
            <a:pPr fontAlgn="base"/>
            <a:r>
              <a:rPr lang="en-US" b="1" dirty="0"/>
              <a:t>Policy enforcement:</a:t>
            </a:r>
            <a:r>
              <a:rPr lang="en-US" dirty="0"/>
              <a:t> </a:t>
            </a:r>
            <a:r>
              <a:rPr lang="en-US" dirty="0" err="1"/>
              <a:t>Organisations</a:t>
            </a:r>
            <a:r>
              <a:rPr lang="en-US" dirty="0"/>
              <a:t> have to ensure that users are not able to access the resources they shouldn't.</a:t>
            </a:r>
          </a:p>
          <a:p>
            <a:pPr fontAlgn="base"/>
            <a:r>
              <a:rPr lang="en-US" b="1" dirty="0"/>
              <a:t>Cost: </a:t>
            </a:r>
            <a:r>
              <a:rPr lang="en-US" dirty="0"/>
              <a:t>Due to automated provisioning costs may go very high if attention isn't paid to placing proper checks in place. Alerts about reaching the cost threshold are required.</a:t>
            </a:r>
          </a:p>
          <a:p>
            <a:endParaRPr lang="en-US" dirty="0"/>
          </a:p>
        </p:txBody>
      </p:sp>
    </p:spTree>
    <p:extLst>
      <p:ext uri="{BB962C8B-B14F-4D97-AF65-F5344CB8AC3E}">
        <p14:creationId xmlns:p14="http://schemas.microsoft.com/office/powerpoint/2010/main" val="8652955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5610E-A0D9-9E48-346E-8E10305CC1C9}"/>
              </a:ext>
            </a:extLst>
          </p:cNvPr>
          <p:cNvSpPr>
            <a:spLocks noGrp="1"/>
          </p:cNvSpPr>
          <p:nvPr>
            <p:ph type="title"/>
          </p:nvPr>
        </p:nvSpPr>
        <p:spPr/>
        <p:txBody>
          <a:bodyPr/>
          <a:lstStyle/>
          <a:p>
            <a:r>
              <a:rPr lang="en-US" b="1" dirty="0"/>
              <a:t>Tools for Cloud Provisioning:</a:t>
            </a:r>
            <a:br>
              <a:rPr lang="en-US" b="1" dirty="0"/>
            </a:br>
            <a:endParaRPr lang="en-US" dirty="0"/>
          </a:p>
        </p:txBody>
      </p:sp>
      <p:sp>
        <p:nvSpPr>
          <p:cNvPr id="3" name="Content Placeholder 2">
            <a:extLst>
              <a:ext uri="{FF2B5EF4-FFF2-40B4-BE49-F238E27FC236}">
                <a16:creationId xmlns:a16="http://schemas.microsoft.com/office/drawing/2014/main" id="{CC334DB1-EF5B-B660-E13E-8EFA128A2A57}"/>
              </a:ext>
            </a:extLst>
          </p:cNvPr>
          <p:cNvSpPr>
            <a:spLocks noGrp="1"/>
          </p:cNvSpPr>
          <p:nvPr>
            <p:ph idx="1"/>
          </p:nvPr>
        </p:nvSpPr>
        <p:spPr/>
        <p:txBody>
          <a:bodyPr/>
          <a:lstStyle/>
          <a:p>
            <a:pPr fontAlgn="base"/>
            <a:r>
              <a:rPr lang="en-US" dirty="0"/>
              <a:t>Google Cloud Deployment Manager</a:t>
            </a:r>
          </a:p>
          <a:p>
            <a:pPr fontAlgn="base"/>
            <a:r>
              <a:rPr lang="en-US" dirty="0"/>
              <a:t>IBM Cloud Orchestrator</a:t>
            </a:r>
          </a:p>
          <a:p>
            <a:pPr fontAlgn="base"/>
            <a:r>
              <a:rPr lang="en-US" dirty="0"/>
              <a:t>AWS CloudFormation</a:t>
            </a:r>
          </a:p>
          <a:p>
            <a:pPr fontAlgn="base"/>
            <a:r>
              <a:rPr lang="en-US" dirty="0"/>
              <a:t>Microsoft Azure Resource Manager</a:t>
            </a:r>
          </a:p>
          <a:p>
            <a:endParaRPr lang="en-US" dirty="0"/>
          </a:p>
        </p:txBody>
      </p:sp>
    </p:spTree>
    <p:extLst>
      <p:ext uri="{BB962C8B-B14F-4D97-AF65-F5344CB8AC3E}">
        <p14:creationId xmlns:p14="http://schemas.microsoft.com/office/powerpoint/2010/main" val="170910510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F68DF-A920-E616-B5A3-850622C0E381}"/>
              </a:ext>
            </a:extLst>
          </p:cNvPr>
          <p:cNvSpPr>
            <a:spLocks noGrp="1"/>
          </p:cNvSpPr>
          <p:nvPr>
            <p:ph type="title"/>
          </p:nvPr>
        </p:nvSpPr>
        <p:spPr/>
        <p:txBody>
          <a:bodyPr/>
          <a:lstStyle/>
          <a:p>
            <a:r>
              <a:rPr lang="en-US" b="1" dirty="0"/>
              <a:t>Types of Cloud Provisioning:</a:t>
            </a:r>
            <a:br>
              <a:rPr lang="en-US" b="1" dirty="0"/>
            </a:br>
            <a:endParaRPr lang="en-US" dirty="0"/>
          </a:p>
        </p:txBody>
      </p:sp>
      <p:sp>
        <p:nvSpPr>
          <p:cNvPr id="3" name="Content Placeholder 2">
            <a:extLst>
              <a:ext uri="{FF2B5EF4-FFF2-40B4-BE49-F238E27FC236}">
                <a16:creationId xmlns:a16="http://schemas.microsoft.com/office/drawing/2014/main" id="{9E1DEC23-84F2-A886-C785-B9BBAEC2ABE3}"/>
              </a:ext>
            </a:extLst>
          </p:cNvPr>
          <p:cNvSpPr>
            <a:spLocks noGrp="1"/>
          </p:cNvSpPr>
          <p:nvPr>
            <p:ph idx="1"/>
          </p:nvPr>
        </p:nvSpPr>
        <p:spPr/>
        <p:txBody>
          <a:bodyPr>
            <a:normAutofit/>
          </a:bodyPr>
          <a:lstStyle/>
          <a:p>
            <a:r>
              <a:rPr lang="en-US" b="1" dirty="0"/>
              <a:t>Static Provisioning or Advance Provisioning: </a:t>
            </a:r>
          </a:p>
          <a:p>
            <a:pPr marL="0" indent="0" algn="just">
              <a:buNone/>
            </a:pPr>
            <a:r>
              <a:rPr lang="en-US" dirty="0"/>
              <a:t>Static provisioning can be used successfully for applications with known and typically constant demands or workloads. In this instance, the cloud provider allows the customer with a set number of resources. The client can thereafter utilize these resources as required. The client is in charge of making sure the resources aren't overutilized. This is an excellent choice for applications with stable and predictable needs or workloads. For instance, a customer might want to use a database server with a set quantity of CPU, RAM, and storage.</a:t>
            </a:r>
            <a:br>
              <a:rPr lang="en-US" dirty="0"/>
            </a:br>
            <a:endParaRPr lang="en-US" dirty="0"/>
          </a:p>
        </p:txBody>
      </p:sp>
    </p:spTree>
    <p:extLst>
      <p:ext uri="{BB962C8B-B14F-4D97-AF65-F5344CB8AC3E}">
        <p14:creationId xmlns:p14="http://schemas.microsoft.com/office/powerpoint/2010/main" val="32064379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32A22-5976-16D4-4ADD-1C6DC8FBB4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48DBC8-468B-7AD6-8E9C-C120C0D9F7E0}"/>
              </a:ext>
            </a:extLst>
          </p:cNvPr>
          <p:cNvSpPr>
            <a:spLocks noGrp="1"/>
          </p:cNvSpPr>
          <p:nvPr>
            <p:ph idx="1"/>
          </p:nvPr>
        </p:nvSpPr>
        <p:spPr/>
        <p:txBody>
          <a:bodyPr/>
          <a:lstStyle/>
          <a:p>
            <a:pPr algn="just"/>
            <a:r>
              <a:rPr lang="en-US" dirty="0"/>
              <a:t>When a consumer contracts with a service provider for services, the supplier makes the necessary preparations before the service can begin. Either a one-time cost or a monthly fee is applied to the client.</a:t>
            </a:r>
            <a:br>
              <a:rPr lang="en-US" dirty="0"/>
            </a:br>
            <a:r>
              <a:rPr lang="en-US" dirty="0"/>
              <a:t>Resources are pre-allocated to customers by cloud service providers. This means that before consuming resources, a cloud user must select how much capacity they need in a static sense. Static provisioning may result in issues with over or under-provisioning.</a:t>
            </a:r>
          </a:p>
          <a:p>
            <a:endParaRPr lang="en-US" dirty="0"/>
          </a:p>
        </p:txBody>
      </p:sp>
    </p:spTree>
    <p:extLst>
      <p:ext uri="{BB962C8B-B14F-4D97-AF65-F5344CB8AC3E}">
        <p14:creationId xmlns:p14="http://schemas.microsoft.com/office/powerpoint/2010/main" val="1734797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29390-6984-8A22-F962-3F0313513BE5}"/>
              </a:ext>
            </a:extLst>
          </p:cNvPr>
          <p:cNvSpPr>
            <a:spLocks noGrp="1"/>
          </p:cNvSpPr>
          <p:nvPr>
            <p:ph type="title"/>
          </p:nvPr>
        </p:nvSpPr>
        <p:spPr/>
        <p:txBody>
          <a:bodyPr/>
          <a:lstStyle/>
          <a:p>
            <a:r>
              <a:rPr lang="en-US" b="1" dirty="0"/>
              <a:t>Dynamic provisioning or On-demand provisioning:</a:t>
            </a:r>
            <a:r>
              <a:rPr lang="en-US" dirty="0"/>
              <a:t> </a:t>
            </a:r>
          </a:p>
        </p:txBody>
      </p:sp>
      <p:sp>
        <p:nvSpPr>
          <p:cNvPr id="3" name="Content Placeholder 2">
            <a:extLst>
              <a:ext uri="{FF2B5EF4-FFF2-40B4-BE49-F238E27FC236}">
                <a16:creationId xmlns:a16="http://schemas.microsoft.com/office/drawing/2014/main" id="{ED993441-6F07-AA66-D572-65968CC89F08}"/>
              </a:ext>
            </a:extLst>
          </p:cNvPr>
          <p:cNvSpPr>
            <a:spLocks noGrp="1"/>
          </p:cNvSpPr>
          <p:nvPr>
            <p:ph idx="1"/>
          </p:nvPr>
        </p:nvSpPr>
        <p:spPr/>
        <p:txBody>
          <a:bodyPr>
            <a:normAutofit fontScale="92500" lnSpcReduction="20000"/>
          </a:bodyPr>
          <a:lstStyle/>
          <a:p>
            <a:pPr algn="just"/>
            <a:r>
              <a:rPr lang="en-US" dirty="0"/>
              <a:t>With dynamic provisioning, the provider adds resources as needed and subtracts them as they are no longer required. It follows a pay-per-use model, i.e. the clients are billed only for the exact resources they use. Consumers must pay for each use of the resources that the cloud service provider allots to them as needed and when necessary. The pay-as-you-go model is another name for this. </a:t>
            </a:r>
          </a:p>
          <a:p>
            <a:pPr algn="just"/>
            <a:r>
              <a:rPr lang="en-US" dirty="0"/>
              <a:t>"Dynamic provisioning" techniques allow VMs to be moved on-the-fly to new computing nodes within the cloud, in situations where demand by applications may change or vary. This is a suitable choice for programs with erratic and shifting demands or workloads. For instance, a customer might want to use a web server with a configurable quantity of CPU, memory, and storage. In this scenario, the client can utilize the resources as required and only pay for what is really used. The client is in charge of ensuring that the resources are not oversubscribed; otherwise, fees can skyrocket.</a:t>
            </a:r>
          </a:p>
          <a:p>
            <a:endParaRPr lang="en-US" dirty="0"/>
          </a:p>
        </p:txBody>
      </p:sp>
    </p:spTree>
    <p:extLst>
      <p:ext uri="{BB962C8B-B14F-4D97-AF65-F5344CB8AC3E}">
        <p14:creationId xmlns:p14="http://schemas.microsoft.com/office/powerpoint/2010/main" val="8560049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1D154-0E1E-C3FB-7C05-076D02E130C3}"/>
              </a:ext>
            </a:extLst>
          </p:cNvPr>
          <p:cNvSpPr>
            <a:spLocks noGrp="1"/>
          </p:cNvSpPr>
          <p:nvPr>
            <p:ph type="title"/>
          </p:nvPr>
        </p:nvSpPr>
        <p:spPr/>
        <p:txBody>
          <a:bodyPr/>
          <a:lstStyle/>
          <a:p>
            <a:r>
              <a:rPr lang="en-US" b="1" dirty="0"/>
              <a:t>Self-service provisioning or user self-provisioning:</a:t>
            </a:r>
            <a:r>
              <a:rPr lang="en-US" dirty="0"/>
              <a:t> </a:t>
            </a:r>
          </a:p>
        </p:txBody>
      </p:sp>
      <p:sp>
        <p:nvSpPr>
          <p:cNvPr id="3" name="Content Placeholder 2">
            <a:extLst>
              <a:ext uri="{FF2B5EF4-FFF2-40B4-BE49-F238E27FC236}">
                <a16:creationId xmlns:a16="http://schemas.microsoft.com/office/drawing/2014/main" id="{96CA89BB-417A-D017-AC36-D0142B6D9FC8}"/>
              </a:ext>
            </a:extLst>
          </p:cNvPr>
          <p:cNvSpPr>
            <a:spLocks noGrp="1"/>
          </p:cNvSpPr>
          <p:nvPr>
            <p:ph idx="1"/>
          </p:nvPr>
        </p:nvSpPr>
        <p:spPr/>
        <p:txBody>
          <a:bodyPr/>
          <a:lstStyle/>
          <a:p>
            <a:pPr algn="just"/>
            <a:r>
              <a:rPr lang="en-US" dirty="0"/>
              <a:t>In user self-provisioning, sometimes referred to as cloud self-service, the customer uses a web form to acquire resources from the cloud provider, sets up a customer account, and pays with a credit card. Shortly after, resources are made accessible for consumer use.</a:t>
            </a:r>
          </a:p>
          <a:p>
            <a:endParaRPr lang="en-US" dirty="0"/>
          </a:p>
        </p:txBody>
      </p:sp>
    </p:spTree>
    <p:extLst>
      <p:ext uri="{BB962C8B-B14F-4D97-AF65-F5344CB8AC3E}">
        <p14:creationId xmlns:p14="http://schemas.microsoft.com/office/powerpoint/2010/main" val="1998973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716</TotalTime>
  <Words>8780</Words>
  <Application>Microsoft Office PowerPoint</Application>
  <PresentationFormat>Widescreen</PresentationFormat>
  <Paragraphs>440</Paragraphs>
  <Slides>113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113</vt:i4>
      </vt:variant>
    </vt:vector>
  </HeadingPairs>
  <TitlesOfParts>
    <vt:vector size="117" baseType="lpstr">
      <vt:lpstr>Arial</vt:lpstr>
      <vt:lpstr>Calibri</vt:lpstr>
      <vt:lpstr>Calibri Light</vt:lpstr>
      <vt:lpstr>Office Theme</vt:lpstr>
      <vt:lpstr>Unit 3  Virtualization and Resource Management</vt:lpstr>
      <vt:lpstr>Syllabus</vt:lpstr>
      <vt:lpstr>Virtualization</vt:lpstr>
      <vt:lpstr>Characteristics of Virtualization </vt:lpstr>
      <vt:lpstr>PowerPoint Presentation</vt:lpstr>
      <vt:lpstr>PowerPoint Presentation</vt:lpstr>
      <vt:lpstr>Types of Virtualization </vt:lpstr>
      <vt:lpstr>Storage Virtualization </vt:lpstr>
      <vt:lpstr>PowerPoint Presentation</vt:lpstr>
      <vt:lpstr>Network Virtualization </vt:lpstr>
      <vt:lpstr>PowerPoint Presentation</vt:lpstr>
      <vt:lpstr>PowerPoint Presentation</vt:lpstr>
      <vt:lpstr>Data Virtualization </vt:lpstr>
      <vt:lpstr>PowerPoint Presentation</vt:lpstr>
      <vt:lpstr>App Virtualization </vt:lpstr>
      <vt:lpstr>PowerPoint Presentation</vt:lpstr>
      <vt:lpstr>PowerPoint Presentation</vt:lpstr>
      <vt:lpstr>Desktop Virtualization </vt:lpstr>
      <vt:lpstr>PowerPoint Presentation</vt:lpstr>
      <vt:lpstr>Virtualization Advantages and Disadvantages </vt:lpstr>
      <vt:lpstr>Advantages</vt:lpstr>
      <vt:lpstr>PowerPoint Presentation</vt:lpstr>
      <vt:lpstr>PowerPoint Presentation</vt:lpstr>
      <vt:lpstr>Disadvantages </vt:lpstr>
      <vt:lpstr>PowerPoint Presentation</vt:lpstr>
      <vt:lpstr>Reference</vt:lpstr>
      <vt:lpstr>Compute Virtualization</vt:lpstr>
      <vt:lpstr>Key Characteristics</vt:lpstr>
      <vt:lpstr>Main Components of Virtualization </vt:lpstr>
      <vt:lpstr>Hypervisor</vt:lpstr>
      <vt:lpstr>PowerPoint Presentation</vt:lpstr>
      <vt:lpstr>Types of Hypervisor </vt:lpstr>
      <vt:lpstr>Type 1 Hypervisor(bare-metal) </vt:lpstr>
      <vt:lpstr>PowerPoint Presentation</vt:lpstr>
      <vt:lpstr>Type 2 Hypervisor(Hosted) </vt:lpstr>
      <vt:lpstr>PowerPoint Presentation</vt:lpstr>
      <vt:lpstr>PowerPoint Presentation</vt:lpstr>
      <vt:lpstr>HYPERVISOR REFERENCE MODEL </vt:lpstr>
      <vt:lpstr>Virtual Machines vs. Containers</vt:lpstr>
      <vt:lpstr>Where are containers and virtual machines used? </vt:lpstr>
      <vt:lpstr>Challenges in software deployment </vt:lpstr>
      <vt:lpstr>PowerPoint Presentation</vt:lpstr>
      <vt:lpstr>Purpose of virtual machines </vt:lpstr>
      <vt:lpstr>Purpose of containers </vt:lpstr>
      <vt:lpstr>Similarities between containers and virtual machines </vt:lpstr>
      <vt:lpstr>Key differences: containers vs. virtual machines </vt:lpstr>
      <vt:lpstr>How they work </vt:lpstr>
      <vt:lpstr>Core technology </vt:lpstr>
      <vt:lpstr>Size </vt:lpstr>
      <vt:lpstr>When to use containers vs. virtual machines </vt:lpstr>
      <vt:lpstr>PowerPoint Presentation</vt:lpstr>
      <vt:lpstr>PowerPoint Presentation</vt:lpstr>
      <vt:lpstr>Summary of differences: container vs. virtual machine </vt:lpstr>
      <vt:lpstr>PowerPoint Presentation</vt:lpstr>
      <vt:lpstr>PowerPoint Presentation</vt:lpstr>
      <vt:lpstr>Docker and Kubernetes Overview</vt:lpstr>
      <vt:lpstr>PowerPoint Presentation</vt:lpstr>
      <vt:lpstr>PowerPoint Presentation</vt:lpstr>
      <vt:lpstr>Kubernetes</vt:lpstr>
      <vt:lpstr>PowerPoint Presentation</vt:lpstr>
      <vt:lpstr>Why you need Kubernetes and what it can do </vt:lpstr>
      <vt:lpstr>Kubernetes provides you with:</vt:lpstr>
      <vt:lpstr>PowerPoint Presentation</vt:lpstr>
      <vt:lpstr>PowerPoint Presentation</vt:lpstr>
      <vt:lpstr>What Kubernetes is not  </vt:lpstr>
      <vt:lpstr>Kubernetes: </vt:lpstr>
      <vt:lpstr>PowerPoint Presentation</vt:lpstr>
      <vt:lpstr>PowerPoint Presentation</vt:lpstr>
      <vt:lpstr>Historical context for Kubernetes </vt:lpstr>
      <vt:lpstr>Traditional deployment era: </vt:lpstr>
      <vt:lpstr>Virtualized deployment era: </vt:lpstr>
      <vt:lpstr>Container deployment era: </vt:lpstr>
      <vt:lpstr>PowerPoint Presentation</vt:lpstr>
      <vt:lpstr>PowerPoint Presentation</vt:lpstr>
      <vt:lpstr> Kubernetes Vs. Docker: Complementary, Not Competitors </vt:lpstr>
      <vt:lpstr>Serving Complementary Containerization Roles </vt:lpstr>
      <vt:lpstr>PowerPoint Presentation</vt:lpstr>
      <vt:lpstr>Use Cases and Applications for Docker and Kubernetes </vt:lpstr>
      <vt:lpstr>PowerPoint Presentation</vt:lpstr>
      <vt:lpstr>How Docker and Kubernetes Can Be Used Together </vt:lpstr>
      <vt:lpstr>PowerPoint Presentation</vt:lpstr>
      <vt:lpstr>PowerPoint Presentation</vt:lpstr>
      <vt:lpstr>Load balancing in Cloud Computing </vt:lpstr>
      <vt:lpstr>PowerPoint Presentation</vt:lpstr>
      <vt:lpstr>The Server Overload Problem and Solutions </vt:lpstr>
      <vt:lpstr>Load Balancing</vt:lpstr>
      <vt:lpstr>PowerPoint Presentation</vt:lpstr>
      <vt:lpstr>PowerPoint Presentation</vt:lpstr>
      <vt:lpstr>What are load balancing algorithms? </vt:lpstr>
      <vt:lpstr>Static load balancing </vt:lpstr>
      <vt:lpstr>Round-robin method </vt:lpstr>
      <vt:lpstr>PowerPoint Presentation</vt:lpstr>
      <vt:lpstr>Dynamic load balancing  </vt:lpstr>
      <vt:lpstr>PowerPoint Presentation</vt:lpstr>
      <vt:lpstr>PowerPoint Presentation</vt:lpstr>
      <vt:lpstr>How does load balancing work? </vt:lpstr>
      <vt:lpstr>PowerPoint Presentation</vt:lpstr>
      <vt:lpstr>What are the types of load balancing? </vt:lpstr>
      <vt:lpstr>Application load balancing </vt:lpstr>
      <vt:lpstr>Network load balancing </vt:lpstr>
      <vt:lpstr>Global server load balancing </vt:lpstr>
      <vt:lpstr>DNS load balancing </vt:lpstr>
      <vt:lpstr>What are the types of load balancing technology? </vt:lpstr>
      <vt:lpstr>Comparison of hardware balancers to software load balancers </vt:lpstr>
      <vt:lpstr>Reference</vt:lpstr>
      <vt:lpstr>Resource Allocation </vt:lpstr>
      <vt:lpstr>Importance of Cloud Provisioning: </vt:lpstr>
      <vt:lpstr>Challenges of Cloud Provisioning: </vt:lpstr>
      <vt:lpstr>Tools for Cloud Provisioning: </vt:lpstr>
      <vt:lpstr>Types of Cloud Provisioning: </vt:lpstr>
      <vt:lpstr>PowerPoint Presentation</vt:lpstr>
      <vt:lpstr>Dynamic provisioning or On-demand provisioning: </vt:lpstr>
      <vt:lpstr>Self-service provisioning or user self-provisioning: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16</cp:revision>
  <dcterms:created xsi:type="dcterms:W3CDTF">2026-02-24T07:16:24Z</dcterms:created>
  <dcterms:modified xsi:type="dcterms:W3CDTF">2026-03-24T09:38:40Z</dcterms:modified>
</cp:coreProperties>
</file>