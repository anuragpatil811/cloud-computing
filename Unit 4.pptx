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85" r:id="rId19"/>
    <p:sldId id="287" r:id="rId20"/>
    <p:sldId id="277" r:id="rId21"/>
    <p:sldId id="286" r:id="rId22"/>
    <p:sldId id="278" r:id="rId23"/>
    <p:sldId id="279" r:id="rId24"/>
    <p:sldId id="280" r:id="rId25"/>
    <p:sldId id="281" r:id="rId26"/>
    <p:sldId id="282" r:id="rId27"/>
    <p:sldId id="283" r:id="rId28"/>
    <p:sldId id="284" r:id="rId29"/>
    <p:sldId id="288" r:id="rId30"/>
    <p:sldId id="289" r:id="rId31"/>
    <p:sldId id="290" r:id="rId32"/>
    <p:sldId id="295" r:id="rId33"/>
    <p:sldId id="296" r:id="rId34"/>
    <p:sldId id="297" r:id="rId35"/>
    <p:sldId id="298" r:id="rId36"/>
    <p:sldId id="291" r:id="rId37"/>
    <p:sldId id="292" r:id="rId38"/>
    <p:sldId id="293" r:id="rId39"/>
    <p:sldId id="299" r:id="rId40"/>
    <p:sldId id="300" r:id="rId41"/>
    <p:sldId id="301" r:id="rId42"/>
    <p:sldId id="302" r:id="rId43"/>
    <p:sldId id="303" r:id="rId44"/>
    <p:sldId id="304" r:id="rId45"/>
    <p:sldId id="305" r:id="rId46"/>
    <p:sldId id="306" r:id="rId47"/>
    <p:sldId id="30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94BDD-9F72-D3B0-DCEA-14CDC2F87E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9F9662-4F17-963A-1DB0-C2DABF5EB5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FF00F5-053D-128F-092F-BBFD3D07A743}"/>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5" name="Footer Placeholder 4">
            <a:extLst>
              <a:ext uri="{FF2B5EF4-FFF2-40B4-BE49-F238E27FC236}">
                <a16:creationId xmlns:a16="http://schemas.microsoft.com/office/drawing/2014/main" id="{62D842BB-B27A-010F-7D13-D9A2EE984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2E9111-C18F-AFDD-1C27-9AA5ACA09125}"/>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1433147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16B12-D504-AB5A-6961-7FFF0777AC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0A44B1-2560-42BD-46A1-7AD3B4F82D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D7562C-ABF5-F617-01B7-728CCD2ECF85}"/>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5" name="Footer Placeholder 4">
            <a:extLst>
              <a:ext uri="{FF2B5EF4-FFF2-40B4-BE49-F238E27FC236}">
                <a16:creationId xmlns:a16="http://schemas.microsoft.com/office/drawing/2014/main" id="{B26BE111-6C3D-2CC2-9017-E38D93CE5D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327D47-C469-43B8-D3E7-1D545772FE7A}"/>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611807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A483A-B25D-18A2-43DA-B8EB0220E2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1E10D1-2E8C-2861-61B3-90D8B7BE4B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3EE4BB-EDD7-B8BC-2F10-8D3220BCE5DC}"/>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5" name="Footer Placeholder 4">
            <a:extLst>
              <a:ext uri="{FF2B5EF4-FFF2-40B4-BE49-F238E27FC236}">
                <a16:creationId xmlns:a16="http://schemas.microsoft.com/office/drawing/2014/main" id="{F5D3CA72-1D72-A43B-1BC3-593535175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8242C3-71F1-1BD0-9724-4CA64964C63D}"/>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2719515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A81CF-C52E-09A2-C6C7-531F6F4C96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52E39F-8F24-7723-155E-C7A74318D0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F9B0DE-B488-9912-1E98-D14694A704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3C1A8B-4426-D73E-B36F-BF32D07E1F23}"/>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6" name="Footer Placeholder 5">
            <a:extLst>
              <a:ext uri="{FF2B5EF4-FFF2-40B4-BE49-F238E27FC236}">
                <a16:creationId xmlns:a16="http://schemas.microsoft.com/office/drawing/2014/main" id="{851918B4-9E41-F3D7-3D8D-325917381B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140C43-9765-2A4D-6E2A-6479647E8199}"/>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1432723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A493F-2C66-812E-88AE-0626B5CCC9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173D77-E2C4-8EEB-2FE5-E89F928EB4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8C7D0B-055B-31A1-7399-157217F700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65E625-2447-7866-A195-76F0856E79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CC1239-0BDB-1FA6-041C-D662F2A33A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C96562-4EB6-C014-1ADA-A988B4E701F1}"/>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8" name="Footer Placeholder 7">
            <a:extLst>
              <a:ext uri="{FF2B5EF4-FFF2-40B4-BE49-F238E27FC236}">
                <a16:creationId xmlns:a16="http://schemas.microsoft.com/office/drawing/2014/main" id="{B7E599E8-F9D3-AB03-42A2-2078EC9AB1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510A4F-7D92-0D88-956D-0AC19C9DA7C3}"/>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59564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7D87-CBD3-5DA5-2FBE-980311B99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8A2576-F99E-4073-0ADA-821984B462F2}"/>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4" name="Footer Placeholder 3">
            <a:extLst>
              <a:ext uri="{FF2B5EF4-FFF2-40B4-BE49-F238E27FC236}">
                <a16:creationId xmlns:a16="http://schemas.microsoft.com/office/drawing/2014/main" id="{076ABE3B-B9C7-2E38-BEBE-C3DBA84BFE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77DEE8-819E-6905-9220-B7FDF1CA433A}"/>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2461270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801F75-C424-E382-8945-F83456750BDD}"/>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3" name="Footer Placeholder 2">
            <a:extLst>
              <a:ext uri="{FF2B5EF4-FFF2-40B4-BE49-F238E27FC236}">
                <a16:creationId xmlns:a16="http://schemas.microsoft.com/office/drawing/2014/main" id="{F2B0EFD5-6413-D835-131C-6F346ABBC7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604935-FAC8-8190-FBA4-3C7AA4B08FF3}"/>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574465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F89C7-C919-C7F4-866E-66F6C3E97D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A611FF-F36B-A1E9-4864-AA4F8E971B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FEA539-7196-6EA3-D55C-4AF678C63B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E321DF-0E32-A7D6-18A1-D676E0479BE9}"/>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6" name="Footer Placeholder 5">
            <a:extLst>
              <a:ext uri="{FF2B5EF4-FFF2-40B4-BE49-F238E27FC236}">
                <a16:creationId xmlns:a16="http://schemas.microsoft.com/office/drawing/2014/main" id="{3ECF27F5-05DF-FFFB-A562-8026A49FE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BEF122-4588-6E8E-98F6-2BD6A3542838}"/>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18821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D7F4-F81C-8951-CE03-3422EE30C3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780E9D-F087-65CC-183C-8C8A55C9A5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95339C-3A52-5B78-0CDB-0A5FB9E63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450CFC-B85D-6E38-CB43-365BC08158D1}"/>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6" name="Footer Placeholder 5">
            <a:extLst>
              <a:ext uri="{FF2B5EF4-FFF2-40B4-BE49-F238E27FC236}">
                <a16:creationId xmlns:a16="http://schemas.microsoft.com/office/drawing/2014/main" id="{02C6CD7F-F86F-F3D7-3CEF-23823CCF2C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DBFA4-E2F2-5B92-9AA5-BB94BF908A28}"/>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340865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04AE7-3603-AF29-7417-E9249B2561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9E24A2-4543-2D3C-6AE1-E6413C6812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EBEF27-7CF8-72E6-EAA1-D157159ED216}"/>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5" name="Footer Placeholder 4">
            <a:extLst>
              <a:ext uri="{FF2B5EF4-FFF2-40B4-BE49-F238E27FC236}">
                <a16:creationId xmlns:a16="http://schemas.microsoft.com/office/drawing/2014/main" id="{9EF374EE-DFBF-FE77-27CF-98634CBBDD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31F44-2028-3E65-F66E-4D45F682D191}"/>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3135721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994407-3F89-AF66-FC26-B28BD4A7FD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72E60E-60D4-717A-6303-5BAC2CBB3A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350D2-4FF2-C1D9-1FC9-8434451229EA}"/>
              </a:ext>
            </a:extLst>
          </p:cNvPr>
          <p:cNvSpPr>
            <a:spLocks noGrp="1"/>
          </p:cNvSpPr>
          <p:nvPr>
            <p:ph type="dt" sz="half" idx="10"/>
          </p:nvPr>
        </p:nvSpPr>
        <p:spPr/>
        <p:txBody>
          <a:bodyPr/>
          <a:lstStyle/>
          <a:p>
            <a:fld id="{F632984A-E98B-47C2-A5B0-D8778FD2C1A5}" type="datetimeFigureOut">
              <a:rPr lang="en-US" smtClean="0"/>
              <a:t>3/30/2026</a:t>
            </a:fld>
            <a:endParaRPr lang="en-US"/>
          </a:p>
        </p:txBody>
      </p:sp>
      <p:sp>
        <p:nvSpPr>
          <p:cNvPr id="5" name="Footer Placeholder 4">
            <a:extLst>
              <a:ext uri="{FF2B5EF4-FFF2-40B4-BE49-F238E27FC236}">
                <a16:creationId xmlns:a16="http://schemas.microsoft.com/office/drawing/2014/main" id="{9C094603-F899-E54B-2CAD-5702506ABE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C006C-26E2-EDAA-4672-56D480AD64C4}"/>
              </a:ext>
            </a:extLst>
          </p:cNvPr>
          <p:cNvSpPr>
            <a:spLocks noGrp="1"/>
          </p:cNvSpPr>
          <p:nvPr>
            <p:ph type="sldNum" sz="quarter" idx="12"/>
          </p:nvPr>
        </p:nvSpPr>
        <p:spPr/>
        <p:txBody>
          <a:bodyPr/>
          <a:lstStyle/>
          <a:p>
            <a:fld id="{368E595A-BB2E-4678-9740-9E70FE44D252}" type="slidenum">
              <a:rPr lang="en-US" smtClean="0"/>
              <a:t>‹#›</a:t>
            </a:fld>
            <a:endParaRPr lang="en-US"/>
          </a:p>
        </p:txBody>
      </p:sp>
    </p:spTree>
    <p:extLst>
      <p:ext uri="{BB962C8B-B14F-4D97-AF65-F5344CB8AC3E}">
        <p14:creationId xmlns:p14="http://schemas.microsoft.com/office/powerpoint/2010/main" val="233358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02BAFF-201E-3DC3-D098-63739C0A37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5B9E03-0C54-7148-0348-C4EF400D21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EEDC24-C15B-F4D8-8506-6C3468D605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32984A-E98B-47C2-A5B0-D8778FD2C1A5}" type="datetimeFigureOut">
              <a:rPr lang="en-US" smtClean="0"/>
              <a:t>3/30/2026</a:t>
            </a:fld>
            <a:endParaRPr lang="en-US"/>
          </a:p>
        </p:txBody>
      </p:sp>
      <p:sp>
        <p:nvSpPr>
          <p:cNvPr id="5" name="Footer Placeholder 4">
            <a:extLst>
              <a:ext uri="{FF2B5EF4-FFF2-40B4-BE49-F238E27FC236}">
                <a16:creationId xmlns:a16="http://schemas.microsoft.com/office/drawing/2014/main" id="{E5D3CB8B-3278-89B5-E5DC-8FAEC76D5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EEC0F6A-5646-5BB7-0578-4C48F4F61E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8E595A-BB2E-4678-9740-9E70FE44D252}" type="slidenum">
              <a:rPr lang="en-US" smtClean="0"/>
              <a:t>‹#›</a:t>
            </a:fld>
            <a:endParaRPr lang="en-US"/>
          </a:p>
        </p:txBody>
      </p:sp>
    </p:spTree>
    <p:extLst>
      <p:ext uri="{BB962C8B-B14F-4D97-AF65-F5344CB8AC3E}">
        <p14:creationId xmlns:p14="http://schemas.microsoft.com/office/powerpoint/2010/main" val="636216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cloudsimtutorials.online/cloudsim-setup-using-eclipse/" TargetMode="External"/><Relationship Id="rId2" Type="http://schemas.openxmlformats.org/officeDocument/2006/relationships/hyperlink" Target="https://github.com/Cloudslab/cloudsi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iea.org/reports/data-centres-and-data-transmission-network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techtarget.com/searchdatacenter/tip/How-much-energy-do-data-centers-consume"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techtarget.com/whatis/definition/environmental-social-and-governance-ESG" TargetMode="External"/><Relationship Id="rId2" Type="http://schemas.openxmlformats.org/officeDocument/2006/relationships/hyperlink" Target="https://www.techtarget.com/searchdatacenter/definition/green-computing" TargetMode="External"/><Relationship Id="rId1" Type="http://schemas.openxmlformats.org/officeDocument/2006/relationships/slideLayout" Target="../slideLayouts/slideLayout2.xml"/><Relationship Id="rId4" Type="http://schemas.openxmlformats.org/officeDocument/2006/relationships/hyperlink" Target="https://www.techtarget.com/searchcio/feature/10-key-ESG-and-sustainability-trends-for-business-I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techtarget.com/searchenterpriseai/tip/How-industries-use-AI-to-ensure-sustainability" TargetMode="External"/><Relationship Id="rId2" Type="http://schemas.openxmlformats.org/officeDocument/2006/relationships/hyperlink" Target="https://www.techtarget.com/searchdatacenter/tip/Four-ways-to-reduce-data-center-power-consumption" TargetMode="External"/><Relationship Id="rId1" Type="http://schemas.openxmlformats.org/officeDocument/2006/relationships/slideLayout" Target="../slideLayouts/slideLayout2.xml"/><Relationship Id="rId4" Type="http://schemas.openxmlformats.org/officeDocument/2006/relationships/hyperlink" Target="https://www.techtarget.com/searchdatacenter/definition/hot-cold-aisle"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www.techtarget.com/searchitoperations/definition/virtualization" TargetMode="External"/><Relationship Id="rId2" Type="http://schemas.openxmlformats.org/officeDocument/2006/relationships/hyperlink" Target="https://www.techtarget.com/whatis/definition/dynamic-voltage-and-frequency-scaling-DVF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techtarget.com/searchstorage/tip/Tips-to-reduce-the-environmental-impact-of-data-storage"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techtarget.com/searchstorage/post/An-Introduction-to-the-Storage-Networking-Industry-Association"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D001-83C0-C454-DA1C-52D76E52809C}"/>
              </a:ext>
            </a:extLst>
          </p:cNvPr>
          <p:cNvSpPr>
            <a:spLocks noGrp="1"/>
          </p:cNvSpPr>
          <p:nvPr>
            <p:ph type="ctrTitle"/>
          </p:nvPr>
        </p:nvSpPr>
        <p:spPr/>
        <p:txBody>
          <a:bodyPr/>
          <a:lstStyle/>
          <a:p>
            <a:r>
              <a:rPr lang="en-US" dirty="0"/>
              <a:t>Cloud Simulators</a:t>
            </a:r>
          </a:p>
        </p:txBody>
      </p:sp>
      <p:sp>
        <p:nvSpPr>
          <p:cNvPr id="3" name="Subtitle 2">
            <a:extLst>
              <a:ext uri="{FF2B5EF4-FFF2-40B4-BE49-F238E27FC236}">
                <a16:creationId xmlns:a16="http://schemas.microsoft.com/office/drawing/2014/main" id="{93EBE755-C07B-2A6D-6527-1C5A7C87AD5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59470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D138B-37AA-507B-9675-443C098D3343}"/>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FC18E736-A921-3390-9DBA-3DC20B8A2C2A}"/>
              </a:ext>
            </a:extLst>
          </p:cNvPr>
          <p:cNvSpPr>
            <a:spLocks noGrp="1"/>
          </p:cNvSpPr>
          <p:nvPr>
            <p:ph idx="1"/>
          </p:nvPr>
        </p:nvSpPr>
        <p:spPr/>
        <p:txBody>
          <a:bodyPr/>
          <a:lstStyle/>
          <a:p>
            <a:pPr marL="0" indent="0">
              <a:buNone/>
            </a:pPr>
            <a:r>
              <a:rPr lang="en-US" dirty="0" err="1"/>
              <a:t>CloudSim</a:t>
            </a:r>
            <a:r>
              <a:rPr lang="en-US" dirty="0"/>
              <a:t> and </a:t>
            </a:r>
            <a:r>
              <a:rPr lang="en-US" dirty="0" err="1"/>
              <a:t>GreenCloud</a:t>
            </a:r>
            <a:r>
              <a:rPr lang="en-US" dirty="0"/>
              <a:t> </a:t>
            </a:r>
          </a:p>
          <a:p>
            <a:r>
              <a:rPr lang="en-US" dirty="0"/>
              <a:t>Introduction to Simulator</a:t>
            </a:r>
          </a:p>
          <a:p>
            <a:r>
              <a:rPr lang="en-US" dirty="0"/>
              <a:t>Understanding </a:t>
            </a:r>
            <a:r>
              <a:rPr lang="en-US" dirty="0" err="1"/>
              <a:t>CloudSim</a:t>
            </a:r>
            <a:r>
              <a:rPr lang="en-US" dirty="0"/>
              <a:t> simulator</a:t>
            </a:r>
          </a:p>
          <a:p>
            <a:r>
              <a:rPr lang="en-US" dirty="0" err="1"/>
              <a:t>CloudSim</a:t>
            </a:r>
            <a:r>
              <a:rPr lang="en-US" dirty="0"/>
              <a:t> Architecture(User code, </a:t>
            </a:r>
            <a:r>
              <a:rPr lang="en-US" dirty="0" err="1"/>
              <a:t>CloudSim</a:t>
            </a:r>
            <a:r>
              <a:rPr lang="en-US" dirty="0"/>
              <a:t>, </a:t>
            </a:r>
            <a:r>
              <a:rPr lang="en-US" dirty="0" err="1"/>
              <a:t>GridSim</a:t>
            </a:r>
            <a:r>
              <a:rPr lang="en-US" dirty="0"/>
              <a:t>, </a:t>
            </a:r>
            <a:r>
              <a:rPr lang="en-US" dirty="0" err="1"/>
              <a:t>SimJava</a:t>
            </a:r>
            <a:r>
              <a:rPr lang="en-US" dirty="0"/>
              <a:t>) Understanding Working platform for </a:t>
            </a:r>
            <a:r>
              <a:rPr lang="en-US" dirty="0" err="1"/>
              <a:t>CloudSim</a:t>
            </a:r>
            <a:endParaRPr lang="en-US" dirty="0"/>
          </a:p>
          <a:p>
            <a:r>
              <a:rPr lang="en-US" dirty="0"/>
              <a:t>Introduction to </a:t>
            </a:r>
            <a:r>
              <a:rPr lang="en-US" dirty="0" err="1"/>
              <a:t>GreenCloud</a:t>
            </a:r>
            <a:r>
              <a:rPr lang="en-US" dirty="0"/>
              <a:t>.</a:t>
            </a:r>
          </a:p>
        </p:txBody>
      </p:sp>
    </p:spTree>
    <p:extLst>
      <p:ext uri="{BB962C8B-B14F-4D97-AF65-F5344CB8AC3E}">
        <p14:creationId xmlns:p14="http://schemas.microsoft.com/office/powerpoint/2010/main" val="506216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94DBD-8B68-C5E2-B63A-6CAC02A3BEBB}"/>
              </a:ext>
            </a:extLst>
          </p:cNvPr>
          <p:cNvSpPr>
            <a:spLocks noGrp="1"/>
          </p:cNvSpPr>
          <p:nvPr>
            <p:ph type="title"/>
          </p:nvPr>
        </p:nvSpPr>
        <p:spPr/>
        <p:txBody>
          <a:bodyPr/>
          <a:lstStyle/>
          <a:p>
            <a:r>
              <a:rPr lang="en-US" dirty="0"/>
              <a:t>Introduction to Simulator</a:t>
            </a:r>
            <a:br>
              <a:rPr lang="en-US" dirty="0"/>
            </a:br>
            <a:endParaRPr lang="en-US" dirty="0"/>
          </a:p>
        </p:txBody>
      </p:sp>
      <p:sp>
        <p:nvSpPr>
          <p:cNvPr id="3" name="Content Placeholder 2">
            <a:extLst>
              <a:ext uri="{FF2B5EF4-FFF2-40B4-BE49-F238E27FC236}">
                <a16:creationId xmlns:a16="http://schemas.microsoft.com/office/drawing/2014/main" id="{057DE41A-9DFE-3E97-8125-D79AAB05FF87}"/>
              </a:ext>
            </a:extLst>
          </p:cNvPr>
          <p:cNvSpPr>
            <a:spLocks noGrp="1"/>
          </p:cNvSpPr>
          <p:nvPr>
            <p:ph idx="1"/>
          </p:nvPr>
        </p:nvSpPr>
        <p:spPr/>
        <p:txBody>
          <a:bodyPr>
            <a:normAutofit lnSpcReduction="10000"/>
          </a:bodyPr>
          <a:lstStyle/>
          <a:p>
            <a:pPr algn="just"/>
            <a:r>
              <a:rPr lang="en-US" dirty="0"/>
              <a:t>Although cloud computing‘s inception spans over a decade, still there are many challenging issues which requires a significant amount of research to be done. </a:t>
            </a:r>
          </a:p>
          <a:p>
            <a:pPr algn="just"/>
            <a:r>
              <a:rPr lang="en-US" dirty="0"/>
              <a:t>It is impractical for medium to small sized educational institutions and other organizations to establish a physical cloud for conducting research on cloud computing.</a:t>
            </a:r>
          </a:p>
          <a:p>
            <a:pPr algn="just"/>
            <a:r>
              <a:rPr lang="en-US" dirty="0"/>
              <a:t>It is not possible to perform benchmarking experiments in repeatable, dependable, and scalable environments using real-world cloud environments.</a:t>
            </a:r>
          </a:p>
          <a:p>
            <a:pPr algn="just"/>
            <a:r>
              <a:rPr lang="en-US" dirty="0"/>
              <a:t> A solution for this is to use simulators (virtual reality) which can simulate a real cloud environment.</a:t>
            </a:r>
          </a:p>
          <a:p>
            <a:pPr algn="just"/>
            <a:endParaRPr lang="en-US" dirty="0"/>
          </a:p>
        </p:txBody>
      </p:sp>
    </p:spTree>
    <p:extLst>
      <p:ext uri="{BB962C8B-B14F-4D97-AF65-F5344CB8AC3E}">
        <p14:creationId xmlns:p14="http://schemas.microsoft.com/office/powerpoint/2010/main" val="1074510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4C0E7-FEC9-9C92-12EC-B2CE01B9DB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6C1F61-8B9A-2878-2676-F51A6FC31FD2}"/>
              </a:ext>
            </a:extLst>
          </p:cNvPr>
          <p:cNvSpPr>
            <a:spLocks noGrp="1"/>
          </p:cNvSpPr>
          <p:nvPr>
            <p:ph idx="1"/>
          </p:nvPr>
        </p:nvSpPr>
        <p:spPr/>
        <p:txBody>
          <a:bodyPr>
            <a:normAutofit/>
          </a:bodyPr>
          <a:lstStyle/>
          <a:p>
            <a:r>
              <a:rPr lang="en-US" dirty="0"/>
              <a:t>A cloud simulator helps to model various kinds of cloud applications by creating data centers, virtual machines and other utilities that can be configured appropriately, thus making it easier to analyze. </a:t>
            </a:r>
          </a:p>
          <a:p>
            <a:r>
              <a:rPr lang="en-US" dirty="0"/>
              <a:t>To date many cloud simulators had been developed and are being actively used to conduct cloud research.</a:t>
            </a:r>
          </a:p>
          <a:p>
            <a:endParaRPr lang="en-US" dirty="0"/>
          </a:p>
        </p:txBody>
      </p:sp>
    </p:spTree>
    <p:extLst>
      <p:ext uri="{BB962C8B-B14F-4D97-AF65-F5344CB8AC3E}">
        <p14:creationId xmlns:p14="http://schemas.microsoft.com/office/powerpoint/2010/main" val="3490971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CC98F-8D69-A217-86D8-71656FDADD4D}"/>
              </a:ext>
            </a:extLst>
          </p:cNvPr>
          <p:cNvSpPr>
            <a:spLocks noGrp="1"/>
          </p:cNvSpPr>
          <p:nvPr>
            <p:ph type="title"/>
          </p:nvPr>
        </p:nvSpPr>
        <p:spPr/>
        <p:txBody>
          <a:bodyPr/>
          <a:lstStyle/>
          <a:p>
            <a:r>
              <a:rPr lang="en-US" dirty="0"/>
              <a:t>Example of Simulators</a:t>
            </a:r>
          </a:p>
        </p:txBody>
      </p:sp>
      <p:sp>
        <p:nvSpPr>
          <p:cNvPr id="3" name="Content Placeholder 2">
            <a:extLst>
              <a:ext uri="{FF2B5EF4-FFF2-40B4-BE49-F238E27FC236}">
                <a16:creationId xmlns:a16="http://schemas.microsoft.com/office/drawing/2014/main" id="{E6F0F3F5-AC68-CB80-6929-BFCEE4751F08}"/>
              </a:ext>
            </a:extLst>
          </p:cNvPr>
          <p:cNvSpPr>
            <a:spLocks noGrp="1"/>
          </p:cNvSpPr>
          <p:nvPr>
            <p:ph idx="1"/>
          </p:nvPr>
        </p:nvSpPr>
        <p:spPr/>
        <p:txBody>
          <a:bodyPr/>
          <a:lstStyle/>
          <a:p>
            <a:r>
              <a:rPr lang="en-US" b="1" dirty="0" err="1"/>
              <a:t>CloudSim</a:t>
            </a:r>
            <a:r>
              <a:rPr lang="en-US" dirty="0"/>
              <a:t> </a:t>
            </a:r>
          </a:p>
          <a:p>
            <a:pPr marL="0" indent="0" algn="just">
              <a:buNone/>
            </a:pPr>
            <a:r>
              <a:rPr lang="en-US" dirty="0" err="1"/>
              <a:t>CloudSim</a:t>
            </a:r>
            <a:r>
              <a:rPr lang="en-US" dirty="0"/>
              <a:t> is the most popular simulation tool available for cloud computing environment. </a:t>
            </a:r>
          </a:p>
          <a:p>
            <a:pPr algn="just"/>
            <a:r>
              <a:rPr lang="en-US" b="1" dirty="0" err="1"/>
              <a:t>CloudAnalyst</a:t>
            </a:r>
            <a:r>
              <a:rPr lang="en-US" b="1" dirty="0"/>
              <a:t> </a:t>
            </a:r>
            <a:endParaRPr lang="en-US" dirty="0"/>
          </a:p>
          <a:p>
            <a:pPr marL="0" indent="0" algn="just">
              <a:buNone/>
            </a:pPr>
            <a:r>
              <a:rPr lang="en-US" dirty="0"/>
              <a:t>Wickremasinghe  developed a new simulator called </a:t>
            </a:r>
            <a:r>
              <a:rPr lang="en-US" dirty="0" err="1"/>
              <a:t>CloudAnalyst</a:t>
            </a:r>
            <a:r>
              <a:rPr lang="en-US" dirty="0"/>
              <a:t> which is based up on </a:t>
            </a:r>
            <a:r>
              <a:rPr lang="en-US" dirty="0" err="1"/>
              <a:t>CloudSim</a:t>
            </a:r>
            <a:r>
              <a:rPr lang="en-US" dirty="0"/>
              <a:t>. </a:t>
            </a:r>
          </a:p>
          <a:p>
            <a:pPr marL="0" indent="0" algn="just">
              <a:buNone/>
            </a:pPr>
            <a:r>
              <a:rPr lang="en-US" dirty="0" err="1"/>
              <a:t>CloudAnalyst</a:t>
            </a:r>
            <a:r>
              <a:rPr lang="en-US" dirty="0"/>
              <a:t> was basically developed for evaluating the performance of large-scale distributed cloud applications having high user workload that are geographically distributed over several data centers.</a:t>
            </a:r>
          </a:p>
          <a:p>
            <a:endParaRPr lang="en-US" dirty="0"/>
          </a:p>
        </p:txBody>
      </p:sp>
    </p:spTree>
    <p:extLst>
      <p:ext uri="{BB962C8B-B14F-4D97-AF65-F5344CB8AC3E}">
        <p14:creationId xmlns:p14="http://schemas.microsoft.com/office/powerpoint/2010/main" val="279460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6F370-003E-DB88-8992-60E37756F5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A83310-85C8-6467-2DB1-84174418D6F2}"/>
              </a:ext>
            </a:extLst>
          </p:cNvPr>
          <p:cNvSpPr>
            <a:spLocks noGrp="1"/>
          </p:cNvSpPr>
          <p:nvPr>
            <p:ph idx="1"/>
          </p:nvPr>
        </p:nvSpPr>
        <p:spPr/>
        <p:txBody>
          <a:bodyPr/>
          <a:lstStyle/>
          <a:p>
            <a:r>
              <a:rPr lang="en-US" b="1" dirty="0" err="1"/>
              <a:t>GreenCloud</a:t>
            </a:r>
            <a:r>
              <a:rPr lang="en-US" b="1" dirty="0"/>
              <a:t> </a:t>
            </a:r>
            <a:endParaRPr lang="en-US" dirty="0"/>
          </a:p>
          <a:p>
            <a:pPr algn="just"/>
            <a:r>
              <a:rPr lang="en-US" dirty="0" err="1"/>
              <a:t>GreenCloud</a:t>
            </a:r>
            <a:r>
              <a:rPr lang="en-US" dirty="0"/>
              <a:t> is a packet level simulator developed by extending network simulator NS2. </a:t>
            </a:r>
            <a:r>
              <a:rPr lang="en-US" dirty="0" err="1"/>
              <a:t>CloudSim</a:t>
            </a:r>
            <a:r>
              <a:rPr lang="en-US" dirty="0"/>
              <a:t>, and is specially made for energy-aware environment. </a:t>
            </a:r>
            <a:r>
              <a:rPr lang="en-US" dirty="0" err="1"/>
              <a:t>GreenCloud</a:t>
            </a:r>
            <a:r>
              <a:rPr lang="en-US" dirty="0"/>
              <a:t> is designed so that it can calculate energy consumption at any particular data center components such as link, switch, gateway etc. as well as communication between the packet levels. Further, it offers to know the workload distribution in the system.</a:t>
            </a:r>
          </a:p>
          <a:p>
            <a:endParaRPr lang="en-US" dirty="0"/>
          </a:p>
        </p:txBody>
      </p:sp>
    </p:spTree>
    <p:extLst>
      <p:ext uri="{BB962C8B-B14F-4D97-AF65-F5344CB8AC3E}">
        <p14:creationId xmlns:p14="http://schemas.microsoft.com/office/powerpoint/2010/main" val="4113203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F1C5D-E01D-5467-D530-47124C98F9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CCA083-25FF-D71A-6968-C3A864C1451B}"/>
              </a:ext>
            </a:extLst>
          </p:cNvPr>
          <p:cNvSpPr>
            <a:spLocks noGrp="1"/>
          </p:cNvSpPr>
          <p:nvPr>
            <p:ph idx="1"/>
          </p:nvPr>
        </p:nvSpPr>
        <p:spPr/>
        <p:txBody>
          <a:bodyPr/>
          <a:lstStyle/>
          <a:p>
            <a:r>
              <a:rPr lang="en-US" b="1" dirty="0" err="1"/>
              <a:t>iCanCloud</a:t>
            </a:r>
            <a:r>
              <a:rPr lang="en-US" b="1" dirty="0"/>
              <a:t> </a:t>
            </a:r>
            <a:endParaRPr lang="en-US" dirty="0"/>
          </a:p>
          <a:p>
            <a:pPr algn="just"/>
            <a:r>
              <a:rPr lang="en-US" dirty="0" err="1"/>
              <a:t>iCanCloud</a:t>
            </a:r>
            <a:r>
              <a:rPr lang="en-US" dirty="0"/>
              <a:t> is developed by considering the drawbacks of previous mentioned simulators like </a:t>
            </a:r>
            <a:r>
              <a:rPr lang="en-US" dirty="0" err="1"/>
              <a:t>CloudSim</a:t>
            </a:r>
            <a:r>
              <a:rPr lang="en-US" dirty="0"/>
              <a:t> and </a:t>
            </a:r>
            <a:r>
              <a:rPr lang="en-US" dirty="0" err="1"/>
              <a:t>GreenCloud</a:t>
            </a:r>
            <a:r>
              <a:rPr lang="en-US" dirty="0"/>
              <a:t>. This simulator was developed based on SIMCAN. </a:t>
            </a:r>
          </a:p>
          <a:p>
            <a:pPr algn="just"/>
            <a:r>
              <a:rPr lang="en-US" dirty="0"/>
              <a:t>The unique feature of </a:t>
            </a:r>
            <a:r>
              <a:rPr lang="en-US" dirty="0" err="1"/>
              <a:t>iCanCloud</a:t>
            </a:r>
            <a:r>
              <a:rPr lang="en-US" dirty="0"/>
              <a:t> is that the user can customize the core hypervisor class. Base programming language used for </a:t>
            </a:r>
            <a:r>
              <a:rPr lang="en-US" dirty="0" err="1"/>
              <a:t>iCanCloud</a:t>
            </a:r>
            <a:r>
              <a:rPr lang="en-US" dirty="0"/>
              <a:t> is C++.</a:t>
            </a:r>
          </a:p>
          <a:p>
            <a:endParaRPr lang="en-US" dirty="0"/>
          </a:p>
        </p:txBody>
      </p:sp>
    </p:spTree>
    <p:extLst>
      <p:ext uri="{BB962C8B-B14F-4D97-AF65-F5344CB8AC3E}">
        <p14:creationId xmlns:p14="http://schemas.microsoft.com/office/powerpoint/2010/main" val="1810969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C2A60-88E5-3F99-95A3-649475B4AB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5CDB05-7F80-4DBC-4AC2-B4ABC7AB3CF9}"/>
              </a:ext>
            </a:extLst>
          </p:cNvPr>
          <p:cNvSpPr>
            <a:spLocks noGrp="1"/>
          </p:cNvSpPr>
          <p:nvPr>
            <p:ph idx="1"/>
          </p:nvPr>
        </p:nvSpPr>
        <p:spPr/>
        <p:txBody>
          <a:bodyPr/>
          <a:lstStyle/>
          <a:p>
            <a:r>
              <a:rPr lang="en-US" b="1" dirty="0" err="1"/>
              <a:t>NetworkCloudSim</a:t>
            </a:r>
            <a:r>
              <a:rPr lang="en-US" b="1" dirty="0"/>
              <a:t> </a:t>
            </a:r>
            <a:endParaRPr lang="en-US" dirty="0"/>
          </a:p>
          <a:p>
            <a:pPr algn="just"/>
            <a:r>
              <a:rPr lang="en-US" dirty="0"/>
              <a:t>It is an extension of </a:t>
            </a:r>
            <a:r>
              <a:rPr lang="en-US" dirty="0" err="1"/>
              <a:t>CloudSim</a:t>
            </a:r>
            <a:r>
              <a:rPr lang="en-US" dirty="0"/>
              <a:t>. </a:t>
            </a:r>
            <a:r>
              <a:rPr lang="en-US" dirty="0" err="1"/>
              <a:t>CloudSim</a:t>
            </a:r>
            <a:r>
              <a:rPr lang="en-US" dirty="0"/>
              <a:t> and </a:t>
            </a:r>
            <a:r>
              <a:rPr lang="en-US" dirty="0" err="1"/>
              <a:t>GreenCloud</a:t>
            </a:r>
            <a:r>
              <a:rPr lang="en-US" dirty="0"/>
              <a:t> are basically built for single server architecture and becomes insufficient for real cloud model which involves deploying different types of applications from different customers. </a:t>
            </a:r>
            <a:r>
              <a:rPr lang="en-US" dirty="0" err="1"/>
              <a:t>NetworkCloudSim</a:t>
            </a:r>
            <a:r>
              <a:rPr lang="en-US" dirty="0"/>
              <a:t> supports communication between application elements and various network elements.</a:t>
            </a:r>
          </a:p>
          <a:p>
            <a:endParaRPr lang="en-US" dirty="0"/>
          </a:p>
        </p:txBody>
      </p:sp>
    </p:spTree>
    <p:extLst>
      <p:ext uri="{BB962C8B-B14F-4D97-AF65-F5344CB8AC3E}">
        <p14:creationId xmlns:p14="http://schemas.microsoft.com/office/powerpoint/2010/main" val="3727492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6C99-8253-7FCB-3054-AD1A997FE2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8E6D12-CB17-56F3-C0A1-67AA7359D4BC}"/>
              </a:ext>
            </a:extLst>
          </p:cNvPr>
          <p:cNvSpPr>
            <a:spLocks noGrp="1"/>
          </p:cNvSpPr>
          <p:nvPr>
            <p:ph idx="1"/>
          </p:nvPr>
        </p:nvSpPr>
        <p:spPr/>
        <p:txBody>
          <a:bodyPr/>
          <a:lstStyle/>
          <a:p>
            <a:r>
              <a:rPr lang="en-US" b="1" dirty="0"/>
              <a:t>EMUSIM</a:t>
            </a:r>
            <a:endParaRPr lang="en-US" dirty="0"/>
          </a:p>
          <a:p>
            <a:pPr algn="just"/>
            <a:r>
              <a:rPr lang="en-US" dirty="0"/>
              <a:t>EMUSIM is not only a simulator; it provides both the capabilities of an emulator as well as simulator of a cloud environment. It is developed for CPU intensive SaaS applications which are very costly for actual deployment. For these types of applications customer has to analyze the behavior of the application before subscribing for a cloud plan. EMUSIM is built up on </a:t>
            </a:r>
            <a:r>
              <a:rPr lang="en-US" dirty="0" err="1"/>
              <a:t>CloudSim</a:t>
            </a:r>
            <a:r>
              <a:rPr lang="en-US" dirty="0"/>
              <a:t> and Automated Emulation Framework (AEF).</a:t>
            </a:r>
          </a:p>
          <a:p>
            <a:endParaRPr lang="en-US" dirty="0"/>
          </a:p>
        </p:txBody>
      </p:sp>
    </p:spTree>
    <p:extLst>
      <p:ext uri="{BB962C8B-B14F-4D97-AF65-F5344CB8AC3E}">
        <p14:creationId xmlns:p14="http://schemas.microsoft.com/office/powerpoint/2010/main" val="3620251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83968-79FB-D216-6B62-FCAE7C0ACA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2188C0-D3DB-5A95-0DE1-6B2486A6DAD9}"/>
              </a:ext>
            </a:extLst>
          </p:cNvPr>
          <p:cNvSpPr>
            <a:spLocks noGrp="1"/>
          </p:cNvSpPr>
          <p:nvPr>
            <p:ph idx="1"/>
          </p:nvPr>
        </p:nvSpPr>
        <p:spPr/>
        <p:txBody>
          <a:bodyPr>
            <a:normAutofit fontScale="92500" lnSpcReduction="10000"/>
          </a:bodyPr>
          <a:lstStyle/>
          <a:p>
            <a:pPr algn="just"/>
            <a:r>
              <a:rPr lang="en-US" b="1" dirty="0" err="1"/>
              <a:t>GroudSim</a:t>
            </a:r>
            <a:r>
              <a:rPr lang="en-US" dirty="0"/>
              <a:t> </a:t>
            </a:r>
          </a:p>
          <a:p>
            <a:pPr algn="just"/>
            <a:r>
              <a:rPr lang="en-US" dirty="0" err="1"/>
              <a:t>GroudSim</a:t>
            </a:r>
            <a:r>
              <a:rPr lang="en-US" dirty="0"/>
              <a:t>(Gr-Grid and oud-Cloud Simulator) is a discrete event simulation platform for both cloud and grid computing environments. It is specifically developed for simulating scientific applications in grid and cloud environments.</a:t>
            </a:r>
          </a:p>
          <a:p>
            <a:pPr algn="just"/>
            <a:r>
              <a:rPr lang="en-US" b="1" dirty="0" err="1"/>
              <a:t>DCSim</a:t>
            </a:r>
            <a:endParaRPr lang="en-US" dirty="0"/>
          </a:p>
          <a:p>
            <a:pPr algn="just"/>
            <a:r>
              <a:rPr lang="en-US" dirty="0" err="1"/>
              <a:t>DCSim</a:t>
            </a:r>
            <a:r>
              <a:rPr lang="en-US" dirty="0"/>
              <a:t> simulator was developed to simulate a virtual data center in IaaS model. The data center contains multiple interconnected hosts and each host having its own CPU scheduler and resource management policy. It also supports VM migration among the hosts and sharing of workload between multiple VMs. </a:t>
            </a:r>
            <a:r>
              <a:rPr lang="en-US" dirty="0" err="1"/>
              <a:t>DCSim</a:t>
            </a:r>
            <a:r>
              <a:rPr lang="en-US" dirty="0"/>
              <a:t> simulates data center with centralized management system and neglects data center network topology for higher scalability.</a:t>
            </a:r>
          </a:p>
          <a:p>
            <a:endParaRPr lang="en-US" dirty="0"/>
          </a:p>
        </p:txBody>
      </p:sp>
    </p:spTree>
    <p:extLst>
      <p:ext uri="{BB962C8B-B14F-4D97-AF65-F5344CB8AC3E}">
        <p14:creationId xmlns:p14="http://schemas.microsoft.com/office/powerpoint/2010/main" val="1781365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E89B-F3D9-B677-45E5-3532A268B8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57CB43-8D09-BB7C-7C92-E0269EA3CDBB}"/>
              </a:ext>
            </a:extLst>
          </p:cNvPr>
          <p:cNvSpPr>
            <a:spLocks noGrp="1"/>
          </p:cNvSpPr>
          <p:nvPr>
            <p:ph idx="1"/>
          </p:nvPr>
        </p:nvSpPr>
        <p:spPr/>
        <p:txBody>
          <a:bodyPr/>
          <a:lstStyle/>
          <a:p>
            <a:pPr algn="just"/>
            <a:r>
              <a:rPr lang="en-US" b="1" dirty="0"/>
              <a:t>MR-</a:t>
            </a:r>
            <a:r>
              <a:rPr lang="en-US" b="1" dirty="0" err="1"/>
              <a:t>CloudSim</a:t>
            </a:r>
            <a:r>
              <a:rPr lang="en-US" b="1" dirty="0"/>
              <a:t> </a:t>
            </a:r>
            <a:r>
              <a:rPr lang="en-US" dirty="0"/>
              <a:t>[20]</a:t>
            </a:r>
          </a:p>
          <a:p>
            <a:pPr algn="just"/>
            <a:r>
              <a:rPr lang="en-US" dirty="0"/>
              <a:t>MR-</a:t>
            </a:r>
            <a:r>
              <a:rPr lang="en-US" dirty="0" err="1"/>
              <a:t>CloudSim</a:t>
            </a:r>
            <a:r>
              <a:rPr lang="en-US" dirty="0"/>
              <a:t> was developed based on </a:t>
            </a:r>
            <a:r>
              <a:rPr lang="en-US" dirty="0" err="1"/>
              <a:t>CloudSim</a:t>
            </a:r>
            <a:r>
              <a:rPr lang="en-US" dirty="0"/>
              <a:t> simulator. The unique feature of MR-</a:t>
            </a:r>
            <a:r>
              <a:rPr lang="en-US" dirty="0" err="1"/>
              <a:t>CloudSim</a:t>
            </a:r>
            <a:r>
              <a:rPr lang="en-US" dirty="0"/>
              <a:t> is its support for simulating MapReduce tasks and there by supporting </a:t>
            </a:r>
            <a:r>
              <a:rPr lang="en-US" dirty="0" err="1"/>
              <a:t>BigData</a:t>
            </a:r>
            <a:r>
              <a:rPr lang="en-US" dirty="0"/>
              <a:t> processing. </a:t>
            </a:r>
            <a:r>
              <a:rPr lang="en-US" dirty="0" err="1"/>
              <a:t>CloudSim</a:t>
            </a:r>
            <a:r>
              <a:rPr lang="en-US" dirty="0"/>
              <a:t> simulator does not support file processing, cost and time associated with it. In MR-</a:t>
            </a:r>
            <a:r>
              <a:rPr lang="en-US" dirty="0" err="1"/>
              <a:t>CloudSim</a:t>
            </a:r>
            <a:r>
              <a:rPr lang="en-US" dirty="0"/>
              <a:t>, authors changed some of the core classes in </a:t>
            </a:r>
            <a:r>
              <a:rPr lang="en-US" dirty="0" err="1"/>
              <a:t>CloudSim</a:t>
            </a:r>
            <a:r>
              <a:rPr lang="en-US" dirty="0"/>
              <a:t> to support MapReduce programming model.</a:t>
            </a:r>
          </a:p>
        </p:txBody>
      </p:sp>
    </p:spTree>
    <p:extLst>
      <p:ext uri="{BB962C8B-B14F-4D97-AF65-F5344CB8AC3E}">
        <p14:creationId xmlns:p14="http://schemas.microsoft.com/office/powerpoint/2010/main" val="2454356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BCA79-A95D-FEDF-1AFC-4C1B2AB21C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D5613D-5938-03BA-8738-0B7F60228699}"/>
              </a:ext>
            </a:extLst>
          </p:cNvPr>
          <p:cNvSpPr>
            <a:spLocks noGrp="1"/>
          </p:cNvSpPr>
          <p:nvPr>
            <p:ph idx="1"/>
          </p:nvPr>
        </p:nvSpPr>
        <p:spPr/>
        <p:txBody>
          <a:bodyPr>
            <a:normAutofit fontScale="92500" lnSpcReduction="20000"/>
          </a:bodyPr>
          <a:lstStyle/>
          <a:p>
            <a:pPr algn="just"/>
            <a:r>
              <a:rPr lang="en-US" b="1" dirty="0" err="1"/>
              <a:t>SmartSim</a:t>
            </a:r>
            <a:endParaRPr lang="en-US" dirty="0"/>
          </a:p>
          <a:p>
            <a:pPr algn="just"/>
            <a:r>
              <a:rPr lang="en-US" dirty="0" err="1"/>
              <a:t>SmartSim</a:t>
            </a:r>
            <a:r>
              <a:rPr lang="en-US" dirty="0"/>
              <a:t> is uniquely built for simulating applications for mobile cloud computing. </a:t>
            </a:r>
            <a:r>
              <a:rPr lang="en-US" dirty="0" err="1"/>
              <a:t>SmartSim</a:t>
            </a:r>
            <a:r>
              <a:rPr lang="en-US" dirty="0"/>
              <a:t> is the first ever simulator built that supports mobile cloud applications. Its main feature is to model mobile cloud application running in mobile devices.</a:t>
            </a:r>
          </a:p>
          <a:p>
            <a:pPr algn="just"/>
            <a:r>
              <a:rPr lang="en-US" b="1" dirty="0" err="1"/>
              <a:t>SimIC</a:t>
            </a:r>
            <a:r>
              <a:rPr lang="en-US" b="1" dirty="0"/>
              <a:t> </a:t>
            </a:r>
            <a:endParaRPr lang="en-US" dirty="0"/>
          </a:p>
          <a:p>
            <a:pPr algn="just"/>
            <a:r>
              <a:rPr lang="en-US" dirty="0" err="1"/>
              <a:t>SimIC</a:t>
            </a:r>
            <a:r>
              <a:rPr lang="en-US" dirty="0"/>
              <a:t> is a discrete event simulator built up on the </a:t>
            </a:r>
            <a:r>
              <a:rPr lang="en-US" dirty="0" err="1"/>
              <a:t>SimJava</a:t>
            </a:r>
            <a:r>
              <a:rPr lang="en-US" dirty="0"/>
              <a:t> Package. Recent research is geared towards federated clouds, thus exchanging many services between different cloud data centers and eventually increasing quality of service. None of the above mentioned simulators can simulate inter-cloud activities effectively.</a:t>
            </a:r>
          </a:p>
          <a:p>
            <a:pPr algn="just"/>
            <a:r>
              <a:rPr lang="en-US" dirty="0"/>
              <a:t> </a:t>
            </a:r>
          </a:p>
          <a:p>
            <a:endParaRPr lang="en-US" dirty="0"/>
          </a:p>
        </p:txBody>
      </p:sp>
    </p:spTree>
    <p:extLst>
      <p:ext uri="{BB962C8B-B14F-4D97-AF65-F5344CB8AC3E}">
        <p14:creationId xmlns:p14="http://schemas.microsoft.com/office/powerpoint/2010/main" val="1923641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40F2-3152-A596-6663-F23BCE4B56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4F3027-07FE-48AB-9365-E3DDA4FB315B}"/>
              </a:ext>
            </a:extLst>
          </p:cNvPr>
          <p:cNvSpPr>
            <a:spLocks noGrp="1"/>
          </p:cNvSpPr>
          <p:nvPr>
            <p:ph idx="1"/>
          </p:nvPr>
        </p:nvSpPr>
        <p:spPr/>
        <p:txBody>
          <a:bodyPr>
            <a:normAutofit fontScale="92500" lnSpcReduction="20000"/>
          </a:bodyPr>
          <a:lstStyle/>
          <a:p>
            <a:r>
              <a:rPr lang="en-US" b="1" dirty="0"/>
              <a:t>SPECI </a:t>
            </a:r>
            <a:endParaRPr lang="en-US" dirty="0"/>
          </a:p>
          <a:p>
            <a:pPr algn="just"/>
            <a:r>
              <a:rPr lang="en-US" dirty="0"/>
              <a:t>SPECI(Simulation Program for Elastic Cloud Infrastructures) is a discrete event simulation tool that enables exploration of scaling properties of large data centers. The aim of this project is to simulate the performance and </a:t>
            </a:r>
            <a:r>
              <a:rPr lang="en-US" dirty="0" err="1"/>
              <a:t>behaviour</a:t>
            </a:r>
            <a:r>
              <a:rPr lang="en-US" dirty="0"/>
              <a:t> of data centers, given the size and middleware design policy as input. SPECI is built with </a:t>
            </a:r>
            <a:r>
              <a:rPr lang="en-US" dirty="0" err="1"/>
              <a:t>SimKit</a:t>
            </a:r>
            <a:r>
              <a:rPr lang="en-US" dirty="0"/>
              <a:t> which in turn is developed in Java. SPECI does not provide any support for VMs, load balancing, security and job scheduling.</a:t>
            </a:r>
          </a:p>
          <a:p>
            <a:pPr algn="just"/>
            <a:r>
              <a:rPr lang="en-US" b="1" dirty="0" err="1"/>
              <a:t>DynamicCloudSim</a:t>
            </a:r>
            <a:r>
              <a:rPr lang="en-US" dirty="0"/>
              <a:t> </a:t>
            </a:r>
          </a:p>
          <a:p>
            <a:pPr algn="just"/>
            <a:r>
              <a:rPr lang="en-US" dirty="0" err="1"/>
              <a:t>DynamicCloudSim</a:t>
            </a:r>
            <a:r>
              <a:rPr lang="en-US" dirty="0"/>
              <a:t> is an extension of </a:t>
            </a:r>
            <a:r>
              <a:rPr lang="en-US" dirty="0" err="1"/>
              <a:t>CloudSim</a:t>
            </a:r>
            <a:r>
              <a:rPr lang="en-US" dirty="0"/>
              <a:t> which is able to simulate instability caused due to heterogeneous nature of cloud computing, dynamic changes due to several factors at runtime and failures during task execution.</a:t>
            </a:r>
          </a:p>
          <a:p>
            <a:endParaRPr lang="en-US" dirty="0"/>
          </a:p>
        </p:txBody>
      </p:sp>
    </p:spTree>
    <p:extLst>
      <p:ext uri="{BB962C8B-B14F-4D97-AF65-F5344CB8AC3E}">
        <p14:creationId xmlns:p14="http://schemas.microsoft.com/office/powerpoint/2010/main" val="2814110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54763-A9FC-494E-F912-5549948F54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73C4DD-0F6E-44CA-34A9-DF5267E7D6C9}"/>
              </a:ext>
            </a:extLst>
          </p:cNvPr>
          <p:cNvSpPr>
            <a:spLocks noGrp="1"/>
          </p:cNvSpPr>
          <p:nvPr>
            <p:ph idx="1"/>
          </p:nvPr>
        </p:nvSpPr>
        <p:spPr/>
        <p:txBody>
          <a:bodyPr/>
          <a:lstStyle/>
          <a:p>
            <a:pPr algn="just"/>
            <a:r>
              <a:rPr lang="en-US" b="1" dirty="0" err="1"/>
              <a:t>CloudSimSDN</a:t>
            </a:r>
            <a:endParaRPr lang="en-US" dirty="0"/>
          </a:p>
          <a:p>
            <a:pPr algn="just"/>
            <a:r>
              <a:rPr lang="en-US" dirty="0" err="1"/>
              <a:t>CloudSimSDN</a:t>
            </a:r>
            <a:r>
              <a:rPr lang="en-US" dirty="0"/>
              <a:t> based on </a:t>
            </a:r>
            <a:r>
              <a:rPr lang="en-US" dirty="0" err="1"/>
              <a:t>CloudSim</a:t>
            </a:r>
            <a:r>
              <a:rPr lang="en-US" dirty="0"/>
              <a:t> is a lightweight and scalable simulation environment to </a:t>
            </a:r>
            <a:r>
              <a:rPr lang="en-US" dirty="0" err="1"/>
              <a:t>analyse</a:t>
            </a:r>
            <a:r>
              <a:rPr lang="en-US" dirty="0"/>
              <a:t> the network allocation capacity policies like measuring the network performance and host capacity allocation approaches simultaneously within a data center.</a:t>
            </a:r>
          </a:p>
          <a:p>
            <a:pPr algn="just"/>
            <a:r>
              <a:rPr lang="en-US" b="1" dirty="0" err="1"/>
              <a:t>secCloudSim</a:t>
            </a:r>
            <a:r>
              <a:rPr lang="en-US" b="1" dirty="0"/>
              <a:t> </a:t>
            </a:r>
            <a:endParaRPr lang="en-US" dirty="0"/>
          </a:p>
          <a:p>
            <a:pPr algn="just"/>
            <a:r>
              <a:rPr lang="en-US" dirty="0" err="1"/>
              <a:t>secCloudSim</a:t>
            </a:r>
            <a:r>
              <a:rPr lang="en-US" dirty="0"/>
              <a:t> is an extension of </a:t>
            </a:r>
            <a:r>
              <a:rPr lang="en-US" dirty="0" err="1"/>
              <a:t>iCanCloud</a:t>
            </a:r>
            <a:r>
              <a:rPr lang="en-US" dirty="0"/>
              <a:t> simulator which provides security features like authentication and authorization which are not addressed by any of the existing simulators.</a:t>
            </a:r>
          </a:p>
          <a:p>
            <a:endParaRPr lang="en-US" dirty="0"/>
          </a:p>
        </p:txBody>
      </p:sp>
    </p:spTree>
    <p:extLst>
      <p:ext uri="{BB962C8B-B14F-4D97-AF65-F5344CB8AC3E}">
        <p14:creationId xmlns:p14="http://schemas.microsoft.com/office/powerpoint/2010/main" val="927624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B38C6-ED57-99AF-9172-D3E45696C3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9C3A80-FB53-C15B-2736-03F640D8437E}"/>
              </a:ext>
            </a:extLst>
          </p:cNvPr>
          <p:cNvSpPr>
            <a:spLocks noGrp="1"/>
          </p:cNvSpPr>
          <p:nvPr>
            <p:ph idx="1"/>
          </p:nvPr>
        </p:nvSpPr>
        <p:spPr/>
        <p:txBody>
          <a:bodyPr>
            <a:normAutofit fontScale="85000" lnSpcReduction="20000"/>
          </a:bodyPr>
          <a:lstStyle/>
          <a:p>
            <a:pPr algn="just"/>
            <a:r>
              <a:rPr lang="en-US" b="1" dirty="0" err="1"/>
              <a:t>CEPSim</a:t>
            </a:r>
            <a:endParaRPr lang="en-US" dirty="0"/>
          </a:p>
          <a:p>
            <a:pPr algn="just"/>
            <a:r>
              <a:rPr lang="en-US" dirty="0" err="1"/>
              <a:t>CEPSim</a:t>
            </a:r>
            <a:r>
              <a:rPr lang="en-US" dirty="0"/>
              <a:t> (Complex Event Processing Simulator) is an extension of </a:t>
            </a:r>
            <a:r>
              <a:rPr lang="en-US" dirty="0" err="1"/>
              <a:t>CloudSim</a:t>
            </a:r>
            <a:r>
              <a:rPr lang="en-US" dirty="0"/>
              <a:t> that allows researchers to work with cloud applications that are modeled based on directed acyclic graphs used to represent continuous CEP queries. A key feature of </a:t>
            </a:r>
            <a:r>
              <a:rPr lang="en-US" dirty="0" err="1"/>
              <a:t>CEPSim</a:t>
            </a:r>
            <a:r>
              <a:rPr lang="en-US" dirty="0"/>
              <a:t> is it allows researchers to simulate queries in heterogeneous cloud environments under different load conditions. One drawback of this simulator is dynamic query analysis is not supported.</a:t>
            </a:r>
          </a:p>
          <a:p>
            <a:pPr algn="just"/>
            <a:r>
              <a:rPr lang="en-US" dirty="0"/>
              <a:t> </a:t>
            </a:r>
          </a:p>
          <a:p>
            <a:pPr algn="just"/>
            <a:r>
              <a:rPr lang="en-US" b="1" dirty="0"/>
              <a:t>PICS</a:t>
            </a:r>
            <a:endParaRPr lang="en-US" dirty="0"/>
          </a:p>
          <a:p>
            <a:pPr algn="just"/>
            <a:r>
              <a:rPr lang="en-US" dirty="0"/>
              <a:t>PICS(Public IaaS Cloud Simulator) is a simulator designed from cloud user perspective to evaluate the cost and performance of public IaaS cloud along dimensions like VM, storage service, resource elasticity, job scheduling and diverse workload patterns.</a:t>
            </a:r>
          </a:p>
          <a:p>
            <a:endParaRPr lang="en-US" dirty="0"/>
          </a:p>
        </p:txBody>
      </p:sp>
    </p:spTree>
    <p:extLst>
      <p:ext uri="{BB962C8B-B14F-4D97-AF65-F5344CB8AC3E}">
        <p14:creationId xmlns:p14="http://schemas.microsoft.com/office/powerpoint/2010/main" val="1201541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A107-DEAD-CBDC-C455-7D9E0C50C1CB}"/>
              </a:ext>
            </a:extLst>
          </p:cNvPr>
          <p:cNvSpPr>
            <a:spLocks noGrp="1"/>
          </p:cNvSpPr>
          <p:nvPr>
            <p:ph type="title"/>
          </p:nvPr>
        </p:nvSpPr>
        <p:spPr/>
        <p:txBody>
          <a:bodyPr/>
          <a:lstStyle/>
          <a:p>
            <a:r>
              <a:rPr lang="en-US" dirty="0"/>
              <a:t>Understanding </a:t>
            </a:r>
            <a:r>
              <a:rPr lang="en-US" dirty="0" err="1"/>
              <a:t>CloudSim</a:t>
            </a:r>
            <a:r>
              <a:rPr lang="en-US" dirty="0"/>
              <a:t> simulator</a:t>
            </a:r>
          </a:p>
        </p:txBody>
      </p:sp>
      <p:sp>
        <p:nvSpPr>
          <p:cNvPr id="3" name="Content Placeholder 2">
            <a:extLst>
              <a:ext uri="{FF2B5EF4-FFF2-40B4-BE49-F238E27FC236}">
                <a16:creationId xmlns:a16="http://schemas.microsoft.com/office/drawing/2014/main" id="{C008E881-6E34-F3D5-F1C8-5E550A1D51E3}"/>
              </a:ext>
            </a:extLst>
          </p:cNvPr>
          <p:cNvSpPr>
            <a:spLocks noGrp="1"/>
          </p:cNvSpPr>
          <p:nvPr>
            <p:ph idx="1"/>
          </p:nvPr>
        </p:nvSpPr>
        <p:spPr/>
        <p:txBody>
          <a:bodyPr/>
          <a:lstStyle/>
          <a:p>
            <a:pPr algn="just"/>
            <a:r>
              <a:rPr lang="en-US" b="1" dirty="0" err="1"/>
              <a:t>CloudSim</a:t>
            </a:r>
            <a:r>
              <a:rPr lang="en-US" dirty="0"/>
              <a:t> is an open-source simulation toolkit that allows users to model and simulate cloud computing environments.</a:t>
            </a:r>
          </a:p>
          <a:p>
            <a:pPr algn="just"/>
            <a:r>
              <a:rPr lang="en-US" dirty="0"/>
              <a:t>It provides a framework for simulating the </a:t>
            </a:r>
            <a:r>
              <a:rPr lang="en-US" dirty="0" err="1"/>
              <a:t>behaviour</a:t>
            </a:r>
            <a:r>
              <a:rPr lang="en-US" dirty="0"/>
              <a:t> of cloud resources, data centers, virtual machines (VMs), and cloudlets (tasks) without needing to deploy physical infrastructure.</a:t>
            </a:r>
          </a:p>
          <a:p>
            <a:pPr algn="just"/>
            <a:r>
              <a:rPr lang="en-US" dirty="0"/>
              <a:t>This makes </a:t>
            </a:r>
            <a:r>
              <a:rPr lang="en-US" dirty="0" err="1"/>
              <a:t>CloudSim</a:t>
            </a:r>
            <a:r>
              <a:rPr lang="en-US" dirty="0"/>
              <a:t> an invaluable tool for researchers experimenting with different cloud computing strategies, testing resource allocation algorithms, or </a:t>
            </a:r>
            <a:r>
              <a:rPr lang="en-US" dirty="0" err="1"/>
              <a:t>optimising</a:t>
            </a:r>
            <a:r>
              <a:rPr lang="en-US" dirty="0"/>
              <a:t> cloud performance.</a:t>
            </a:r>
          </a:p>
          <a:p>
            <a:endParaRPr lang="en-US" dirty="0"/>
          </a:p>
        </p:txBody>
      </p:sp>
    </p:spTree>
    <p:extLst>
      <p:ext uri="{BB962C8B-B14F-4D97-AF65-F5344CB8AC3E}">
        <p14:creationId xmlns:p14="http://schemas.microsoft.com/office/powerpoint/2010/main" val="457646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E8F27-5352-E4F3-B991-CB667491F6D2}"/>
              </a:ext>
            </a:extLst>
          </p:cNvPr>
          <p:cNvSpPr>
            <a:spLocks noGrp="1"/>
          </p:cNvSpPr>
          <p:nvPr>
            <p:ph type="title"/>
          </p:nvPr>
        </p:nvSpPr>
        <p:spPr/>
        <p:txBody>
          <a:bodyPr>
            <a:normAutofit fontScale="90000"/>
          </a:bodyPr>
          <a:lstStyle/>
          <a:p>
            <a:r>
              <a:rPr lang="en-US" b="1" dirty="0"/>
              <a:t>Benefits of Simulation over the Actual Deployment:</a:t>
            </a:r>
            <a:br>
              <a:rPr lang="en-US" b="1" dirty="0"/>
            </a:br>
            <a:endParaRPr lang="en-US" dirty="0"/>
          </a:p>
        </p:txBody>
      </p:sp>
      <p:sp>
        <p:nvSpPr>
          <p:cNvPr id="3" name="Content Placeholder 2">
            <a:extLst>
              <a:ext uri="{FF2B5EF4-FFF2-40B4-BE49-F238E27FC236}">
                <a16:creationId xmlns:a16="http://schemas.microsoft.com/office/drawing/2014/main" id="{0FB2F15F-BA5A-13A7-4E52-4D0A49E16C0D}"/>
              </a:ext>
            </a:extLst>
          </p:cNvPr>
          <p:cNvSpPr>
            <a:spLocks noGrp="1"/>
          </p:cNvSpPr>
          <p:nvPr>
            <p:ph idx="1"/>
          </p:nvPr>
        </p:nvSpPr>
        <p:spPr/>
        <p:txBody>
          <a:bodyPr>
            <a:normAutofit fontScale="92500" lnSpcReduction="20000"/>
          </a:bodyPr>
          <a:lstStyle/>
          <a:p>
            <a:pPr algn="just" fontAlgn="base"/>
            <a:r>
              <a:rPr lang="en-US" b="1" dirty="0"/>
              <a:t>No capital investment involved</a:t>
            </a:r>
            <a:r>
              <a:rPr lang="en-US" dirty="0"/>
              <a:t>. With a simulation tool like </a:t>
            </a:r>
            <a:r>
              <a:rPr lang="en-US" dirty="0" err="1"/>
              <a:t>CloudSim</a:t>
            </a:r>
            <a:r>
              <a:rPr lang="en-US" dirty="0"/>
              <a:t> there is no installation or maintenance cost.</a:t>
            </a:r>
          </a:p>
          <a:p>
            <a:pPr algn="just" fontAlgn="base"/>
            <a:r>
              <a:rPr lang="en-US" b="1" dirty="0"/>
              <a:t>Easy to use and Scalable</a:t>
            </a:r>
            <a:r>
              <a:rPr lang="en-US" dirty="0"/>
              <a:t>. You can change the requirements such as adding or deleting resources by changing just a few lines of code.</a:t>
            </a:r>
          </a:p>
          <a:p>
            <a:pPr algn="just" fontAlgn="base"/>
            <a:r>
              <a:rPr lang="en-US" b="1" dirty="0"/>
              <a:t>Risks can be evaluated at an earlier stage</a:t>
            </a:r>
            <a:r>
              <a:rPr lang="en-US" dirty="0"/>
              <a:t>. In Cloud Computing utilization of real testbeds limits the experiments to the scale of the testbed and makes the reproduction of results an extremely difficult undertaking. With simulation, you can test your product against test cases and resolve issues before actual deployment without any limitations.</a:t>
            </a:r>
          </a:p>
          <a:p>
            <a:pPr algn="just" fontAlgn="base"/>
            <a:r>
              <a:rPr lang="en-US" b="1" dirty="0"/>
              <a:t>No need for try-and-error approaches</a:t>
            </a:r>
            <a:r>
              <a:rPr lang="en-US" dirty="0"/>
              <a:t>. Instead of relying on theoretical and imprecise evaluations which can lead to inefficient service performance and revenue generation, you can test your services in a repeatable and controlled environment free of cost with </a:t>
            </a:r>
            <a:r>
              <a:rPr lang="en-US" dirty="0" err="1"/>
              <a:t>CloudSim</a:t>
            </a:r>
            <a:r>
              <a:rPr lang="en-US" dirty="0"/>
              <a:t>.</a:t>
            </a:r>
          </a:p>
          <a:p>
            <a:endParaRPr lang="en-US" dirty="0"/>
          </a:p>
        </p:txBody>
      </p:sp>
    </p:spTree>
    <p:extLst>
      <p:ext uri="{BB962C8B-B14F-4D97-AF65-F5344CB8AC3E}">
        <p14:creationId xmlns:p14="http://schemas.microsoft.com/office/powerpoint/2010/main" val="3506429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55E30-B57F-F0D4-C067-71B674CA0BFA}"/>
              </a:ext>
            </a:extLst>
          </p:cNvPr>
          <p:cNvSpPr>
            <a:spLocks noGrp="1"/>
          </p:cNvSpPr>
          <p:nvPr>
            <p:ph type="title"/>
          </p:nvPr>
        </p:nvSpPr>
        <p:spPr/>
        <p:txBody>
          <a:bodyPr/>
          <a:lstStyle/>
          <a:p>
            <a:r>
              <a:rPr lang="en-US" b="1" dirty="0"/>
              <a:t>Why use </a:t>
            </a:r>
            <a:r>
              <a:rPr lang="en-US" b="1" dirty="0" err="1"/>
              <a:t>CloudSim</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18876A28-E7EE-7C48-B64D-F2843C792B9A}"/>
              </a:ext>
            </a:extLst>
          </p:cNvPr>
          <p:cNvSpPr>
            <a:spLocks noGrp="1"/>
          </p:cNvSpPr>
          <p:nvPr>
            <p:ph idx="1"/>
          </p:nvPr>
        </p:nvSpPr>
        <p:spPr/>
        <p:txBody>
          <a:bodyPr>
            <a:normAutofit fontScale="85000" lnSpcReduction="20000"/>
          </a:bodyPr>
          <a:lstStyle/>
          <a:p>
            <a:pPr algn="just" fontAlgn="base"/>
            <a:r>
              <a:rPr lang="en-US" dirty="0"/>
              <a:t>Below are a few reasons to opt for </a:t>
            </a:r>
            <a:r>
              <a:rPr lang="en-US" dirty="0" err="1"/>
              <a:t>CloudSim</a:t>
            </a:r>
            <a:r>
              <a:rPr lang="en-US" dirty="0"/>
              <a:t>: </a:t>
            </a:r>
          </a:p>
          <a:p>
            <a:pPr algn="just" fontAlgn="base"/>
            <a:r>
              <a:rPr lang="en-US" i="1" dirty="0"/>
              <a:t>Open source</a:t>
            </a:r>
            <a:r>
              <a:rPr lang="en-US" dirty="0"/>
              <a:t> and </a:t>
            </a:r>
            <a:r>
              <a:rPr lang="en-US" i="1" dirty="0"/>
              <a:t>free of cost</a:t>
            </a:r>
            <a:r>
              <a:rPr lang="en-US" dirty="0"/>
              <a:t>, so it </a:t>
            </a:r>
            <a:r>
              <a:rPr lang="en-US" dirty="0" err="1"/>
              <a:t>favours</a:t>
            </a:r>
            <a:r>
              <a:rPr lang="en-US" dirty="0"/>
              <a:t> researchers/developers working in the field.</a:t>
            </a:r>
          </a:p>
          <a:p>
            <a:pPr algn="just" fontAlgn="base"/>
            <a:r>
              <a:rPr lang="en-US" dirty="0"/>
              <a:t>Easy to download and set-up.</a:t>
            </a:r>
          </a:p>
          <a:p>
            <a:pPr algn="just" fontAlgn="base"/>
            <a:r>
              <a:rPr lang="en-US" dirty="0"/>
              <a:t>It is more </a:t>
            </a:r>
            <a:r>
              <a:rPr lang="en-US" i="1" dirty="0"/>
              <a:t>generalized</a:t>
            </a:r>
            <a:r>
              <a:rPr lang="en-US" dirty="0"/>
              <a:t> and </a:t>
            </a:r>
            <a:r>
              <a:rPr lang="en-US" i="1" dirty="0"/>
              <a:t>extensible</a:t>
            </a:r>
            <a:r>
              <a:rPr lang="en-US" dirty="0"/>
              <a:t> to support modelling and experimentation.</a:t>
            </a:r>
          </a:p>
          <a:p>
            <a:pPr algn="just" fontAlgn="base"/>
            <a:r>
              <a:rPr lang="en-US" dirty="0"/>
              <a:t>Does not require any high-specs computer to work on.</a:t>
            </a:r>
          </a:p>
          <a:p>
            <a:pPr algn="just" fontAlgn="base"/>
            <a:r>
              <a:rPr lang="en-US" dirty="0"/>
              <a:t>Provides </a:t>
            </a:r>
            <a:r>
              <a:rPr lang="en-US" i="1" dirty="0"/>
              <a:t>pre-defined allocation policies</a:t>
            </a:r>
            <a:r>
              <a:rPr lang="en-US" dirty="0"/>
              <a:t> and </a:t>
            </a:r>
            <a:r>
              <a:rPr lang="en-US" i="1" dirty="0"/>
              <a:t>utilization models</a:t>
            </a:r>
            <a:r>
              <a:rPr lang="en-US" dirty="0"/>
              <a:t> for managing resources, and allows implementation of user-defined algorithms as well.</a:t>
            </a:r>
          </a:p>
          <a:p>
            <a:pPr algn="just" fontAlgn="base"/>
            <a:r>
              <a:rPr lang="en-US" dirty="0"/>
              <a:t>The documentation provides </a:t>
            </a:r>
            <a:r>
              <a:rPr lang="en-US" i="1" dirty="0"/>
              <a:t>pre-coded examples </a:t>
            </a:r>
            <a:r>
              <a:rPr lang="en-US" dirty="0"/>
              <a:t>for new developers to get familiar with the basic classes and functions.</a:t>
            </a:r>
          </a:p>
          <a:p>
            <a:pPr algn="just" fontAlgn="base"/>
            <a:r>
              <a:rPr lang="en-US" dirty="0"/>
              <a:t>Tackle bottlenecks before deployment to reduce risk, lower costs, increase performance, and raise revenue.</a:t>
            </a:r>
          </a:p>
          <a:p>
            <a:endParaRPr lang="en-US" dirty="0"/>
          </a:p>
        </p:txBody>
      </p:sp>
    </p:spTree>
    <p:extLst>
      <p:ext uri="{BB962C8B-B14F-4D97-AF65-F5344CB8AC3E}">
        <p14:creationId xmlns:p14="http://schemas.microsoft.com/office/powerpoint/2010/main" val="3206961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D3B6-9E64-7688-A4B7-249C3472F079}"/>
              </a:ext>
            </a:extLst>
          </p:cNvPr>
          <p:cNvSpPr>
            <a:spLocks noGrp="1"/>
          </p:cNvSpPr>
          <p:nvPr>
            <p:ph type="title"/>
          </p:nvPr>
        </p:nvSpPr>
        <p:spPr/>
        <p:txBody>
          <a:bodyPr/>
          <a:lstStyle/>
          <a:p>
            <a:r>
              <a:rPr lang="en-US" b="1" dirty="0"/>
              <a:t>Features of </a:t>
            </a:r>
            <a:r>
              <a:rPr lang="en-US" b="1" dirty="0" err="1"/>
              <a:t>CloudSim</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107C52A0-B52A-831A-01DA-2BDB7633D267}"/>
              </a:ext>
            </a:extLst>
          </p:cNvPr>
          <p:cNvSpPr>
            <a:spLocks noGrp="1"/>
          </p:cNvSpPr>
          <p:nvPr>
            <p:ph idx="1"/>
          </p:nvPr>
        </p:nvSpPr>
        <p:spPr/>
        <p:txBody>
          <a:bodyPr>
            <a:normAutofit fontScale="92500" lnSpcReduction="10000"/>
          </a:bodyPr>
          <a:lstStyle/>
          <a:p>
            <a:pPr algn="just" fontAlgn="base"/>
            <a:r>
              <a:rPr lang="en-US" dirty="0" err="1"/>
              <a:t>CloudSim</a:t>
            </a:r>
            <a:r>
              <a:rPr lang="en-US" dirty="0"/>
              <a:t> provides support for simulation and modelling of:</a:t>
            </a:r>
          </a:p>
          <a:p>
            <a:pPr algn="just" fontAlgn="base"/>
            <a:r>
              <a:rPr lang="en-US" dirty="0"/>
              <a:t>Large scale virtualized Datacenters, servers and hosts.</a:t>
            </a:r>
          </a:p>
          <a:p>
            <a:pPr algn="just" fontAlgn="base"/>
            <a:r>
              <a:rPr lang="en-US" dirty="0"/>
              <a:t>Customizable policies for provisioning host to virtual machines.</a:t>
            </a:r>
          </a:p>
          <a:p>
            <a:pPr algn="just" fontAlgn="base"/>
            <a:r>
              <a:rPr lang="en-US" dirty="0"/>
              <a:t>Energy-aware computational resources.</a:t>
            </a:r>
          </a:p>
          <a:p>
            <a:pPr algn="just" fontAlgn="base"/>
            <a:r>
              <a:rPr lang="en-US" dirty="0"/>
              <a:t>Application containers and federated clouds (joining and management of multiple public clouds).</a:t>
            </a:r>
          </a:p>
          <a:p>
            <a:pPr algn="just" fontAlgn="base"/>
            <a:r>
              <a:rPr lang="en-US" dirty="0"/>
              <a:t>Datacenter network topologies and message-passing applications.</a:t>
            </a:r>
          </a:p>
          <a:p>
            <a:pPr algn="just" fontAlgn="base"/>
            <a:r>
              <a:rPr lang="en-US" dirty="0"/>
              <a:t>Dynamic insertion of simulation entities with stop and resume of simulation.</a:t>
            </a:r>
          </a:p>
          <a:p>
            <a:pPr algn="just" fontAlgn="base"/>
            <a:r>
              <a:rPr lang="en-US" dirty="0"/>
              <a:t>User-defined allocation and provisioning policies.</a:t>
            </a:r>
          </a:p>
          <a:p>
            <a:endParaRPr lang="en-US" dirty="0"/>
          </a:p>
        </p:txBody>
      </p:sp>
    </p:spTree>
    <p:extLst>
      <p:ext uri="{BB962C8B-B14F-4D97-AF65-F5344CB8AC3E}">
        <p14:creationId xmlns:p14="http://schemas.microsoft.com/office/powerpoint/2010/main" val="276164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798B-3792-332B-4BE2-C59BD258905B}"/>
              </a:ext>
            </a:extLst>
          </p:cNvPr>
          <p:cNvSpPr>
            <a:spLocks noGrp="1"/>
          </p:cNvSpPr>
          <p:nvPr>
            <p:ph type="title"/>
          </p:nvPr>
        </p:nvSpPr>
        <p:spPr/>
        <p:txBody>
          <a:bodyPr/>
          <a:lstStyle/>
          <a:p>
            <a:r>
              <a:rPr lang="en-US" dirty="0"/>
              <a:t>Architecture of </a:t>
            </a:r>
            <a:r>
              <a:rPr lang="en-US" dirty="0" err="1"/>
              <a:t>CloudSim</a:t>
            </a:r>
            <a:r>
              <a:rPr lang="en-US" dirty="0"/>
              <a:t> </a:t>
            </a:r>
          </a:p>
        </p:txBody>
      </p:sp>
      <p:sp>
        <p:nvSpPr>
          <p:cNvPr id="3" name="Content Placeholder 2">
            <a:extLst>
              <a:ext uri="{FF2B5EF4-FFF2-40B4-BE49-F238E27FC236}">
                <a16:creationId xmlns:a16="http://schemas.microsoft.com/office/drawing/2014/main" id="{AD61B290-1BE0-6766-4F31-03C3C12D51F5}"/>
              </a:ext>
            </a:extLst>
          </p:cNvPr>
          <p:cNvSpPr>
            <a:spLocks noGrp="1"/>
          </p:cNvSpPr>
          <p:nvPr>
            <p:ph idx="1"/>
          </p:nvPr>
        </p:nvSpPr>
        <p:spPr/>
        <p:txBody>
          <a:bodyPr/>
          <a:lstStyle/>
          <a:p>
            <a:pPr algn="just"/>
            <a:r>
              <a:rPr lang="en-US" dirty="0"/>
              <a:t>The architecture of </a:t>
            </a:r>
            <a:r>
              <a:rPr lang="en-US" dirty="0" err="1"/>
              <a:t>CloudSim</a:t>
            </a:r>
            <a:r>
              <a:rPr lang="en-US" dirty="0"/>
              <a:t> is a layered framework designed to model and simulate cloud computing environments. It leverages existing simulation libraries to handle low-level operations, allowing developers to focus on high-level cloud-specific logic.</a:t>
            </a:r>
          </a:p>
        </p:txBody>
      </p:sp>
    </p:spTree>
    <p:extLst>
      <p:ext uri="{BB962C8B-B14F-4D97-AF65-F5344CB8AC3E}">
        <p14:creationId xmlns:p14="http://schemas.microsoft.com/office/powerpoint/2010/main" val="1227495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BA725-2482-AB5C-C2B0-670875AE9D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B12898-36B0-96F8-63D7-E4711C268EC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FDBC13B-CDF9-9516-0D20-E439E774A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769" y="365125"/>
            <a:ext cx="7274103" cy="6127750"/>
          </a:xfrm>
          <a:prstGeom prst="rect">
            <a:avLst/>
          </a:prstGeom>
        </p:spPr>
      </p:pic>
    </p:spTree>
    <p:extLst>
      <p:ext uri="{BB962C8B-B14F-4D97-AF65-F5344CB8AC3E}">
        <p14:creationId xmlns:p14="http://schemas.microsoft.com/office/powerpoint/2010/main" val="198040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A0F0-4D92-DA0B-0D72-0671E776F33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398EF04-B5BA-AF58-7CFF-A3D9253CFEDE}"/>
              </a:ext>
            </a:extLst>
          </p:cNvPr>
          <p:cNvSpPr>
            <a:spLocks noGrp="1"/>
          </p:cNvSpPr>
          <p:nvPr>
            <p:ph idx="1"/>
          </p:nvPr>
        </p:nvSpPr>
        <p:spPr/>
        <p:txBody>
          <a:bodyPr/>
          <a:lstStyle/>
          <a:p>
            <a:r>
              <a:rPr lang="en-US" b="1" dirty="0"/>
              <a:t>User Code (Top Layer):</a:t>
            </a:r>
            <a:r>
              <a:rPr lang="en-US" dirty="0"/>
              <a:t> This is the interface where developers define their specific simulation scenarios. </a:t>
            </a:r>
          </a:p>
          <a:p>
            <a:r>
              <a:rPr lang="en-US" dirty="0"/>
              <a:t>It includes:</a:t>
            </a:r>
          </a:p>
          <a:p>
            <a:pPr lvl="1"/>
            <a:r>
              <a:rPr lang="en-US" b="1" dirty="0"/>
              <a:t>Cloud Scenarios:</a:t>
            </a:r>
            <a:r>
              <a:rPr lang="en-US" dirty="0"/>
              <a:t> Defining the number of users, types of applications, and virtual machines (VMs).</a:t>
            </a:r>
          </a:p>
          <a:p>
            <a:pPr lvl="1"/>
            <a:r>
              <a:rPr lang="en-US" b="1" dirty="0"/>
              <a:t>Custom Policies:</a:t>
            </a:r>
            <a:r>
              <a:rPr lang="en-US" dirty="0"/>
              <a:t> Implementing specific scheduling algorithms (like FCFS or Round Robin) and resource provisioning strategies.</a:t>
            </a:r>
          </a:p>
          <a:p>
            <a:pPr lvl="1"/>
            <a:r>
              <a:rPr lang="en-US" b="1" dirty="0"/>
              <a:t>Configurations:</a:t>
            </a:r>
            <a:r>
              <a:rPr lang="en-US" dirty="0"/>
              <a:t> Setting hardware specifications for hosts, such as CPU cores, RAM, and bandwidth.</a:t>
            </a:r>
          </a:p>
          <a:p>
            <a:endParaRPr lang="en-US" dirty="0"/>
          </a:p>
        </p:txBody>
      </p:sp>
    </p:spTree>
    <p:extLst>
      <p:ext uri="{BB962C8B-B14F-4D97-AF65-F5344CB8AC3E}">
        <p14:creationId xmlns:p14="http://schemas.microsoft.com/office/powerpoint/2010/main" val="40564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1455E-4890-6FA6-F372-B243036BA5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6BAB2E-8F5E-0894-54E1-ACF4F2871700}"/>
              </a:ext>
            </a:extLst>
          </p:cNvPr>
          <p:cNvSpPr>
            <a:spLocks noGrp="1"/>
          </p:cNvSpPr>
          <p:nvPr>
            <p:ph idx="1"/>
          </p:nvPr>
        </p:nvSpPr>
        <p:spPr/>
        <p:txBody>
          <a:bodyPr/>
          <a:lstStyle/>
          <a:p>
            <a:r>
              <a:rPr lang="en-US" b="1" dirty="0" err="1"/>
              <a:t>CloudSim</a:t>
            </a:r>
            <a:r>
              <a:rPr lang="en-US" b="1" dirty="0"/>
              <a:t> (Second Layer):</a:t>
            </a:r>
            <a:r>
              <a:rPr lang="en-US" dirty="0"/>
              <a:t> This layer provides the core cloud-specific simulation functionalities. </a:t>
            </a:r>
          </a:p>
          <a:p>
            <a:r>
              <a:rPr lang="en-US" dirty="0"/>
              <a:t>It manages:</a:t>
            </a:r>
          </a:p>
          <a:p>
            <a:pPr lvl="1"/>
            <a:r>
              <a:rPr lang="en-US" b="1" dirty="0"/>
              <a:t>Core Entities:</a:t>
            </a:r>
            <a:r>
              <a:rPr lang="en-US" dirty="0"/>
              <a:t> Managing the lifecycle (creation, execution, and destruction) of VMs, Cloudlets (tasks), and Hosts.</a:t>
            </a:r>
          </a:p>
          <a:p>
            <a:pPr lvl="1"/>
            <a:r>
              <a:rPr lang="en-US" b="1" dirty="0"/>
              <a:t>Resource Provisioning:</a:t>
            </a:r>
            <a:r>
              <a:rPr lang="en-US" dirty="0"/>
              <a:t> Handling how physical resources are allocated to VMs based on user requests.</a:t>
            </a:r>
          </a:p>
          <a:p>
            <a:pPr lvl="1"/>
            <a:r>
              <a:rPr lang="en-US" b="1" dirty="0"/>
              <a:t>Dynamic Monitoring:</a:t>
            </a:r>
            <a:r>
              <a:rPr lang="en-US" dirty="0"/>
              <a:t> Tracking resource utilization and application execution in real-time.</a:t>
            </a:r>
          </a:p>
          <a:p>
            <a:endParaRPr lang="en-US" dirty="0"/>
          </a:p>
        </p:txBody>
      </p:sp>
    </p:spTree>
    <p:extLst>
      <p:ext uri="{BB962C8B-B14F-4D97-AF65-F5344CB8AC3E}">
        <p14:creationId xmlns:p14="http://schemas.microsoft.com/office/powerpoint/2010/main" val="4175031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6F72-6DC7-25F0-5C6C-AA012430F6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24418A-6A6D-FBF0-34FF-C05065A7D97C}"/>
              </a:ext>
            </a:extLst>
          </p:cNvPr>
          <p:cNvSpPr>
            <a:spLocks noGrp="1"/>
          </p:cNvSpPr>
          <p:nvPr>
            <p:ph idx="1"/>
          </p:nvPr>
        </p:nvSpPr>
        <p:spPr/>
        <p:txBody>
          <a:bodyPr/>
          <a:lstStyle/>
          <a:p>
            <a:pPr algn="just"/>
            <a:r>
              <a:rPr lang="en-US" b="1" dirty="0" err="1"/>
              <a:t>GridSim</a:t>
            </a:r>
            <a:r>
              <a:rPr lang="en-US" b="1" dirty="0"/>
              <a:t> (Third Layer):</a:t>
            </a:r>
            <a:r>
              <a:rPr lang="en-US" dirty="0"/>
              <a:t> </a:t>
            </a:r>
            <a:r>
              <a:rPr lang="en-US" dirty="0" err="1"/>
              <a:t>CloudSim</a:t>
            </a:r>
            <a:r>
              <a:rPr lang="en-US" dirty="0"/>
              <a:t> extends the </a:t>
            </a:r>
            <a:r>
              <a:rPr lang="en-US" dirty="0" err="1"/>
              <a:t>GridSim</a:t>
            </a:r>
            <a:r>
              <a:rPr lang="en-US" dirty="0"/>
              <a:t> Toolkit to handle distributed resource management. </a:t>
            </a:r>
          </a:p>
          <a:p>
            <a:pPr algn="just"/>
            <a:r>
              <a:rPr lang="en-US" dirty="0"/>
              <a:t>It provides:</a:t>
            </a:r>
          </a:p>
          <a:p>
            <a:pPr lvl="1" algn="just"/>
            <a:r>
              <a:rPr lang="en-US" b="1" dirty="0"/>
              <a:t>Grid Modeling:</a:t>
            </a:r>
            <a:r>
              <a:rPr lang="en-US" dirty="0"/>
              <a:t> Infrastructure for modeling grid-based entities like users, machines, and networks.</a:t>
            </a:r>
          </a:p>
          <a:p>
            <a:pPr lvl="1" algn="just"/>
            <a:r>
              <a:rPr lang="en-US" b="1" dirty="0"/>
              <a:t>Information Services:</a:t>
            </a:r>
            <a:r>
              <a:rPr lang="en-US" dirty="0"/>
              <a:t> Handling resource discovery and registration across multiple simulated organizations.</a:t>
            </a:r>
          </a:p>
          <a:p>
            <a:pPr lvl="1" algn="just"/>
            <a:r>
              <a:rPr lang="en-US" b="1" dirty="0"/>
              <a:t>Networking Support:</a:t>
            </a:r>
            <a:r>
              <a:rPr lang="en-US" dirty="0"/>
              <a:t> Managing the communication and data transfer between different system components.</a:t>
            </a:r>
          </a:p>
          <a:p>
            <a:endParaRPr lang="en-US" dirty="0"/>
          </a:p>
        </p:txBody>
      </p:sp>
    </p:spTree>
    <p:extLst>
      <p:ext uri="{BB962C8B-B14F-4D97-AF65-F5344CB8AC3E}">
        <p14:creationId xmlns:p14="http://schemas.microsoft.com/office/powerpoint/2010/main" val="2661871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85042-60F1-34F4-257F-E38CC8F54D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60BC07-0081-1B5D-F5B6-1C125BBA09EB}"/>
              </a:ext>
            </a:extLst>
          </p:cNvPr>
          <p:cNvSpPr>
            <a:spLocks noGrp="1"/>
          </p:cNvSpPr>
          <p:nvPr>
            <p:ph idx="1"/>
          </p:nvPr>
        </p:nvSpPr>
        <p:spPr/>
        <p:txBody>
          <a:bodyPr/>
          <a:lstStyle/>
          <a:p>
            <a:r>
              <a:rPr lang="en-US" b="1" dirty="0" err="1"/>
              <a:t>SimJava</a:t>
            </a:r>
            <a:r>
              <a:rPr lang="en-US" b="1" dirty="0"/>
              <a:t> (Bottom Layer):</a:t>
            </a:r>
            <a:r>
              <a:rPr lang="en-US" dirty="0"/>
              <a:t> At the foundation, </a:t>
            </a:r>
            <a:r>
              <a:rPr lang="en-US" dirty="0" err="1"/>
              <a:t>SimJava</a:t>
            </a:r>
            <a:r>
              <a:rPr lang="en-US" dirty="0"/>
              <a:t> serves as the low-level discrete-event simulation engine. </a:t>
            </a:r>
          </a:p>
          <a:p>
            <a:r>
              <a:rPr lang="en-US" dirty="0"/>
              <a:t>It handles:</a:t>
            </a:r>
          </a:p>
          <a:p>
            <a:pPr lvl="1"/>
            <a:r>
              <a:rPr lang="en-US" b="1" dirty="0"/>
              <a:t>Event Management:</a:t>
            </a:r>
            <a:r>
              <a:rPr lang="en-US" dirty="0"/>
              <a:t> Queuing and processing events to advance the simulation clock.</a:t>
            </a:r>
          </a:p>
          <a:p>
            <a:pPr lvl="1"/>
            <a:r>
              <a:rPr lang="en-US" b="1" dirty="0"/>
              <a:t>Message Passing:</a:t>
            </a:r>
            <a:r>
              <a:rPr lang="en-US" dirty="0"/>
              <a:t> Facilitating communication between different simulation entities through event objects.</a:t>
            </a:r>
          </a:p>
          <a:p>
            <a:pPr lvl="1"/>
            <a:r>
              <a:rPr lang="en-US" b="1" dirty="0"/>
              <a:t>Parallel Execution:</a:t>
            </a:r>
            <a:r>
              <a:rPr lang="en-US" dirty="0"/>
              <a:t> Using Java threads to execute multiple simulation entities concurrently.</a:t>
            </a:r>
          </a:p>
        </p:txBody>
      </p:sp>
    </p:spTree>
    <p:extLst>
      <p:ext uri="{BB962C8B-B14F-4D97-AF65-F5344CB8AC3E}">
        <p14:creationId xmlns:p14="http://schemas.microsoft.com/office/powerpoint/2010/main" val="1849027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D1A3-3154-4C04-BB2C-1D3FC95FC21C}"/>
              </a:ext>
            </a:extLst>
          </p:cNvPr>
          <p:cNvSpPr>
            <a:spLocks noGrp="1"/>
          </p:cNvSpPr>
          <p:nvPr>
            <p:ph type="title"/>
          </p:nvPr>
        </p:nvSpPr>
        <p:spPr/>
        <p:txBody>
          <a:bodyPr/>
          <a:lstStyle/>
          <a:p>
            <a:r>
              <a:rPr lang="en-US" dirty="0"/>
              <a:t>Understanding Working platform for </a:t>
            </a:r>
            <a:r>
              <a:rPr lang="en-US" dirty="0" err="1"/>
              <a:t>CloudSim</a:t>
            </a:r>
            <a:endParaRPr lang="en-US" dirty="0"/>
          </a:p>
        </p:txBody>
      </p:sp>
      <p:sp>
        <p:nvSpPr>
          <p:cNvPr id="3" name="Content Placeholder 2">
            <a:extLst>
              <a:ext uri="{FF2B5EF4-FFF2-40B4-BE49-F238E27FC236}">
                <a16:creationId xmlns:a16="http://schemas.microsoft.com/office/drawing/2014/main" id="{83DC0D62-19C0-B751-78E9-5D17B5004C93}"/>
              </a:ext>
            </a:extLst>
          </p:cNvPr>
          <p:cNvSpPr>
            <a:spLocks noGrp="1"/>
          </p:cNvSpPr>
          <p:nvPr>
            <p:ph idx="1"/>
          </p:nvPr>
        </p:nvSpPr>
        <p:spPr/>
        <p:txBody>
          <a:bodyPr/>
          <a:lstStyle/>
          <a:p>
            <a:r>
              <a:rPr lang="en-US" dirty="0"/>
              <a:t>The </a:t>
            </a:r>
            <a:r>
              <a:rPr lang="en-US" b="1" dirty="0" err="1"/>
              <a:t>CloudSim</a:t>
            </a:r>
            <a:r>
              <a:rPr lang="en-US" b="1" dirty="0"/>
              <a:t> API</a:t>
            </a:r>
            <a:r>
              <a:rPr lang="en-US" dirty="0"/>
              <a:t> is the backbone of the </a:t>
            </a:r>
            <a:r>
              <a:rPr lang="en-US" dirty="0" err="1"/>
              <a:t>CloudSim</a:t>
            </a:r>
            <a:r>
              <a:rPr lang="en-US" dirty="0"/>
              <a:t> simulation toolkit. It provides a set of Java-based libraries and tools that enable users to create detailed cloud simulations.</a:t>
            </a:r>
          </a:p>
          <a:p>
            <a:r>
              <a:rPr lang="en-US" dirty="0"/>
              <a:t> It is further bundled and shipped as a JAR file, and that is known as </a:t>
            </a:r>
            <a:r>
              <a:rPr lang="en-US" b="1" dirty="0" err="1"/>
              <a:t>CloudSim</a:t>
            </a:r>
            <a:r>
              <a:rPr lang="en-US" b="1" dirty="0"/>
              <a:t> API</a:t>
            </a:r>
            <a:r>
              <a:rPr lang="en-US" dirty="0"/>
              <a:t>.</a:t>
            </a:r>
          </a:p>
        </p:txBody>
      </p:sp>
    </p:spTree>
    <p:extLst>
      <p:ext uri="{BB962C8B-B14F-4D97-AF65-F5344CB8AC3E}">
        <p14:creationId xmlns:p14="http://schemas.microsoft.com/office/powerpoint/2010/main" val="19793201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E6B34-D10E-78FF-CFB7-32F1E2647804}"/>
              </a:ext>
            </a:extLst>
          </p:cNvPr>
          <p:cNvSpPr>
            <a:spLocks noGrp="1"/>
          </p:cNvSpPr>
          <p:nvPr>
            <p:ph type="title"/>
          </p:nvPr>
        </p:nvSpPr>
        <p:spPr/>
        <p:txBody>
          <a:bodyPr/>
          <a:lstStyle/>
          <a:p>
            <a:r>
              <a:rPr lang="en-US" b="1" dirty="0"/>
              <a:t>Core Components of </a:t>
            </a:r>
            <a:r>
              <a:rPr lang="en-US" b="1" dirty="0" err="1"/>
              <a:t>CloudSim</a:t>
            </a:r>
            <a:r>
              <a:rPr lang="en-US" b="1" dirty="0"/>
              <a:t> API</a:t>
            </a:r>
            <a:br>
              <a:rPr lang="en-US" dirty="0"/>
            </a:br>
            <a:endParaRPr lang="en-US" dirty="0"/>
          </a:p>
        </p:txBody>
      </p:sp>
      <p:sp>
        <p:nvSpPr>
          <p:cNvPr id="3" name="Content Placeholder 2">
            <a:extLst>
              <a:ext uri="{FF2B5EF4-FFF2-40B4-BE49-F238E27FC236}">
                <a16:creationId xmlns:a16="http://schemas.microsoft.com/office/drawing/2014/main" id="{9B164663-D352-F70C-CFC4-792F0FA16AE6}"/>
              </a:ext>
            </a:extLst>
          </p:cNvPr>
          <p:cNvSpPr>
            <a:spLocks noGrp="1"/>
          </p:cNvSpPr>
          <p:nvPr>
            <p:ph idx="1"/>
          </p:nvPr>
        </p:nvSpPr>
        <p:spPr/>
        <p:txBody>
          <a:bodyPr>
            <a:normAutofit fontScale="92500" lnSpcReduction="20000"/>
          </a:bodyPr>
          <a:lstStyle/>
          <a:p>
            <a:pPr marL="0" indent="0" algn="just">
              <a:buNone/>
            </a:pPr>
            <a:r>
              <a:rPr lang="en-US" dirty="0"/>
              <a:t>To effectively use the </a:t>
            </a:r>
            <a:r>
              <a:rPr lang="en-US" dirty="0" err="1"/>
              <a:t>CloudSim</a:t>
            </a:r>
            <a:r>
              <a:rPr lang="en-US" dirty="0"/>
              <a:t> API, it’s crucial to understand its core components and how they interact within a simulation. Here are the primary components you’ll work with:</a:t>
            </a:r>
          </a:p>
          <a:p>
            <a:pPr algn="just"/>
            <a:r>
              <a:rPr lang="en-US" b="1" dirty="0"/>
              <a:t>Datacenter</a:t>
            </a:r>
            <a:r>
              <a:rPr lang="en-US" dirty="0"/>
              <a:t>: Represents the physical infrastructure where resources like CPU, memory, storage, and bandwidth are allocated.</a:t>
            </a:r>
          </a:p>
          <a:p>
            <a:pPr algn="just"/>
            <a:r>
              <a:rPr lang="en-US" b="1" dirty="0"/>
              <a:t>Host</a:t>
            </a:r>
            <a:r>
              <a:rPr lang="en-US" dirty="0"/>
              <a:t>: A physical machine within a data center that houses one or more virtual machines (VMs).</a:t>
            </a:r>
          </a:p>
          <a:p>
            <a:pPr algn="just"/>
            <a:r>
              <a:rPr lang="en-US" b="1" dirty="0"/>
              <a:t>VM (Virtual Machine)</a:t>
            </a:r>
            <a:r>
              <a:rPr lang="en-US" dirty="0"/>
              <a:t>: A software-based simulation of a physical machine that runs on a host and executes tasks (cloudlets).</a:t>
            </a:r>
          </a:p>
          <a:p>
            <a:pPr algn="just"/>
            <a:r>
              <a:rPr lang="en-US" b="1" dirty="0"/>
              <a:t>Cloudlet</a:t>
            </a:r>
            <a:r>
              <a:rPr lang="en-US" dirty="0"/>
              <a:t>: Represents the tasks or jobs submitted to the cloud infrastructure, which are then processed by VMs.</a:t>
            </a:r>
          </a:p>
          <a:p>
            <a:pPr algn="just"/>
            <a:r>
              <a:rPr lang="en-US" b="1" dirty="0" err="1"/>
              <a:t>DatacenterBroker</a:t>
            </a:r>
            <a:r>
              <a:rPr lang="en-US" dirty="0"/>
              <a:t>: Manages the distribution of cloudlets to VMs and monitors their execution.</a:t>
            </a:r>
          </a:p>
          <a:p>
            <a:endParaRPr lang="en-US" dirty="0"/>
          </a:p>
        </p:txBody>
      </p:sp>
    </p:spTree>
    <p:extLst>
      <p:ext uri="{BB962C8B-B14F-4D97-AF65-F5344CB8AC3E}">
        <p14:creationId xmlns:p14="http://schemas.microsoft.com/office/powerpoint/2010/main" val="2492488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9E976CE-1B7A-3802-61B2-7FD9E25C4585}"/>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02954A57-CAD1-5AED-1207-A541AF962800}"/>
              </a:ext>
            </a:extLst>
          </p:cNvPr>
          <p:cNvSpPr>
            <a:spLocks noGrp="1"/>
          </p:cNvSpPr>
          <p:nvPr>
            <p:ph sz="half" idx="1"/>
          </p:nvPr>
        </p:nvSpPr>
        <p:spPr/>
        <p:txBody>
          <a:bodyPr>
            <a:normAutofit lnSpcReduction="10000"/>
          </a:bodyPr>
          <a:lstStyle/>
          <a:p>
            <a:pPr algn="just"/>
            <a:r>
              <a:rPr lang="en-US" dirty="0"/>
              <a:t>The figure displayed will basically help you visualize on how the simulation engine of </a:t>
            </a:r>
            <a:r>
              <a:rPr lang="en-US" dirty="0" err="1"/>
              <a:t>Cloudsim</a:t>
            </a:r>
            <a:r>
              <a:rPr lang="en-US" dirty="0"/>
              <a:t> simulation toolkit performs the resource allocation where the datacenter model will hold the host models and this host model further host the one or more virtual machines and each virtual machine will hold certain allocated task for the task execution simulation.</a:t>
            </a:r>
          </a:p>
        </p:txBody>
      </p:sp>
      <p:sp>
        <p:nvSpPr>
          <p:cNvPr id="8" name="Content Placeholder 7">
            <a:extLst>
              <a:ext uri="{FF2B5EF4-FFF2-40B4-BE49-F238E27FC236}">
                <a16:creationId xmlns:a16="http://schemas.microsoft.com/office/drawing/2014/main" id="{9D2FFA7E-4945-45FA-96E6-CFAA7D1B4AD5}"/>
              </a:ext>
            </a:extLst>
          </p:cNvPr>
          <p:cNvSpPr>
            <a:spLocks noGrp="1"/>
          </p:cNvSpPr>
          <p:nvPr>
            <p:ph sz="half" idx="2"/>
          </p:nvPr>
        </p:nvSpPr>
        <p:spPr/>
        <p:txBody>
          <a:bodyPr>
            <a:normAutofit lnSpcReduction="10000"/>
          </a:bodyPr>
          <a:lstStyle/>
          <a:p>
            <a:endParaRPr lang="en-US"/>
          </a:p>
        </p:txBody>
      </p:sp>
      <p:pic>
        <p:nvPicPr>
          <p:cNvPr id="5" name="Picture 4">
            <a:extLst>
              <a:ext uri="{FF2B5EF4-FFF2-40B4-BE49-F238E27FC236}">
                <a16:creationId xmlns:a16="http://schemas.microsoft.com/office/drawing/2014/main" id="{6668F502-F446-B624-455C-C6E7D5DB3CF8}"/>
              </a:ext>
            </a:extLst>
          </p:cNvPr>
          <p:cNvPicPr>
            <a:picLocks noChangeAspect="1"/>
          </p:cNvPicPr>
          <p:nvPr/>
        </p:nvPicPr>
        <p:blipFill>
          <a:blip r:embed="rId2"/>
          <a:stretch>
            <a:fillRect/>
          </a:stretch>
        </p:blipFill>
        <p:spPr>
          <a:xfrm>
            <a:off x="6147798" y="1447372"/>
            <a:ext cx="5282202" cy="5282202"/>
          </a:xfrm>
          <a:prstGeom prst="rect">
            <a:avLst/>
          </a:prstGeom>
        </p:spPr>
      </p:pic>
    </p:spTree>
    <p:extLst>
      <p:ext uri="{BB962C8B-B14F-4D97-AF65-F5344CB8AC3E}">
        <p14:creationId xmlns:p14="http://schemas.microsoft.com/office/powerpoint/2010/main" val="949987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835663-7CCD-156A-D6EC-1C1E4DCBDCFE}"/>
              </a:ext>
            </a:extLst>
          </p:cNvPr>
          <p:cNvSpPr>
            <a:spLocks noGrp="1"/>
          </p:cNvSpPr>
          <p:nvPr>
            <p:ph type="title"/>
          </p:nvPr>
        </p:nvSpPr>
        <p:spPr/>
        <p:txBody>
          <a:bodyPr>
            <a:normAutofit fontScale="90000"/>
          </a:bodyPr>
          <a:lstStyle/>
          <a:p>
            <a:r>
              <a:rPr lang="en-US" b="1" dirty="0"/>
              <a:t>How </a:t>
            </a:r>
            <a:r>
              <a:rPr lang="en-US" b="1" dirty="0" err="1"/>
              <a:t>CloudSim</a:t>
            </a:r>
            <a:r>
              <a:rPr lang="en-US" b="1" dirty="0"/>
              <a:t> API for Cloud Simulations Works</a:t>
            </a:r>
            <a:br>
              <a:rPr lang="en-US" dirty="0"/>
            </a:br>
            <a:endParaRPr lang="en-US" dirty="0"/>
          </a:p>
        </p:txBody>
      </p:sp>
      <p:sp>
        <p:nvSpPr>
          <p:cNvPr id="6" name="Content Placeholder 5">
            <a:extLst>
              <a:ext uri="{FF2B5EF4-FFF2-40B4-BE49-F238E27FC236}">
                <a16:creationId xmlns:a16="http://schemas.microsoft.com/office/drawing/2014/main" id="{18C29672-7BF5-B210-B8F2-0F4DF34A8A17}"/>
              </a:ext>
            </a:extLst>
          </p:cNvPr>
          <p:cNvSpPr>
            <a:spLocks noGrp="1"/>
          </p:cNvSpPr>
          <p:nvPr>
            <p:ph idx="1"/>
          </p:nvPr>
        </p:nvSpPr>
        <p:spPr/>
        <p:txBody>
          <a:bodyPr>
            <a:normAutofit fontScale="92500" lnSpcReduction="10000"/>
          </a:bodyPr>
          <a:lstStyle/>
          <a:p>
            <a:pPr marL="0" indent="0" algn="just">
              <a:buNone/>
            </a:pPr>
            <a:r>
              <a:rPr lang="en-US" dirty="0"/>
              <a:t>The </a:t>
            </a:r>
            <a:r>
              <a:rPr lang="en-US" b="1" dirty="0" err="1"/>
              <a:t>CloudSim</a:t>
            </a:r>
            <a:r>
              <a:rPr lang="en-US" b="1" dirty="0"/>
              <a:t> API for cloud simulations</a:t>
            </a:r>
            <a:r>
              <a:rPr lang="en-US" dirty="0"/>
              <a:t> works by providing a hierarchical structure of classes and methods, each designed to simulate a specific aspect of cloud computing.</a:t>
            </a:r>
          </a:p>
          <a:p>
            <a:pPr marL="0" indent="0" algn="just">
              <a:buNone/>
            </a:pPr>
            <a:r>
              <a:rPr lang="en-US" dirty="0"/>
              <a:t>Here’s a step-by-step breakdown of how the </a:t>
            </a:r>
            <a:r>
              <a:rPr lang="en-US" dirty="0" err="1"/>
              <a:t>CloudSim</a:t>
            </a:r>
            <a:r>
              <a:rPr lang="en-US" dirty="0"/>
              <a:t> API operates:</a:t>
            </a:r>
          </a:p>
          <a:p>
            <a:pPr algn="just"/>
            <a:r>
              <a:rPr lang="en-US" b="1" dirty="0"/>
              <a:t>Initialization</a:t>
            </a:r>
            <a:r>
              <a:rPr lang="en-US" dirty="0"/>
              <a:t>: The simulation begins with the initialization of the </a:t>
            </a:r>
            <a:r>
              <a:rPr lang="en-US" dirty="0" err="1"/>
              <a:t>CloudSim</a:t>
            </a:r>
            <a:r>
              <a:rPr lang="en-US" dirty="0"/>
              <a:t> environment and the creation of data centers, hosts, VMs, and cloudlets.</a:t>
            </a:r>
          </a:p>
          <a:p>
            <a:pPr algn="just"/>
            <a:r>
              <a:rPr lang="en-US" b="1" dirty="0"/>
              <a:t>Resource Allocation</a:t>
            </a:r>
            <a:r>
              <a:rPr lang="en-US" dirty="0"/>
              <a:t>: The </a:t>
            </a:r>
            <a:r>
              <a:rPr lang="en-US" b="1" dirty="0" err="1"/>
              <a:t>DatacenterBroker</a:t>
            </a:r>
            <a:r>
              <a:rPr lang="en-US" dirty="0"/>
              <a:t> allocates resources to VMs and assigns cloudlets to VMs based on predefined policies.</a:t>
            </a:r>
          </a:p>
          <a:p>
            <a:pPr algn="just"/>
            <a:r>
              <a:rPr lang="en-US" b="1" dirty="0"/>
              <a:t>Task Scheduling</a:t>
            </a:r>
            <a:r>
              <a:rPr lang="en-US" dirty="0"/>
              <a:t>: The API provides various scheduling algorithms (e.g., time-shared, space-shared) to determine how cloudlets are processed by VMs.</a:t>
            </a:r>
          </a:p>
          <a:p>
            <a:endParaRPr lang="en-US" dirty="0"/>
          </a:p>
        </p:txBody>
      </p:sp>
    </p:spTree>
    <p:extLst>
      <p:ext uri="{BB962C8B-B14F-4D97-AF65-F5344CB8AC3E}">
        <p14:creationId xmlns:p14="http://schemas.microsoft.com/office/powerpoint/2010/main" val="473977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4B8B34-22CB-4544-7E37-CE7889987CE7}"/>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89E952C2-3027-3D13-7BE6-EF065320F118}"/>
              </a:ext>
            </a:extLst>
          </p:cNvPr>
          <p:cNvSpPr>
            <a:spLocks noGrp="1"/>
          </p:cNvSpPr>
          <p:nvPr>
            <p:ph idx="1"/>
          </p:nvPr>
        </p:nvSpPr>
        <p:spPr/>
        <p:txBody>
          <a:bodyPr/>
          <a:lstStyle/>
          <a:p>
            <a:pPr algn="just"/>
            <a:r>
              <a:rPr lang="en-US" b="1" dirty="0"/>
              <a:t>Execution and Monitoring</a:t>
            </a:r>
            <a:r>
              <a:rPr lang="en-US" dirty="0"/>
              <a:t>: Once the simulation starts, </a:t>
            </a:r>
            <a:r>
              <a:rPr lang="en-US" dirty="0" err="1"/>
              <a:t>CloudSim</a:t>
            </a:r>
            <a:r>
              <a:rPr lang="en-US" dirty="0"/>
              <a:t> API manages the execution of cloudlets on VMs, monitors resource utilization, and tracks metrics like execution time and energy consumption.</a:t>
            </a:r>
          </a:p>
          <a:p>
            <a:pPr algn="just"/>
            <a:r>
              <a:rPr lang="en-US" b="1" dirty="0"/>
              <a:t>Results Analysis</a:t>
            </a:r>
            <a:r>
              <a:rPr lang="en-US" dirty="0"/>
              <a:t>: After the simulation completes, the API provides detailed results that can be analyzed to understand the performance of the simulated cloud environment.</a:t>
            </a:r>
          </a:p>
          <a:p>
            <a:endParaRPr lang="en-US" dirty="0"/>
          </a:p>
        </p:txBody>
      </p:sp>
    </p:spTree>
    <p:extLst>
      <p:ext uri="{BB962C8B-B14F-4D97-AF65-F5344CB8AC3E}">
        <p14:creationId xmlns:p14="http://schemas.microsoft.com/office/powerpoint/2010/main" val="984841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B274F2-B2E5-8F92-813A-8F3E0CF7C5C6}"/>
              </a:ext>
            </a:extLst>
          </p:cNvPr>
          <p:cNvSpPr>
            <a:spLocks noGrp="1"/>
          </p:cNvSpPr>
          <p:nvPr>
            <p:ph type="title"/>
          </p:nvPr>
        </p:nvSpPr>
        <p:spPr/>
        <p:txBody>
          <a:bodyPr/>
          <a:lstStyle/>
          <a:p>
            <a:r>
              <a:rPr lang="en-US" b="1" dirty="0"/>
              <a:t>Setting Up Your Development Environment</a:t>
            </a:r>
            <a:br>
              <a:rPr lang="en-US" dirty="0"/>
            </a:br>
            <a:endParaRPr lang="en-US" dirty="0"/>
          </a:p>
        </p:txBody>
      </p:sp>
      <p:sp>
        <p:nvSpPr>
          <p:cNvPr id="6" name="Content Placeholder 5">
            <a:extLst>
              <a:ext uri="{FF2B5EF4-FFF2-40B4-BE49-F238E27FC236}">
                <a16:creationId xmlns:a16="http://schemas.microsoft.com/office/drawing/2014/main" id="{91CD9677-F2D5-64F9-6362-DFB641615F11}"/>
              </a:ext>
            </a:extLst>
          </p:cNvPr>
          <p:cNvSpPr>
            <a:spLocks noGrp="1"/>
          </p:cNvSpPr>
          <p:nvPr>
            <p:ph idx="1"/>
          </p:nvPr>
        </p:nvSpPr>
        <p:spPr>
          <a:xfrm>
            <a:off x="838200" y="1571946"/>
            <a:ext cx="10515600" cy="4818580"/>
          </a:xfrm>
        </p:spPr>
        <p:txBody>
          <a:bodyPr>
            <a:normAutofit fontScale="92500" lnSpcReduction="20000"/>
          </a:bodyPr>
          <a:lstStyle/>
          <a:p>
            <a:pPr marL="0" indent="0">
              <a:buNone/>
            </a:pPr>
            <a:r>
              <a:rPr lang="en-US" dirty="0"/>
              <a:t>Before you can start using the </a:t>
            </a:r>
            <a:r>
              <a:rPr lang="en-US" b="1" dirty="0" err="1"/>
              <a:t>CloudSim</a:t>
            </a:r>
            <a:r>
              <a:rPr lang="en-US" b="1" dirty="0"/>
              <a:t> API for cloud simulations</a:t>
            </a:r>
            <a:r>
              <a:rPr lang="en-US" dirty="0"/>
              <a:t>, you must set up a Java development environment.</a:t>
            </a:r>
          </a:p>
          <a:p>
            <a:pPr marL="0" indent="0">
              <a:buNone/>
            </a:pPr>
            <a:r>
              <a:rPr lang="en-US" dirty="0"/>
              <a:t>The following steps will guide you through the setup process:</a:t>
            </a:r>
          </a:p>
          <a:p>
            <a:r>
              <a:rPr lang="en-US" b="1" dirty="0"/>
              <a:t>Download </a:t>
            </a:r>
            <a:r>
              <a:rPr lang="en-US" b="1" dirty="0" err="1"/>
              <a:t>CloudSim</a:t>
            </a:r>
            <a:r>
              <a:rPr lang="en-US" dirty="0"/>
              <a:t>: You can download the latest version of </a:t>
            </a:r>
            <a:r>
              <a:rPr lang="en-US" dirty="0" err="1"/>
              <a:t>CloudSim</a:t>
            </a:r>
            <a:r>
              <a:rPr lang="en-US" dirty="0"/>
              <a:t> from its official </a:t>
            </a:r>
            <a:r>
              <a:rPr lang="en-US" u="sng" dirty="0">
                <a:hlinkClick r:id="rId2"/>
              </a:rPr>
              <a:t>GitHub repository</a:t>
            </a:r>
            <a:r>
              <a:rPr lang="en-US" dirty="0"/>
              <a:t>.</a:t>
            </a:r>
          </a:p>
          <a:p>
            <a:r>
              <a:rPr lang="en-US" b="1" dirty="0"/>
              <a:t>Set Up Your IDE</a:t>
            </a:r>
            <a:r>
              <a:rPr lang="en-US" dirty="0"/>
              <a:t>: Use an Integrated Development Environment (IDE) like </a:t>
            </a:r>
            <a:r>
              <a:rPr lang="en-US" b="1" dirty="0"/>
              <a:t>Eclipse</a:t>
            </a:r>
            <a:r>
              <a:rPr lang="en-US" dirty="0"/>
              <a:t> or </a:t>
            </a:r>
            <a:r>
              <a:rPr lang="en-US" b="1" dirty="0"/>
              <a:t>NetBeans</a:t>
            </a:r>
            <a:r>
              <a:rPr lang="en-US" dirty="0"/>
              <a:t> for developing your simulation. </a:t>
            </a:r>
            <a:r>
              <a:rPr lang="en-US" u="sng" dirty="0">
                <a:hlinkClick r:id="rId3"/>
              </a:rPr>
              <a:t>Create a new Java project in your IDE</a:t>
            </a:r>
            <a:r>
              <a:rPr lang="en-US" dirty="0"/>
              <a:t>.</a:t>
            </a:r>
          </a:p>
          <a:p>
            <a:r>
              <a:rPr lang="en-US" b="1" dirty="0"/>
              <a:t>Add </a:t>
            </a:r>
            <a:r>
              <a:rPr lang="en-US" b="1" dirty="0" err="1"/>
              <a:t>CloudSim</a:t>
            </a:r>
            <a:r>
              <a:rPr lang="en-US" b="1" dirty="0"/>
              <a:t> Libraries</a:t>
            </a:r>
            <a:r>
              <a:rPr lang="en-US" dirty="0"/>
              <a:t>: Import the </a:t>
            </a:r>
            <a:r>
              <a:rPr lang="en-US" dirty="0" err="1"/>
              <a:t>CloudSim</a:t>
            </a:r>
            <a:r>
              <a:rPr lang="en-US" dirty="0"/>
              <a:t> JAR files into your project. These files contain the necessary classes and methods to run cloud simulations.</a:t>
            </a:r>
          </a:p>
          <a:p>
            <a:r>
              <a:rPr lang="en-US" b="1" dirty="0"/>
              <a:t>Write Your Simulation Code</a:t>
            </a:r>
            <a:r>
              <a:rPr lang="en-US" dirty="0"/>
              <a:t>: With everything set up, you can now start writing your simulation code using the </a:t>
            </a:r>
            <a:r>
              <a:rPr lang="en-US" dirty="0" err="1"/>
              <a:t>CloudSim</a:t>
            </a:r>
            <a:r>
              <a:rPr lang="en-US" dirty="0"/>
              <a:t> API.</a:t>
            </a:r>
          </a:p>
          <a:p>
            <a:endParaRPr lang="en-US" dirty="0"/>
          </a:p>
        </p:txBody>
      </p:sp>
    </p:spTree>
    <p:extLst>
      <p:ext uri="{BB962C8B-B14F-4D97-AF65-F5344CB8AC3E}">
        <p14:creationId xmlns:p14="http://schemas.microsoft.com/office/powerpoint/2010/main" val="3219678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FEA3A-5B49-A6C5-2BA7-088A8980C29C}"/>
              </a:ext>
            </a:extLst>
          </p:cNvPr>
          <p:cNvSpPr>
            <a:spLocks noGrp="1"/>
          </p:cNvSpPr>
          <p:nvPr>
            <p:ph type="title"/>
          </p:nvPr>
        </p:nvSpPr>
        <p:spPr/>
        <p:txBody>
          <a:bodyPr/>
          <a:lstStyle/>
          <a:p>
            <a:r>
              <a:rPr lang="en-US" b="1" dirty="0"/>
              <a:t>Exploring the Packages in </a:t>
            </a:r>
            <a:r>
              <a:rPr lang="en-US" b="1" dirty="0" err="1"/>
              <a:t>CloudSim</a:t>
            </a:r>
            <a:r>
              <a:rPr lang="en-US" b="1" dirty="0"/>
              <a:t> API</a:t>
            </a:r>
            <a:br>
              <a:rPr lang="en-US" dirty="0"/>
            </a:br>
            <a:endParaRPr lang="en-US" dirty="0"/>
          </a:p>
        </p:txBody>
      </p:sp>
      <p:sp>
        <p:nvSpPr>
          <p:cNvPr id="3" name="Content Placeholder 2">
            <a:extLst>
              <a:ext uri="{FF2B5EF4-FFF2-40B4-BE49-F238E27FC236}">
                <a16:creationId xmlns:a16="http://schemas.microsoft.com/office/drawing/2014/main" id="{6993114F-E232-4F9B-8841-054CCDA2D54F}"/>
              </a:ext>
            </a:extLst>
          </p:cNvPr>
          <p:cNvSpPr>
            <a:spLocks noGrp="1"/>
          </p:cNvSpPr>
          <p:nvPr>
            <p:ph idx="1"/>
          </p:nvPr>
        </p:nvSpPr>
        <p:spPr/>
        <p:txBody>
          <a:bodyPr>
            <a:normAutofit/>
          </a:bodyPr>
          <a:lstStyle/>
          <a:p>
            <a:r>
              <a:rPr lang="en-US" dirty="0"/>
              <a:t>The </a:t>
            </a:r>
            <a:r>
              <a:rPr lang="en-US" dirty="0" err="1"/>
              <a:t>CloudSim</a:t>
            </a:r>
            <a:r>
              <a:rPr lang="en-US" dirty="0"/>
              <a:t> API is organized into several packages, each serving a specific purpose in the simulation process.</a:t>
            </a:r>
          </a:p>
          <a:p>
            <a:r>
              <a:rPr lang="en-US" dirty="0"/>
              <a:t>Understanding these packages is key to effectively using </a:t>
            </a:r>
            <a:r>
              <a:rPr lang="en-US" dirty="0" err="1"/>
              <a:t>CloudSim</a:t>
            </a:r>
            <a:r>
              <a:rPr lang="en-US" dirty="0"/>
              <a:t> for your research.</a:t>
            </a:r>
          </a:p>
          <a:p>
            <a:r>
              <a:rPr lang="en-US" b="1" dirty="0" err="1"/>
              <a:t>org.cloudbus.cloudsim.core</a:t>
            </a:r>
            <a:endParaRPr lang="en-US" dirty="0"/>
          </a:p>
          <a:p>
            <a:pPr lvl="1"/>
            <a:r>
              <a:rPr lang="en-US" b="1" dirty="0"/>
              <a:t>Purpose</a:t>
            </a:r>
            <a:r>
              <a:rPr lang="en-US" dirty="0"/>
              <a:t>: Contains the model classes responsible for simulating </a:t>
            </a:r>
            <a:r>
              <a:rPr lang="en-US" dirty="0" err="1"/>
              <a:t>CloudSim</a:t>
            </a:r>
            <a:r>
              <a:rPr lang="en-US" dirty="0"/>
              <a:t> entities, which play a crucial role in cloud simulation.</a:t>
            </a:r>
          </a:p>
          <a:p>
            <a:pPr lvl="1"/>
            <a:r>
              <a:rPr lang="en-US" b="1" dirty="0"/>
              <a:t>Usage</a:t>
            </a:r>
            <a:r>
              <a:rPr lang="en-US" dirty="0"/>
              <a:t>: This package is essential for setting up and controlling the simulation environment. It manages the lifecycle of the simulation and handles interactions between different cloud entities through events.</a:t>
            </a:r>
          </a:p>
          <a:p>
            <a:endParaRPr lang="en-US" dirty="0"/>
          </a:p>
        </p:txBody>
      </p:sp>
    </p:spTree>
    <p:extLst>
      <p:ext uri="{BB962C8B-B14F-4D97-AF65-F5344CB8AC3E}">
        <p14:creationId xmlns:p14="http://schemas.microsoft.com/office/powerpoint/2010/main" val="133704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802A4-F45B-D090-CFF4-7659A6263A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C7AB1F-BF82-D523-5B08-C962E43FC8D3}"/>
              </a:ext>
            </a:extLst>
          </p:cNvPr>
          <p:cNvSpPr>
            <a:spLocks noGrp="1"/>
          </p:cNvSpPr>
          <p:nvPr>
            <p:ph idx="1"/>
          </p:nvPr>
        </p:nvSpPr>
        <p:spPr/>
        <p:txBody>
          <a:bodyPr>
            <a:normAutofit/>
          </a:bodyPr>
          <a:lstStyle/>
          <a:p>
            <a:r>
              <a:rPr lang="en-US" b="1" dirty="0" err="1"/>
              <a:t>org.cloudbus.cloudsim</a:t>
            </a:r>
            <a:endParaRPr lang="en-US" dirty="0"/>
          </a:p>
          <a:p>
            <a:pPr lvl="1"/>
            <a:r>
              <a:rPr lang="en-US" b="1" dirty="0"/>
              <a:t>Purpose</a:t>
            </a:r>
            <a:r>
              <a:rPr lang="en-US" dirty="0"/>
              <a:t>: Provides the fundamental classes that define the key components of a cloud simulation, such as datacenters, hosts, VMs, and cloudlets.</a:t>
            </a:r>
          </a:p>
          <a:p>
            <a:pPr lvl="1"/>
            <a:r>
              <a:rPr lang="en-US" b="1" dirty="0"/>
              <a:t>Usage</a:t>
            </a:r>
            <a:r>
              <a:rPr lang="en-US" dirty="0"/>
              <a:t>: Use this package to define and manage the core components of your cloud simulation. It’s where you set up datacenters, create VMs, submit cloudlets, and manage resource allocation.</a:t>
            </a:r>
          </a:p>
          <a:p>
            <a:r>
              <a:rPr lang="en-US" b="1" dirty="0" err="1"/>
              <a:t>org.cloudbus.cloudsim.provisioners</a:t>
            </a:r>
            <a:endParaRPr lang="en-US" dirty="0"/>
          </a:p>
          <a:p>
            <a:pPr lvl="1"/>
            <a:r>
              <a:rPr lang="en-US" b="1" dirty="0"/>
              <a:t>Purpose</a:t>
            </a:r>
            <a:r>
              <a:rPr lang="en-US" dirty="0"/>
              <a:t>: Manages the provisioning of cloud resources like CPU, RAM, and bandwidth.</a:t>
            </a:r>
          </a:p>
          <a:p>
            <a:pPr lvl="1"/>
            <a:r>
              <a:rPr lang="en-US" b="1" dirty="0"/>
              <a:t>Usage</a:t>
            </a:r>
            <a:r>
              <a:rPr lang="en-US" dirty="0"/>
              <a:t>: When defining hosts and VMs, this package allows you to specify how resources are allocated and managed during the simulation.</a:t>
            </a:r>
          </a:p>
          <a:p>
            <a:endParaRPr lang="en-US" dirty="0"/>
          </a:p>
        </p:txBody>
      </p:sp>
    </p:spTree>
    <p:extLst>
      <p:ext uri="{BB962C8B-B14F-4D97-AF65-F5344CB8AC3E}">
        <p14:creationId xmlns:p14="http://schemas.microsoft.com/office/powerpoint/2010/main" val="1314791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D28C3-56A3-8C47-7E1F-ADB606592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2F77E3-3AC7-1455-D3E1-786BF9C65602}"/>
              </a:ext>
            </a:extLst>
          </p:cNvPr>
          <p:cNvSpPr>
            <a:spLocks noGrp="1"/>
          </p:cNvSpPr>
          <p:nvPr>
            <p:ph idx="1"/>
          </p:nvPr>
        </p:nvSpPr>
        <p:spPr/>
        <p:txBody>
          <a:bodyPr>
            <a:normAutofit/>
          </a:bodyPr>
          <a:lstStyle/>
          <a:p>
            <a:r>
              <a:rPr lang="en-US" b="1" dirty="0" err="1"/>
              <a:t>org.cloudbus.cloudsim.schedulers</a:t>
            </a:r>
            <a:endParaRPr lang="en-US" dirty="0"/>
          </a:p>
          <a:p>
            <a:pPr lvl="1"/>
            <a:r>
              <a:rPr lang="en-US" b="1" dirty="0"/>
              <a:t>Purpose</a:t>
            </a:r>
            <a:r>
              <a:rPr lang="en-US" dirty="0"/>
              <a:t>: Contains classes that define how cloudlets are scheduled on VMs and how VMs are scheduled on hosts.</a:t>
            </a:r>
          </a:p>
          <a:p>
            <a:pPr lvl="1"/>
            <a:r>
              <a:rPr lang="en-US" b="1" dirty="0"/>
              <a:t>Usage</a:t>
            </a:r>
            <a:r>
              <a:rPr lang="en-US" dirty="0"/>
              <a:t>: Use this package to define the scheduling policies that determine how tasks are executed within VMs and how VMs are allocated to hosts.</a:t>
            </a:r>
          </a:p>
          <a:p>
            <a:r>
              <a:rPr lang="en-US" b="1" dirty="0" err="1"/>
              <a:t>org.cloudbus.cloudsim.power</a:t>
            </a:r>
            <a:endParaRPr lang="en-US" dirty="0"/>
          </a:p>
          <a:p>
            <a:pPr lvl="1"/>
            <a:r>
              <a:rPr lang="en-US" b="1" dirty="0"/>
              <a:t>Purpose</a:t>
            </a:r>
            <a:r>
              <a:rPr lang="en-US" dirty="0"/>
              <a:t>: Dedicated to simulating energy consumption in cloud data centers, with a focus on energy-efficient resource management and VM allocation.</a:t>
            </a:r>
          </a:p>
          <a:p>
            <a:pPr lvl="1"/>
            <a:r>
              <a:rPr lang="en-US" b="1" dirty="0"/>
              <a:t>Usage</a:t>
            </a:r>
            <a:r>
              <a:rPr lang="en-US" dirty="0"/>
              <a:t>: Essential for conducting </a:t>
            </a:r>
            <a:r>
              <a:rPr lang="en-US" b="1" dirty="0"/>
              <a:t>energy-aware simulations</a:t>
            </a:r>
            <a:r>
              <a:rPr lang="en-US" dirty="0"/>
              <a:t> in </a:t>
            </a:r>
            <a:r>
              <a:rPr lang="en-US" dirty="0" err="1"/>
              <a:t>CloudSim</a:t>
            </a:r>
            <a:r>
              <a:rPr lang="en-US" dirty="0"/>
              <a:t>, allowing you to model and optimize the power consumption of cloud data centers.</a:t>
            </a:r>
          </a:p>
          <a:p>
            <a:endParaRPr lang="en-US" dirty="0"/>
          </a:p>
        </p:txBody>
      </p:sp>
    </p:spTree>
    <p:extLst>
      <p:ext uri="{BB962C8B-B14F-4D97-AF65-F5344CB8AC3E}">
        <p14:creationId xmlns:p14="http://schemas.microsoft.com/office/powerpoint/2010/main" val="1257989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1E425-0A0B-0BD3-4076-DE1C154B26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0AD427-A092-8071-2C18-1160BC59285F}"/>
              </a:ext>
            </a:extLst>
          </p:cNvPr>
          <p:cNvSpPr>
            <a:spLocks noGrp="1"/>
          </p:cNvSpPr>
          <p:nvPr>
            <p:ph idx="1"/>
          </p:nvPr>
        </p:nvSpPr>
        <p:spPr/>
        <p:txBody>
          <a:bodyPr/>
          <a:lstStyle/>
          <a:p>
            <a:r>
              <a:rPr lang="en-US" b="1" dirty="0" err="1"/>
              <a:t>org.cloudbus.cloudsim.network</a:t>
            </a:r>
            <a:endParaRPr lang="en-US" dirty="0"/>
          </a:p>
          <a:p>
            <a:pPr lvl="1"/>
            <a:r>
              <a:rPr lang="en-US" b="1" dirty="0"/>
              <a:t>Purpose</a:t>
            </a:r>
            <a:r>
              <a:rPr lang="en-US" dirty="0"/>
              <a:t>: Provides classes for simulating network behavior within a cloud environment, including data transmission and network delays.</a:t>
            </a:r>
          </a:p>
          <a:p>
            <a:pPr lvl="1"/>
            <a:r>
              <a:rPr lang="en-US" b="1" dirty="0"/>
              <a:t>Usage</a:t>
            </a:r>
            <a:r>
              <a:rPr lang="en-US" dirty="0"/>
              <a:t>: This package is crucial for simulations where network behavior plays a significant role, such as modeling data transfer delays and bandwidth usage.</a:t>
            </a:r>
          </a:p>
          <a:p>
            <a:endParaRPr lang="en-US" dirty="0"/>
          </a:p>
        </p:txBody>
      </p:sp>
    </p:spTree>
    <p:extLst>
      <p:ext uri="{BB962C8B-B14F-4D97-AF65-F5344CB8AC3E}">
        <p14:creationId xmlns:p14="http://schemas.microsoft.com/office/powerpoint/2010/main" val="24931548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B20E-A4BD-906E-0C31-2EAC50AFA03C}"/>
              </a:ext>
            </a:extLst>
          </p:cNvPr>
          <p:cNvSpPr>
            <a:spLocks noGrp="1"/>
          </p:cNvSpPr>
          <p:nvPr>
            <p:ph type="title"/>
          </p:nvPr>
        </p:nvSpPr>
        <p:spPr/>
        <p:txBody>
          <a:bodyPr>
            <a:normAutofit fontScale="90000"/>
          </a:bodyPr>
          <a:lstStyle/>
          <a:p>
            <a:r>
              <a:rPr lang="en-US" b="1" dirty="0"/>
              <a:t>Challenges and Considerations When Using </a:t>
            </a:r>
            <a:r>
              <a:rPr lang="en-US" b="1" dirty="0" err="1"/>
              <a:t>CloudSim</a:t>
            </a:r>
            <a:r>
              <a:rPr lang="en-US" b="1" dirty="0"/>
              <a:t> API</a:t>
            </a:r>
            <a:br>
              <a:rPr lang="en-US" dirty="0"/>
            </a:br>
            <a:endParaRPr lang="en-US" dirty="0"/>
          </a:p>
        </p:txBody>
      </p:sp>
      <p:sp>
        <p:nvSpPr>
          <p:cNvPr id="3" name="Content Placeholder 2">
            <a:extLst>
              <a:ext uri="{FF2B5EF4-FFF2-40B4-BE49-F238E27FC236}">
                <a16:creationId xmlns:a16="http://schemas.microsoft.com/office/drawing/2014/main" id="{457409BF-DFBA-5DBA-22F0-D58A0B6948B5}"/>
              </a:ext>
            </a:extLst>
          </p:cNvPr>
          <p:cNvSpPr>
            <a:spLocks noGrp="1"/>
          </p:cNvSpPr>
          <p:nvPr>
            <p:ph idx="1"/>
          </p:nvPr>
        </p:nvSpPr>
        <p:spPr/>
        <p:txBody>
          <a:bodyPr>
            <a:normAutofit lnSpcReduction="10000"/>
          </a:bodyPr>
          <a:lstStyle/>
          <a:p>
            <a:pPr marL="0" indent="0" algn="just">
              <a:buNone/>
            </a:pPr>
            <a:r>
              <a:rPr lang="en-US" dirty="0"/>
              <a:t>While the </a:t>
            </a:r>
            <a:r>
              <a:rPr lang="en-US" b="1" dirty="0" err="1"/>
              <a:t>CloudSim</a:t>
            </a:r>
            <a:r>
              <a:rPr lang="en-US" b="1" dirty="0"/>
              <a:t> API for cloud simulations</a:t>
            </a:r>
            <a:r>
              <a:rPr lang="en-US" dirty="0"/>
              <a:t> is a powerful tool, it comes with its challenges:</a:t>
            </a:r>
          </a:p>
          <a:p>
            <a:pPr algn="just"/>
            <a:r>
              <a:rPr lang="en-US" b="1" dirty="0"/>
              <a:t>Steep Learning Curve</a:t>
            </a:r>
            <a:r>
              <a:rPr lang="en-US" dirty="0"/>
              <a:t>: The API can be complex for beginners, requiring a solid understanding of Java programming and cloud computing concepts.</a:t>
            </a:r>
          </a:p>
          <a:p>
            <a:pPr algn="just"/>
            <a:r>
              <a:rPr lang="en-US" b="1" dirty="0"/>
              <a:t>Limited Real-Time Support</a:t>
            </a:r>
            <a:r>
              <a:rPr lang="en-US" dirty="0"/>
              <a:t>: </a:t>
            </a:r>
            <a:r>
              <a:rPr lang="en-US" dirty="0" err="1"/>
              <a:t>CloudSim</a:t>
            </a:r>
            <a:r>
              <a:rPr lang="en-US" dirty="0"/>
              <a:t> is designed for simulation rather than real-time execution, which means it may not fully capture the behavior of live cloud environments.</a:t>
            </a:r>
          </a:p>
          <a:p>
            <a:pPr algn="just"/>
            <a:r>
              <a:rPr lang="en-US" b="1" dirty="0"/>
              <a:t>Customization Needs</a:t>
            </a:r>
            <a:r>
              <a:rPr lang="en-US" dirty="0"/>
              <a:t>: Depending on the complexity of the simulation, you may need to develop custom components, which can be time-consuming.</a:t>
            </a:r>
          </a:p>
          <a:p>
            <a:endParaRPr lang="en-US" dirty="0"/>
          </a:p>
        </p:txBody>
      </p:sp>
    </p:spTree>
    <p:extLst>
      <p:ext uri="{BB962C8B-B14F-4D97-AF65-F5344CB8AC3E}">
        <p14:creationId xmlns:p14="http://schemas.microsoft.com/office/powerpoint/2010/main" val="1266982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99D2-1D52-B319-B839-D0223B8D88DF}"/>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52D7E405-2398-E662-B017-E037AE67E1E7}"/>
              </a:ext>
            </a:extLst>
          </p:cNvPr>
          <p:cNvSpPr>
            <a:spLocks noGrp="1"/>
          </p:cNvSpPr>
          <p:nvPr>
            <p:ph idx="1"/>
          </p:nvPr>
        </p:nvSpPr>
        <p:spPr/>
        <p:txBody>
          <a:bodyPr/>
          <a:lstStyle/>
          <a:p>
            <a:r>
              <a:rPr lang="en-US" dirty="0"/>
              <a:t>https://cloudsimtutorials.online/cloudsim-api-for-cloud-simulations/</a:t>
            </a:r>
          </a:p>
        </p:txBody>
      </p:sp>
    </p:spTree>
    <p:extLst>
      <p:ext uri="{BB962C8B-B14F-4D97-AF65-F5344CB8AC3E}">
        <p14:creationId xmlns:p14="http://schemas.microsoft.com/office/powerpoint/2010/main" val="1246653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909F-B2B0-A0A6-5141-125500D6B030}"/>
              </a:ext>
            </a:extLst>
          </p:cNvPr>
          <p:cNvSpPr>
            <a:spLocks noGrp="1"/>
          </p:cNvSpPr>
          <p:nvPr>
            <p:ph type="title"/>
          </p:nvPr>
        </p:nvSpPr>
        <p:spPr/>
        <p:txBody>
          <a:bodyPr/>
          <a:lstStyle/>
          <a:p>
            <a:r>
              <a:rPr lang="en-US" dirty="0" err="1"/>
              <a:t>GreenCloud</a:t>
            </a:r>
            <a:endParaRPr lang="en-US" dirty="0"/>
          </a:p>
        </p:txBody>
      </p:sp>
      <p:sp>
        <p:nvSpPr>
          <p:cNvPr id="3" name="Content Placeholder 2">
            <a:extLst>
              <a:ext uri="{FF2B5EF4-FFF2-40B4-BE49-F238E27FC236}">
                <a16:creationId xmlns:a16="http://schemas.microsoft.com/office/drawing/2014/main" id="{4C8F80BA-2E1D-41E6-A54E-7BFE93ADA81F}"/>
              </a:ext>
            </a:extLst>
          </p:cNvPr>
          <p:cNvSpPr>
            <a:spLocks noGrp="1"/>
          </p:cNvSpPr>
          <p:nvPr>
            <p:ph idx="1"/>
          </p:nvPr>
        </p:nvSpPr>
        <p:spPr/>
        <p:txBody>
          <a:bodyPr/>
          <a:lstStyle/>
          <a:p>
            <a:pPr algn="just"/>
            <a:r>
              <a:rPr lang="en-US" dirty="0"/>
              <a:t>According to a European Commission study on energy-efficient cloud computing technologies published in 2020, data centers accounted for 2.7% of the European Union's electricity demand in 2018, and this is expected to reach 3.21% by 2030 if demand continues its current trajectory. The U.S. Department of Energy has said data centers account for about 2% of the country's total electricity consumption, and the International Energy Agency estimated in a September 2022 </a:t>
            </a:r>
            <a:r>
              <a:rPr lang="en-US" u="sng" dirty="0">
                <a:hlinkClick r:id="rId2"/>
              </a:rPr>
              <a:t>report</a:t>
            </a:r>
            <a:r>
              <a:rPr lang="en-US" dirty="0"/>
              <a:t> that up to 1.3% of worldwide electricity usage in 2021 was in data centers.</a:t>
            </a:r>
          </a:p>
        </p:txBody>
      </p:sp>
    </p:spTree>
    <p:extLst>
      <p:ext uri="{BB962C8B-B14F-4D97-AF65-F5344CB8AC3E}">
        <p14:creationId xmlns:p14="http://schemas.microsoft.com/office/powerpoint/2010/main" val="9380967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3BCF4-B0DB-F3BD-A884-DF7A85DAED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7B92FC-1159-53C8-4C54-8E3ED6123625}"/>
              </a:ext>
            </a:extLst>
          </p:cNvPr>
          <p:cNvSpPr>
            <a:spLocks noGrp="1"/>
          </p:cNvSpPr>
          <p:nvPr>
            <p:ph idx="1"/>
          </p:nvPr>
        </p:nvSpPr>
        <p:spPr/>
        <p:txBody>
          <a:bodyPr/>
          <a:lstStyle/>
          <a:p>
            <a:pPr algn="just"/>
            <a:r>
              <a:rPr lang="en-US" dirty="0"/>
              <a:t>By all those measures, data centers are </a:t>
            </a:r>
            <a:r>
              <a:rPr lang="en-US" u="sng" dirty="0">
                <a:hlinkClick r:id="rId2"/>
              </a:rPr>
              <a:t>consuming a significant amount of energy</a:t>
            </a:r>
            <a:r>
              <a:rPr lang="en-US" dirty="0"/>
              <a:t> overall, and this usage will only accelerate as digital transformation initiatives in companies further expand and data center growth continues. In particular, cloud data centers often are behemoth facilities, housing thousands of servers, numerous racks of storage devices, miles of networks and the peripheral infrastructure necessary to keep everything running. To address the environmental challenges associated with these facilities, cloud service providers have been adopting green cloud practices to varying degrees, more so in areas under public scrutiny.</a:t>
            </a:r>
          </a:p>
        </p:txBody>
      </p:sp>
    </p:spTree>
    <p:extLst>
      <p:ext uri="{BB962C8B-B14F-4D97-AF65-F5344CB8AC3E}">
        <p14:creationId xmlns:p14="http://schemas.microsoft.com/office/powerpoint/2010/main" val="13702261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B7280-34AC-625A-F8B5-4BD987F3A8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34EFB1-0B13-74CC-7A19-E59CAEE44FC6}"/>
              </a:ext>
            </a:extLst>
          </p:cNvPr>
          <p:cNvSpPr>
            <a:spLocks noGrp="1"/>
          </p:cNvSpPr>
          <p:nvPr>
            <p:ph idx="1"/>
          </p:nvPr>
        </p:nvSpPr>
        <p:spPr/>
        <p:txBody>
          <a:bodyPr/>
          <a:lstStyle/>
          <a:p>
            <a:pPr algn="just"/>
            <a:r>
              <a:rPr lang="en-US" dirty="0"/>
              <a:t>In this sense, green cloud computing refers to the steps that service providers are taking to improve the environmental profiles of their data centers by implementing </a:t>
            </a:r>
            <a:r>
              <a:rPr lang="en-US" u="sng" dirty="0">
                <a:hlinkClick r:id="rId2"/>
              </a:rPr>
              <a:t>green computing</a:t>
            </a:r>
            <a:r>
              <a:rPr lang="en-US" dirty="0"/>
              <a:t> approaches. The resulting green clouds can also contribute to broader environmental, social and governance (</a:t>
            </a:r>
            <a:r>
              <a:rPr lang="en-US" u="sng" dirty="0">
                <a:hlinkClick r:id="rId3"/>
              </a:rPr>
              <a:t>ESG</a:t>
            </a:r>
            <a:r>
              <a:rPr lang="en-US" dirty="0"/>
              <a:t>) programs at the cloud vendors themselves and companies that use their services. Greener IT is a common component of </a:t>
            </a:r>
            <a:r>
              <a:rPr lang="en-US" u="sng" dirty="0">
                <a:hlinkClick r:id="rId4"/>
              </a:rPr>
              <a:t>corporate ESG initiatives</a:t>
            </a:r>
            <a:r>
              <a:rPr lang="en-US" dirty="0"/>
              <a:t>, which aim to improve the environmental and social impact of organizations and ensure that their business practices are ethical and fair.</a:t>
            </a:r>
          </a:p>
        </p:txBody>
      </p:sp>
    </p:spTree>
    <p:extLst>
      <p:ext uri="{BB962C8B-B14F-4D97-AF65-F5344CB8AC3E}">
        <p14:creationId xmlns:p14="http://schemas.microsoft.com/office/powerpoint/2010/main" val="1748318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C757D-E3D1-81D2-E701-AC451B3FC8F3}"/>
              </a:ext>
            </a:extLst>
          </p:cNvPr>
          <p:cNvSpPr>
            <a:spLocks noGrp="1"/>
          </p:cNvSpPr>
          <p:nvPr>
            <p:ph type="title"/>
          </p:nvPr>
        </p:nvSpPr>
        <p:spPr/>
        <p:txBody>
          <a:bodyPr/>
          <a:lstStyle/>
          <a:p>
            <a:r>
              <a:rPr lang="en-US" dirty="0"/>
              <a:t>How does green cloud computing work?</a:t>
            </a:r>
            <a:br>
              <a:rPr lang="en-US" dirty="0"/>
            </a:br>
            <a:endParaRPr lang="en-US" dirty="0"/>
          </a:p>
        </p:txBody>
      </p:sp>
      <p:sp>
        <p:nvSpPr>
          <p:cNvPr id="3" name="Content Placeholder 2">
            <a:extLst>
              <a:ext uri="{FF2B5EF4-FFF2-40B4-BE49-F238E27FC236}">
                <a16:creationId xmlns:a16="http://schemas.microsoft.com/office/drawing/2014/main" id="{82DE7AAA-517F-A9F6-73D8-BA5C7D92D034}"/>
              </a:ext>
            </a:extLst>
          </p:cNvPr>
          <p:cNvSpPr>
            <a:spLocks noGrp="1"/>
          </p:cNvSpPr>
          <p:nvPr>
            <p:ph idx="1"/>
          </p:nvPr>
        </p:nvSpPr>
        <p:spPr/>
        <p:txBody>
          <a:bodyPr/>
          <a:lstStyle/>
          <a:p>
            <a:pPr marL="0" indent="0" algn="just">
              <a:buNone/>
            </a:pPr>
            <a:r>
              <a:rPr lang="en-US" dirty="0"/>
              <a:t>Cloud service providers typically employ multiple strategies to attain greener data centers. These efforts target efficiency improvements in one or more of the following areas:</a:t>
            </a:r>
          </a:p>
          <a:p>
            <a:pPr algn="just"/>
            <a:r>
              <a:rPr lang="en-US" b="1" dirty="0"/>
              <a:t>Energy sources.</a:t>
            </a:r>
            <a:r>
              <a:rPr lang="en-US" dirty="0"/>
              <a:t> The provider uses renewable energy as much as possible to power its data centers. This often includes wind or solar energy, along with large battery banks for storing the collected energy. Some providers use renewable energy credits (RECs) to offset their carbon footprint, giving them license to claim that their data centers use 100% renewable energy. However, RECs are not the same as eliminating the use of fossil fuels.</a:t>
            </a:r>
          </a:p>
          <a:p>
            <a:endParaRPr lang="en-US" dirty="0"/>
          </a:p>
        </p:txBody>
      </p:sp>
    </p:spTree>
    <p:extLst>
      <p:ext uri="{BB962C8B-B14F-4D97-AF65-F5344CB8AC3E}">
        <p14:creationId xmlns:p14="http://schemas.microsoft.com/office/powerpoint/2010/main" val="27410406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D11D-3FF3-908C-9368-0AD8232984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C47921-01CD-9F65-6E91-53EF32DBD0DA}"/>
              </a:ext>
            </a:extLst>
          </p:cNvPr>
          <p:cNvSpPr>
            <a:spLocks noGrp="1"/>
          </p:cNvSpPr>
          <p:nvPr>
            <p:ph idx="1"/>
          </p:nvPr>
        </p:nvSpPr>
        <p:spPr/>
        <p:txBody>
          <a:bodyPr/>
          <a:lstStyle/>
          <a:p>
            <a:pPr algn="just"/>
            <a:r>
              <a:rPr lang="en-US" b="1" dirty="0"/>
              <a:t>Facility.</a:t>
            </a:r>
            <a:r>
              <a:rPr lang="en-US" dirty="0"/>
              <a:t> The provider takes measures to </a:t>
            </a:r>
            <a:r>
              <a:rPr lang="en-US" u="sng" dirty="0">
                <a:hlinkClick r:id="rId2"/>
              </a:rPr>
              <a:t>use energy more efficiently in its data centers</a:t>
            </a:r>
            <a:r>
              <a:rPr lang="en-US" dirty="0"/>
              <a:t>. For example, a provider might locate a data center in a cold climate, underground or even on the ocean floor. The provider might also find ways to apply the excess heat generated in the data centers, such as using it to warm nearby buildings. Additionally, providers might </a:t>
            </a:r>
            <a:r>
              <a:rPr lang="en-US" u="sng" dirty="0">
                <a:hlinkClick r:id="rId3"/>
              </a:rPr>
              <a:t>rely on machine learning or artificial intelligence technologies</a:t>
            </a:r>
            <a:r>
              <a:rPr lang="en-US" dirty="0"/>
              <a:t> to monitor and optimize energy usage. Modifying the data center floor layout to improve air circulation through the use of </a:t>
            </a:r>
            <a:r>
              <a:rPr lang="en-US" u="sng" dirty="0">
                <a:hlinkClick r:id="rId4"/>
              </a:rPr>
              <a:t>hot and cold aisles</a:t>
            </a:r>
            <a:r>
              <a:rPr lang="en-US" dirty="0"/>
              <a:t> or implementing water cooling systems to handle equipment-generated heat are other strategies.</a:t>
            </a:r>
          </a:p>
          <a:p>
            <a:endParaRPr lang="en-US" dirty="0"/>
          </a:p>
        </p:txBody>
      </p:sp>
    </p:spTree>
    <p:extLst>
      <p:ext uri="{BB962C8B-B14F-4D97-AF65-F5344CB8AC3E}">
        <p14:creationId xmlns:p14="http://schemas.microsoft.com/office/powerpoint/2010/main" val="4000060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8F703-BF3E-CCB1-8007-CEE6BBEADE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ED6DA4-95E6-14AC-DFED-26D8FEC32463}"/>
              </a:ext>
            </a:extLst>
          </p:cNvPr>
          <p:cNvSpPr>
            <a:spLocks noGrp="1"/>
          </p:cNvSpPr>
          <p:nvPr>
            <p:ph idx="1"/>
          </p:nvPr>
        </p:nvSpPr>
        <p:spPr/>
        <p:txBody>
          <a:bodyPr>
            <a:normAutofit fontScale="92500" lnSpcReduction="10000"/>
          </a:bodyPr>
          <a:lstStyle/>
          <a:p>
            <a:pPr algn="just"/>
            <a:r>
              <a:rPr lang="en-US" b="1" dirty="0"/>
              <a:t>Infrastructure.</a:t>
            </a:r>
            <a:r>
              <a:rPr lang="en-US" dirty="0"/>
              <a:t> The provider optimizes the hardware and software infrastructure. For instance, a provider might deploy hardware that consumes less energy or use strategies such as </a:t>
            </a:r>
            <a:r>
              <a:rPr lang="en-US" u="sng" dirty="0">
                <a:hlinkClick r:id="rId2"/>
              </a:rPr>
              <a:t>dynamic voltage and frequency scaling</a:t>
            </a:r>
            <a:r>
              <a:rPr lang="en-US" dirty="0"/>
              <a:t> to reduce power consumption. The provider might also maximize resource utilization to reduce the number of servers and storage devices -- for example, by implementing </a:t>
            </a:r>
            <a:r>
              <a:rPr lang="en-US" u="sng" dirty="0">
                <a:hlinkClick r:id="rId3"/>
              </a:rPr>
              <a:t>virtualization</a:t>
            </a:r>
            <a:r>
              <a:rPr lang="en-US" dirty="0"/>
              <a:t> technology or software-defined infrastructure.</a:t>
            </a:r>
          </a:p>
          <a:p>
            <a:pPr algn="just"/>
            <a:r>
              <a:rPr lang="en-US" b="1" dirty="0"/>
              <a:t>Workflow.</a:t>
            </a:r>
            <a:r>
              <a:rPr lang="en-US" dirty="0"/>
              <a:t> The provider uses multiple strategies to optimize IT workflows at every level. This might include shifting workloads to different times, modifying applications to reduce network traffic, optimizing storage and server caches, automating routine tasks or taking any number of other steps to reduce energy usage.</a:t>
            </a:r>
          </a:p>
          <a:p>
            <a:endParaRPr lang="en-US" dirty="0"/>
          </a:p>
        </p:txBody>
      </p:sp>
    </p:spTree>
    <p:extLst>
      <p:ext uri="{BB962C8B-B14F-4D97-AF65-F5344CB8AC3E}">
        <p14:creationId xmlns:p14="http://schemas.microsoft.com/office/powerpoint/2010/main" val="831033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700B-2473-23D2-09E9-762EA587E2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727553-B79E-3DAC-B692-13009C94029A}"/>
              </a:ext>
            </a:extLst>
          </p:cNvPr>
          <p:cNvSpPr>
            <a:spLocks noGrp="1"/>
          </p:cNvSpPr>
          <p:nvPr>
            <p:ph idx="1"/>
          </p:nvPr>
        </p:nvSpPr>
        <p:spPr/>
        <p:txBody>
          <a:bodyPr/>
          <a:lstStyle/>
          <a:p>
            <a:pPr algn="just"/>
            <a:r>
              <a:rPr lang="en-US" dirty="0"/>
              <a:t>As examples of green cloud practices by top cloud platform vendors, Amazon Web Services (AWS) and Microsoft have both said they plan to use 100% renewable energy in their data centers by 2025. Google has said it achieved that in its Google Cloud facilities in 2017 and is aiming to run them all on carbon-free energy sources by 2030. Microsoft is working to be carbon-negative by that year, while AWS is looking to reach net-zero carbon usage by 2040.</a:t>
            </a:r>
          </a:p>
        </p:txBody>
      </p:sp>
    </p:spTree>
    <p:extLst>
      <p:ext uri="{BB962C8B-B14F-4D97-AF65-F5344CB8AC3E}">
        <p14:creationId xmlns:p14="http://schemas.microsoft.com/office/powerpoint/2010/main" val="1715616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05416-05CF-0C38-ED8E-7F4A115847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8DB54A-41E5-F930-B618-02C4989ECB0E}"/>
              </a:ext>
            </a:extLst>
          </p:cNvPr>
          <p:cNvSpPr>
            <a:spLocks noGrp="1"/>
          </p:cNvSpPr>
          <p:nvPr>
            <p:ph idx="1"/>
          </p:nvPr>
        </p:nvSpPr>
        <p:spPr/>
        <p:txBody>
          <a:bodyPr/>
          <a:lstStyle/>
          <a:p>
            <a:pPr algn="just"/>
            <a:r>
              <a:rPr lang="en-US" dirty="0"/>
              <a:t>As data continues to proliferate, </a:t>
            </a:r>
            <a:r>
              <a:rPr lang="en-US" b="1" dirty="0"/>
              <a:t>storage systems </a:t>
            </a:r>
            <a:r>
              <a:rPr lang="en-US" dirty="0"/>
              <a:t>also play an increasingly important role in efforts to boost energy efficiency, including in cloud data centers. Strategies for implementing </a:t>
            </a:r>
            <a:r>
              <a:rPr lang="en-US" u="sng" dirty="0">
                <a:hlinkClick r:id="rId2"/>
              </a:rPr>
              <a:t>greener approaches to data storage</a:t>
            </a:r>
            <a:r>
              <a:rPr lang="en-US" dirty="0"/>
              <a:t> include evaluating the energy requirements of different storage devices before purchases, shutting down installed devices when they aren't in use, and identifying and deleting so-called </a:t>
            </a:r>
            <a:r>
              <a:rPr lang="en-US" i="1" dirty="0"/>
              <a:t>dark data</a:t>
            </a:r>
            <a:r>
              <a:rPr lang="en-US" dirty="0"/>
              <a:t> that isn't being used.</a:t>
            </a:r>
          </a:p>
        </p:txBody>
      </p:sp>
    </p:spTree>
    <p:extLst>
      <p:ext uri="{BB962C8B-B14F-4D97-AF65-F5344CB8AC3E}">
        <p14:creationId xmlns:p14="http://schemas.microsoft.com/office/powerpoint/2010/main" val="2622354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FEA86-09A6-89C0-EB31-B5696B1738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642945-3BC1-EB8F-B822-7F149A478736}"/>
              </a:ext>
            </a:extLst>
          </p:cNvPr>
          <p:cNvSpPr>
            <a:spLocks noGrp="1"/>
          </p:cNvSpPr>
          <p:nvPr>
            <p:ph idx="1"/>
          </p:nvPr>
        </p:nvSpPr>
        <p:spPr/>
        <p:txBody>
          <a:bodyPr/>
          <a:lstStyle/>
          <a:p>
            <a:pPr algn="just"/>
            <a:r>
              <a:rPr lang="en-US" dirty="0"/>
              <a:t>To help address storage-related energy issues, the Storage Networking Industry Association (</a:t>
            </a:r>
            <a:r>
              <a:rPr lang="en-US" u="sng" dirty="0">
                <a:hlinkClick r:id="rId2"/>
              </a:rPr>
              <a:t>SNIA</a:t>
            </a:r>
            <a:r>
              <a:rPr lang="en-US" dirty="0"/>
              <a:t>) operates the Green Storage Initiative, which is "dedicated to advancing energy efficiency and conservation in all networked storage technologies and minimizing the environmental impact of data storage operations." As part of this effort, SNIA offers the Emerald Program, a collection of resources for measuring storage power usage and efficiency as well as for conserving energy in enterprise storage environments.</a:t>
            </a:r>
          </a:p>
        </p:txBody>
      </p:sp>
    </p:spTree>
    <p:extLst>
      <p:ext uri="{BB962C8B-B14F-4D97-AF65-F5344CB8AC3E}">
        <p14:creationId xmlns:p14="http://schemas.microsoft.com/office/powerpoint/2010/main" val="3810111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4C4C-369C-E345-CE3E-B65A042A8E19}"/>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1849604D-B47A-A868-1CD8-FFD714A4730C}"/>
              </a:ext>
            </a:extLst>
          </p:cNvPr>
          <p:cNvSpPr>
            <a:spLocks noGrp="1"/>
          </p:cNvSpPr>
          <p:nvPr>
            <p:ph idx="1"/>
          </p:nvPr>
        </p:nvSpPr>
        <p:spPr/>
        <p:txBody>
          <a:bodyPr/>
          <a:lstStyle/>
          <a:p>
            <a:r>
              <a:rPr lang="en-US"/>
              <a:t>https://www.techtarget.com/searchstorage/definition/green-cloud</a:t>
            </a:r>
          </a:p>
        </p:txBody>
      </p:sp>
    </p:spTree>
    <p:extLst>
      <p:ext uri="{BB962C8B-B14F-4D97-AF65-F5344CB8AC3E}">
        <p14:creationId xmlns:p14="http://schemas.microsoft.com/office/powerpoint/2010/main" val="2127223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3708</Words>
  <Application>Microsoft Office PowerPoint</Application>
  <PresentationFormat>Widescreen</PresentationFormat>
  <Paragraphs>171</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Office Theme</vt:lpstr>
      <vt:lpstr>Cloud Simulators</vt:lpstr>
      <vt:lpstr>Syllabus</vt:lpstr>
      <vt:lpstr>Introduction to Simulator </vt:lpstr>
      <vt:lpstr>PowerPoint Presentation</vt:lpstr>
      <vt:lpstr>Example of Simulators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CloudSim simulator</vt:lpstr>
      <vt:lpstr>Benefits of Simulation over the Actual Deployment: </vt:lpstr>
      <vt:lpstr>Why use CloudSim? </vt:lpstr>
      <vt:lpstr>Features of CloudSim: </vt:lpstr>
      <vt:lpstr>Architecture of CloudSim </vt:lpstr>
      <vt:lpstr>PowerPoint Presentation</vt:lpstr>
      <vt:lpstr>PowerPoint Presentation</vt:lpstr>
      <vt:lpstr>PowerPoint Presentation</vt:lpstr>
      <vt:lpstr>PowerPoint Presentation</vt:lpstr>
      <vt:lpstr>PowerPoint Presentation</vt:lpstr>
      <vt:lpstr>Understanding Working platform for CloudSim</vt:lpstr>
      <vt:lpstr>Core Components of CloudSim API </vt:lpstr>
      <vt:lpstr>PowerPoint Presentation</vt:lpstr>
      <vt:lpstr>How CloudSim API for Cloud Simulations Works </vt:lpstr>
      <vt:lpstr>PowerPoint Presentation</vt:lpstr>
      <vt:lpstr>Setting Up Your Development Environment </vt:lpstr>
      <vt:lpstr>Exploring the Packages in CloudSim API </vt:lpstr>
      <vt:lpstr>PowerPoint Presentation</vt:lpstr>
      <vt:lpstr>PowerPoint Presentation</vt:lpstr>
      <vt:lpstr>PowerPoint Presentation</vt:lpstr>
      <vt:lpstr>Challenges and Considerations When Using CloudSim API </vt:lpstr>
      <vt:lpstr>Reference</vt:lpstr>
      <vt:lpstr>GreenCloud</vt:lpstr>
      <vt:lpstr>PowerPoint Presentation</vt:lpstr>
      <vt:lpstr>PowerPoint Presentation</vt:lpstr>
      <vt:lpstr>How does green cloud computing work? </vt:lpstr>
      <vt:lpstr>PowerPoint Presentation</vt:lpstr>
      <vt:lpstr>PowerPoint Presentation</vt:lpstr>
      <vt:lpstr>PowerPoint Presentation</vt:lpstr>
      <vt:lpstr>PowerPoint Presentation</vt:lpstr>
      <vt:lpstr>PowerPoint Presentation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6</cp:revision>
  <dcterms:created xsi:type="dcterms:W3CDTF">2026-03-30T05:28:29Z</dcterms:created>
  <dcterms:modified xsi:type="dcterms:W3CDTF">2026-03-30T07:52:14Z</dcterms:modified>
</cp:coreProperties>
</file>