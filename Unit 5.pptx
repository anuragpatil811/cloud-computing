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09190-0CA6-175A-EAE5-50C1EE5AB9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77F9386-94F8-C29A-146D-E801FFDEE6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06E5C13-2C47-E4F1-F2C0-9320CCED43CD}"/>
              </a:ext>
            </a:extLst>
          </p:cNvPr>
          <p:cNvSpPr>
            <a:spLocks noGrp="1"/>
          </p:cNvSpPr>
          <p:nvPr>
            <p:ph type="dt" sz="half" idx="10"/>
          </p:nvPr>
        </p:nvSpPr>
        <p:spPr/>
        <p:txBody>
          <a:bodyPr/>
          <a:lstStyle/>
          <a:p>
            <a:fld id="{44603AB3-08F2-4133-8279-A69FBB768215}" type="datetimeFigureOut">
              <a:rPr lang="en-US" smtClean="0"/>
              <a:t>4/16/2026</a:t>
            </a:fld>
            <a:endParaRPr lang="en-US"/>
          </a:p>
        </p:txBody>
      </p:sp>
      <p:sp>
        <p:nvSpPr>
          <p:cNvPr id="5" name="Footer Placeholder 4">
            <a:extLst>
              <a:ext uri="{FF2B5EF4-FFF2-40B4-BE49-F238E27FC236}">
                <a16:creationId xmlns:a16="http://schemas.microsoft.com/office/drawing/2014/main" id="{166A0A47-DF72-0B0A-858A-1430A72BAB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A29C3B-461A-245D-551B-0D5268AE9D94}"/>
              </a:ext>
            </a:extLst>
          </p:cNvPr>
          <p:cNvSpPr>
            <a:spLocks noGrp="1"/>
          </p:cNvSpPr>
          <p:nvPr>
            <p:ph type="sldNum" sz="quarter" idx="12"/>
          </p:nvPr>
        </p:nvSpPr>
        <p:spPr/>
        <p:txBody>
          <a:bodyPr/>
          <a:lstStyle/>
          <a:p>
            <a:fld id="{FF0B4E2A-4181-453D-83C1-5633B109AA42}" type="slidenum">
              <a:rPr lang="en-US" smtClean="0"/>
              <a:t>‹#›</a:t>
            </a:fld>
            <a:endParaRPr lang="en-US"/>
          </a:p>
        </p:txBody>
      </p:sp>
    </p:spTree>
    <p:extLst>
      <p:ext uri="{BB962C8B-B14F-4D97-AF65-F5344CB8AC3E}">
        <p14:creationId xmlns:p14="http://schemas.microsoft.com/office/powerpoint/2010/main" val="16072914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003D2-5B81-6FB8-0BB9-9045205323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742DC7-7FFF-A011-7085-006A72719C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8989F3-C6B3-B45F-3BE5-86B9C3CE0D08}"/>
              </a:ext>
            </a:extLst>
          </p:cNvPr>
          <p:cNvSpPr>
            <a:spLocks noGrp="1"/>
          </p:cNvSpPr>
          <p:nvPr>
            <p:ph type="dt" sz="half" idx="10"/>
          </p:nvPr>
        </p:nvSpPr>
        <p:spPr/>
        <p:txBody>
          <a:bodyPr/>
          <a:lstStyle/>
          <a:p>
            <a:fld id="{44603AB3-08F2-4133-8279-A69FBB768215}" type="datetimeFigureOut">
              <a:rPr lang="en-US" smtClean="0"/>
              <a:t>4/16/2026</a:t>
            </a:fld>
            <a:endParaRPr lang="en-US"/>
          </a:p>
        </p:txBody>
      </p:sp>
      <p:sp>
        <p:nvSpPr>
          <p:cNvPr id="5" name="Footer Placeholder 4">
            <a:extLst>
              <a:ext uri="{FF2B5EF4-FFF2-40B4-BE49-F238E27FC236}">
                <a16:creationId xmlns:a16="http://schemas.microsoft.com/office/drawing/2014/main" id="{17E6F694-6672-FC89-1E87-959C9135BB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6BCDC6-B0A9-396F-182A-F34DFE0E551D}"/>
              </a:ext>
            </a:extLst>
          </p:cNvPr>
          <p:cNvSpPr>
            <a:spLocks noGrp="1"/>
          </p:cNvSpPr>
          <p:nvPr>
            <p:ph type="sldNum" sz="quarter" idx="12"/>
          </p:nvPr>
        </p:nvSpPr>
        <p:spPr/>
        <p:txBody>
          <a:bodyPr/>
          <a:lstStyle/>
          <a:p>
            <a:fld id="{FF0B4E2A-4181-453D-83C1-5633B109AA42}" type="slidenum">
              <a:rPr lang="en-US" smtClean="0"/>
              <a:t>‹#›</a:t>
            </a:fld>
            <a:endParaRPr lang="en-US"/>
          </a:p>
        </p:txBody>
      </p:sp>
    </p:spTree>
    <p:extLst>
      <p:ext uri="{BB962C8B-B14F-4D97-AF65-F5344CB8AC3E}">
        <p14:creationId xmlns:p14="http://schemas.microsoft.com/office/powerpoint/2010/main" val="1074426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66542-7BE2-3D72-D783-99DCFDBED3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3B42492-E2F6-CDED-8D40-F7F17FE872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A6F8673-BF9A-37C4-681D-6DED75BCC350}"/>
              </a:ext>
            </a:extLst>
          </p:cNvPr>
          <p:cNvSpPr>
            <a:spLocks noGrp="1"/>
          </p:cNvSpPr>
          <p:nvPr>
            <p:ph type="dt" sz="half" idx="10"/>
          </p:nvPr>
        </p:nvSpPr>
        <p:spPr/>
        <p:txBody>
          <a:bodyPr/>
          <a:lstStyle/>
          <a:p>
            <a:fld id="{44603AB3-08F2-4133-8279-A69FBB768215}" type="datetimeFigureOut">
              <a:rPr lang="en-US" smtClean="0"/>
              <a:t>4/16/2026</a:t>
            </a:fld>
            <a:endParaRPr lang="en-US"/>
          </a:p>
        </p:txBody>
      </p:sp>
      <p:sp>
        <p:nvSpPr>
          <p:cNvPr id="5" name="Footer Placeholder 4">
            <a:extLst>
              <a:ext uri="{FF2B5EF4-FFF2-40B4-BE49-F238E27FC236}">
                <a16:creationId xmlns:a16="http://schemas.microsoft.com/office/drawing/2014/main" id="{9E734863-23F4-EDBD-2B82-4869F6D5D6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3E30C3-1FB9-52A7-57A6-DD7D2599FD45}"/>
              </a:ext>
            </a:extLst>
          </p:cNvPr>
          <p:cNvSpPr>
            <a:spLocks noGrp="1"/>
          </p:cNvSpPr>
          <p:nvPr>
            <p:ph type="sldNum" sz="quarter" idx="12"/>
          </p:nvPr>
        </p:nvSpPr>
        <p:spPr/>
        <p:txBody>
          <a:bodyPr/>
          <a:lstStyle/>
          <a:p>
            <a:fld id="{FF0B4E2A-4181-453D-83C1-5633B109AA42}" type="slidenum">
              <a:rPr lang="en-US" smtClean="0"/>
              <a:t>‹#›</a:t>
            </a:fld>
            <a:endParaRPr lang="en-US"/>
          </a:p>
        </p:txBody>
      </p:sp>
    </p:spTree>
    <p:extLst>
      <p:ext uri="{BB962C8B-B14F-4D97-AF65-F5344CB8AC3E}">
        <p14:creationId xmlns:p14="http://schemas.microsoft.com/office/powerpoint/2010/main" val="11933259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2BEF0-8711-5A2D-3CC1-400EE09890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A7E65B-4DD5-E1BF-C076-CD7F20BCF8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781D43F-E6B9-D4C2-B485-A569C76EC70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0046EAC-601F-8AAE-D1E2-3765F667C760}"/>
              </a:ext>
            </a:extLst>
          </p:cNvPr>
          <p:cNvSpPr>
            <a:spLocks noGrp="1"/>
          </p:cNvSpPr>
          <p:nvPr>
            <p:ph type="dt" sz="half" idx="10"/>
          </p:nvPr>
        </p:nvSpPr>
        <p:spPr/>
        <p:txBody>
          <a:bodyPr/>
          <a:lstStyle/>
          <a:p>
            <a:fld id="{44603AB3-08F2-4133-8279-A69FBB768215}" type="datetimeFigureOut">
              <a:rPr lang="en-US" smtClean="0"/>
              <a:t>4/16/2026</a:t>
            </a:fld>
            <a:endParaRPr lang="en-US"/>
          </a:p>
        </p:txBody>
      </p:sp>
      <p:sp>
        <p:nvSpPr>
          <p:cNvPr id="6" name="Footer Placeholder 5">
            <a:extLst>
              <a:ext uri="{FF2B5EF4-FFF2-40B4-BE49-F238E27FC236}">
                <a16:creationId xmlns:a16="http://schemas.microsoft.com/office/drawing/2014/main" id="{45182DFC-B408-049D-BEE7-5E0222E7BF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03D22C-011B-28A6-AACF-51AD4E64F3B6}"/>
              </a:ext>
            </a:extLst>
          </p:cNvPr>
          <p:cNvSpPr>
            <a:spLocks noGrp="1"/>
          </p:cNvSpPr>
          <p:nvPr>
            <p:ph type="sldNum" sz="quarter" idx="12"/>
          </p:nvPr>
        </p:nvSpPr>
        <p:spPr/>
        <p:txBody>
          <a:bodyPr/>
          <a:lstStyle/>
          <a:p>
            <a:fld id="{FF0B4E2A-4181-453D-83C1-5633B109AA42}" type="slidenum">
              <a:rPr lang="en-US" smtClean="0"/>
              <a:t>‹#›</a:t>
            </a:fld>
            <a:endParaRPr lang="en-US"/>
          </a:p>
        </p:txBody>
      </p:sp>
    </p:spTree>
    <p:extLst>
      <p:ext uri="{BB962C8B-B14F-4D97-AF65-F5344CB8AC3E}">
        <p14:creationId xmlns:p14="http://schemas.microsoft.com/office/powerpoint/2010/main" val="2130241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D71C0-15B1-1D8A-937A-B3C52D5FF3C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7B75222-2907-BEA4-83C7-30CFDAD36C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3E2816-70C7-F45C-8C39-5BD19CD280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8794FF4-A196-C589-5AAE-E0BDCCD5BA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5BE416-8524-9F9A-76D0-86BC2E73F9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D17CA98-06FB-AC00-7615-E0940CBD01E1}"/>
              </a:ext>
            </a:extLst>
          </p:cNvPr>
          <p:cNvSpPr>
            <a:spLocks noGrp="1"/>
          </p:cNvSpPr>
          <p:nvPr>
            <p:ph type="dt" sz="half" idx="10"/>
          </p:nvPr>
        </p:nvSpPr>
        <p:spPr/>
        <p:txBody>
          <a:bodyPr/>
          <a:lstStyle/>
          <a:p>
            <a:fld id="{44603AB3-08F2-4133-8279-A69FBB768215}" type="datetimeFigureOut">
              <a:rPr lang="en-US" smtClean="0"/>
              <a:t>4/16/2026</a:t>
            </a:fld>
            <a:endParaRPr lang="en-US"/>
          </a:p>
        </p:txBody>
      </p:sp>
      <p:sp>
        <p:nvSpPr>
          <p:cNvPr id="8" name="Footer Placeholder 7">
            <a:extLst>
              <a:ext uri="{FF2B5EF4-FFF2-40B4-BE49-F238E27FC236}">
                <a16:creationId xmlns:a16="http://schemas.microsoft.com/office/drawing/2014/main" id="{7B617BAC-40A1-6F05-FBD1-723A24AD6E2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E62521-95C4-3705-2BBC-C96E72311385}"/>
              </a:ext>
            </a:extLst>
          </p:cNvPr>
          <p:cNvSpPr>
            <a:spLocks noGrp="1"/>
          </p:cNvSpPr>
          <p:nvPr>
            <p:ph type="sldNum" sz="quarter" idx="12"/>
          </p:nvPr>
        </p:nvSpPr>
        <p:spPr/>
        <p:txBody>
          <a:bodyPr/>
          <a:lstStyle/>
          <a:p>
            <a:fld id="{FF0B4E2A-4181-453D-83C1-5633B109AA42}" type="slidenum">
              <a:rPr lang="en-US" smtClean="0"/>
              <a:t>‹#›</a:t>
            </a:fld>
            <a:endParaRPr lang="en-US"/>
          </a:p>
        </p:txBody>
      </p:sp>
    </p:spTree>
    <p:extLst>
      <p:ext uri="{BB962C8B-B14F-4D97-AF65-F5344CB8AC3E}">
        <p14:creationId xmlns:p14="http://schemas.microsoft.com/office/powerpoint/2010/main" val="3689468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FCB5D-C421-FEB1-9656-87E0710DC92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09C1644-1560-4D80-8473-7073A8AE5ADF}"/>
              </a:ext>
            </a:extLst>
          </p:cNvPr>
          <p:cNvSpPr>
            <a:spLocks noGrp="1"/>
          </p:cNvSpPr>
          <p:nvPr>
            <p:ph type="dt" sz="half" idx="10"/>
          </p:nvPr>
        </p:nvSpPr>
        <p:spPr/>
        <p:txBody>
          <a:bodyPr/>
          <a:lstStyle/>
          <a:p>
            <a:fld id="{44603AB3-08F2-4133-8279-A69FBB768215}" type="datetimeFigureOut">
              <a:rPr lang="en-US" smtClean="0"/>
              <a:t>4/16/2026</a:t>
            </a:fld>
            <a:endParaRPr lang="en-US"/>
          </a:p>
        </p:txBody>
      </p:sp>
      <p:sp>
        <p:nvSpPr>
          <p:cNvPr id="4" name="Footer Placeholder 3">
            <a:extLst>
              <a:ext uri="{FF2B5EF4-FFF2-40B4-BE49-F238E27FC236}">
                <a16:creationId xmlns:a16="http://schemas.microsoft.com/office/drawing/2014/main" id="{E20DC1CC-BE42-6439-7B03-1BEBFDEDA57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43D6BB-FE4B-79C3-40BE-C346642E9496}"/>
              </a:ext>
            </a:extLst>
          </p:cNvPr>
          <p:cNvSpPr>
            <a:spLocks noGrp="1"/>
          </p:cNvSpPr>
          <p:nvPr>
            <p:ph type="sldNum" sz="quarter" idx="12"/>
          </p:nvPr>
        </p:nvSpPr>
        <p:spPr/>
        <p:txBody>
          <a:bodyPr/>
          <a:lstStyle/>
          <a:p>
            <a:fld id="{FF0B4E2A-4181-453D-83C1-5633B109AA42}" type="slidenum">
              <a:rPr lang="en-US" smtClean="0"/>
              <a:t>‹#›</a:t>
            </a:fld>
            <a:endParaRPr lang="en-US"/>
          </a:p>
        </p:txBody>
      </p:sp>
    </p:spTree>
    <p:extLst>
      <p:ext uri="{BB962C8B-B14F-4D97-AF65-F5344CB8AC3E}">
        <p14:creationId xmlns:p14="http://schemas.microsoft.com/office/powerpoint/2010/main" val="9528526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6F45F4-070A-B685-662E-AEA2134063E5}"/>
              </a:ext>
            </a:extLst>
          </p:cNvPr>
          <p:cNvSpPr>
            <a:spLocks noGrp="1"/>
          </p:cNvSpPr>
          <p:nvPr>
            <p:ph type="dt" sz="half" idx="10"/>
          </p:nvPr>
        </p:nvSpPr>
        <p:spPr/>
        <p:txBody>
          <a:bodyPr/>
          <a:lstStyle/>
          <a:p>
            <a:fld id="{44603AB3-08F2-4133-8279-A69FBB768215}" type="datetimeFigureOut">
              <a:rPr lang="en-US" smtClean="0"/>
              <a:t>4/16/2026</a:t>
            </a:fld>
            <a:endParaRPr lang="en-US"/>
          </a:p>
        </p:txBody>
      </p:sp>
      <p:sp>
        <p:nvSpPr>
          <p:cNvPr id="3" name="Footer Placeholder 2">
            <a:extLst>
              <a:ext uri="{FF2B5EF4-FFF2-40B4-BE49-F238E27FC236}">
                <a16:creationId xmlns:a16="http://schemas.microsoft.com/office/drawing/2014/main" id="{07223446-83A4-1728-BE34-D8A92AF7D5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FA8395C-08E9-06E7-4040-E5B51059FB20}"/>
              </a:ext>
            </a:extLst>
          </p:cNvPr>
          <p:cNvSpPr>
            <a:spLocks noGrp="1"/>
          </p:cNvSpPr>
          <p:nvPr>
            <p:ph type="sldNum" sz="quarter" idx="12"/>
          </p:nvPr>
        </p:nvSpPr>
        <p:spPr/>
        <p:txBody>
          <a:bodyPr/>
          <a:lstStyle/>
          <a:p>
            <a:fld id="{FF0B4E2A-4181-453D-83C1-5633B109AA42}" type="slidenum">
              <a:rPr lang="en-US" smtClean="0"/>
              <a:t>‹#›</a:t>
            </a:fld>
            <a:endParaRPr lang="en-US"/>
          </a:p>
        </p:txBody>
      </p:sp>
    </p:spTree>
    <p:extLst>
      <p:ext uri="{BB962C8B-B14F-4D97-AF65-F5344CB8AC3E}">
        <p14:creationId xmlns:p14="http://schemas.microsoft.com/office/powerpoint/2010/main" val="39382865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C7325-7270-47DE-CEFA-F2270A5543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F03AF73-00B5-392F-5BF0-D599A47FD2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9E8E750-A464-A425-22BD-6EF677A148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185967-E17A-7AFE-90B7-EE905C4C1D96}"/>
              </a:ext>
            </a:extLst>
          </p:cNvPr>
          <p:cNvSpPr>
            <a:spLocks noGrp="1"/>
          </p:cNvSpPr>
          <p:nvPr>
            <p:ph type="dt" sz="half" idx="10"/>
          </p:nvPr>
        </p:nvSpPr>
        <p:spPr/>
        <p:txBody>
          <a:bodyPr/>
          <a:lstStyle/>
          <a:p>
            <a:fld id="{44603AB3-08F2-4133-8279-A69FBB768215}" type="datetimeFigureOut">
              <a:rPr lang="en-US" smtClean="0"/>
              <a:t>4/16/2026</a:t>
            </a:fld>
            <a:endParaRPr lang="en-US"/>
          </a:p>
        </p:txBody>
      </p:sp>
      <p:sp>
        <p:nvSpPr>
          <p:cNvPr id="6" name="Footer Placeholder 5">
            <a:extLst>
              <a:ext uri="{FF2B5EF4-FFF2-40B4-BE49-F238E27FC236}">
                <a16:creationId xmlns:a16="http://schemas.microsoft.com/office/drawing/2014/main" id="{291E8DB2-8751-9F8C-A304-9AE3690D96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2A6E33-8D6B-A1A1-B608-F609CC266BEA}"/>
              </a:ext>
            </a:extLst>
          </p:cNvPr>
          <p:cNvSpPr>
            <a:spLocks noGrp="1"/>
          </p:cNvSpPr>
          <p:nvPr>
            <p:ph type="sldNum" sz="quarter" idx="12"/>
          </p:nvPr>
        </p:nvSpPr>
        <p:spPr/>
        <p:txBody>
          <a:bodyPr/>
          <a:lstStyle/>
          <a:p>
            <a:fld id="{FF0B4E2A-4181-453D-83C1-5633B109AA42}" type="slidenum">
              <a:rPr lang="en-US" smtClean="0"/>
              <a:t>‹#›</a:t>
            </a:fld>
            <a:endParaRPr lang="en-US"/>
          </a:p>
        </p:txBody>
      </p:sp>
    </p:spTree>
    <p:extLst>
      <p:ext uri="{BB962C8B-B14F-4D97-AF65-F5344CB8AC3E}">
        <p14:creationId xmlns:p14="http://schemas.microsoft.com/office/powerpoint/2010/main" val="1720814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01DA7-03E6-43AE-C31A-44FD2FF633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192CEBA-6A96-46DD-EB2B-DDBBC044F3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B8A8E5C-E3A6-BF0B-9358-908B96D703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802650-F9BC-55CD-578A-38E17589590F}"/>
              </a:ext>
            </a:extLst>
          </p:cNvPr>
          <p:cNvSpPr>
            <a:spLocks noGrp="1"/>
          </p:cNvSpPr>
          <p:nvPr>
            <p:ph type="dt" sz="half" idx="10"/>
          </p:nvPr>
        </p:nvSpPr>
        <p:spPr/>
        <p:txBody>
          <a:bodyPr/>
          <a:lstStyle/>
          <a:p>
            <a:fld id="{44603AB3-08F2-4133-8279-A69FBB768215}" type="datetimeFigureOut">
              <a:rPr lang="en-US" smtClean="0"/>
              <a:t>4/16/2026</a:t>
            </a:fld>
            <a:endParaRPr lang="en-US"/>
          </a:p>
        </p:txBody>
      </p:sp>
      <p:sp>
        <p:nvSpPr>
          <p:cNvPr id="6" name="Footer Placeholder 5">
            <a:extLst>
              <a:ext uri="{FF2B5EF4-FFF2-40B4-BE49-F238E27FC236}">
                <a16:creationId xmlns:a16="http://schemas.microsoft.com/office/drawing/2014/main" id="{7A78224D-46FF-D360-8F4B-1239D2C011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8525A7-12FE-136A-6C35-14648F4DC0FA}"/>
              </a:ext>
            </a:extLst>
          </p:cNvPr>
          <p:cNvSpPr>
            <a:spLocks noGrp="1"/>
          </p:cNvSpPr>
          <p:nvPr>
            <p:ph type="sldNum" sz="quarter" idx="12"/>
          </p:nvPr>
        </p:nvSpPr>
        <p:spPr/>
        <p:txBody>
          <a:bodyPr/>
          <a:lstStyle/>
          <a:p>
            <a:fld id="{FF0B4E2A-4181-453D-83C1-5633B109AA42}" type="slidenum">
              <a:rPr lang="en-US" smtClean="0"/>
              <a:t>‹#›</a:t>
            </a:fld>
            <a:endParaRPr lang="en-US"/>
          </a:p>
        </p:txBody>
      </p:sp>
    </p:spTree>
    <p:extLst>
      <p:ext uri="{BB962C8B-B14F-4D97-AF65-F5344CB8AC3E}">
        <p14:creationId xmlns:p14="http://schemas.microsoft.com/office/powerpoint/2010/main" val="21506091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E71BE-3A3E-FB89-07B2-89DE500EB6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F3D4885-D186-BA3B-F4C1-CC6E040A41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515065-250A-98F6-029B-2F03502B9365}"/>
              </a:ext>
            </a:extLst>
          </p:cNvPr>
          <p:cNvSpPr>
            <a:spLocks noGrp="1"/>
          </p:cNvSpPr>
          <p:nvPr>
            <p:ph type="dt" sz="half" idx="10"/>
          </p:nvPr>
        </p:nvSpPr>
        <p:spPr/>
        <p:txBody>
          <a:bodyPr/>
          <a:lstStyle/>
          <a:p>
            <a:fld id="{44603AB3-08F2-4133-8279-A69FBB768215}" type="datetimeFigureOut">
              <a:rPr lang="en-US" smtClean="0"/>
              <a:t>4/16/2026</a:t>
            </a:fld>
            <a:endParaRPr lang="en-US"/>
          </a:p>
        </p:txBody>
      </p:sp>
      <p:sp>
        <p:nvSpPr>
          <p:cNvPr id="5" name="Footer Placeholder 4">
            <a:extLst>
              <a:ext uri="{FF2B5EF4-FFF2-40B4-BE49-F238E27FC236}">
                <a16:creationId xmlns:a16="http://schemas.microsoft.com/office/drawing/2014/main" id="{FCB673C5-7747-93A5-E65F-1329CABCB5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D9DA0B-4530-9473-C1FA-29461A5E3A79}"/>
              </a:ext>
            </a:extLst>
          </p:cNvPr>
          <p:cNvSpPr>
            <a:spLocks noGrp="1"/>
          </p:cNvSpPr>
          <p:nvPr>
            <p:ph type="sldNum" sz="quarter" idx="12"/>
          </p:nvPr>
        </p:nvSpPr>
        <p:spPr/>
        <p:txBody>
          <a:bodyPr/>
          <a:lstStyle/>
          <a:p>
            <a:fld id="{FF0B4E2A-4181-453D-83C1-5633B109AA42}" type="slidenum">
              <a:rPr lang="en-US" smtClean="0"/>
              <a:t>‹#›</a:t>
            </a:fld>
            <a:endParaRPr lang="en-US"/>
          </a:p>
        </p:txBody>
      </p:sp>
    </p:spTree>
    <p:extLst>
      <p:ext uri="{BB962C8B-B14F-4D97-AF65-F5344CB8AC3E}">
        <p14:creationId xmlns:p14="http://schemas.microsoft.com/office/powerpoint/2010/main" val="3398165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EA4C51-C90C-D462-E663-4B1998030FC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97F04A8-88E7-8E5D-7521-FB74CC12B0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DF584A-05A8-5AB1-2B02-1C4A51ACB79F}"/>
              </a:ext>
            </a:extLst>
          </p:cNvPr>
          <p:cNvSpPr>
            <a:spLocks noGrp="1"/>
          </p:cNvSpPr>
          <p:nvPr>
            <p:ph type="dt" sz="half" idx="10"/>
          </p:nvPr>
        </p:nvSpPr>
        <p:spPr/>
        <p:txBody>
          <a:bodyPr/>
          <a:lstStyle/>
          <a:p>
            <a:fld id="{44603AB3-08F2-4133-8279-A69FBB768215}" type="datetimeFigureOut">
              <a:rPr lang="en-US" smtClean="0"/>
              <a:t>4/16/2026</a:t>
            </a:fld>
            <a:endParaRPr lang="en-US"/>
          </a:p>
        </p:txBody>
      </p:sp>
      <p:sp>
        <p:nvSpPr>
          <p:cNvPr id="5" name="Footer Placeholder 4">
            <a:extLst>
              <a:ext uri="{FF2B5EF4-FFF2-40B4-BE49-F238E27FC236}">
                <a16:creationId xmlns:a16="http://schemas.microsoft.com/office/drawing/2014/main" id="{9FA2FB61-F84F-8FE7-5752-95F2CA98F8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CE40DF-6F99-FD5E-7566-D7F04BDBEEC0}"/>
              </a:ext>
            </a:extLst>
          </p:cNvPr>
          <p:cNvSpPr>
            <a:spLocks noGrp="1"/>
          </p:cNvSpPr>
          <p:nvPr>
            <p:ph type="sldNum" sz="quarter" idx="12"/>
          </p:nvPr>
        </p:nvSpPr>
        <p:spPr/>
        <p:txBody>
          <a:bodyPr/>
          <a:lstStyle/>
          <a:p>
            <a:fld id="{FF0B4E2A-4181-453D-83C1-5633B109AA42}" type="slidenum">
              <a:rPr lang="en-US" smtClean="0"/>
              <a:t>‹#›</a:t>
            </a:fld>
            <a:endParaRPr lang="en-US"/>
          </a:p>
        </p:txBody>
      </p:sp>
    </p:spTree>
    <p:extLst>
      <p:ext uri="{BB962C8B-B14F-4D97-AF65-F5344CB8AC3E}">
        <p14:creationId xmlns:p14="http://schemas.microsoft.com/office/powerpoint/2010/main" val="4056317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3540D8-F27B-D6EF-BAF7-3530E302C4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CEBAA05-A00A-D512-301A-4F6853DAE3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9902A4-AFF7-C6E0-42A2-6101DBA42B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603AB3-08F2-4133-8279-A69FBB768215}" type="datetimeFigureOut">
              <a:rPr lang="en-US" smtClean="0"/>
              <a:t>4/16/2026</a:t>
            </a:fld>
            <a:endParaRPr lang="en-US"/>
          </a:p>
        </p:txBody>
      </p:sp>
      <p:sp>
        <p:nvSpPr>
          <p:cNvPr id="5" name="Footer Placeholder 4">
            <a:extLst>
              <a:ext uri="{FF2B5EF4-FFF2-40B4-BE49-F238E27FC236}">
                <a16:creationId xmlns:a16="http://schemas.microsoft.com/office/drawing/2014/main" id="{44425EA3-2C13-253D-2876-977BE044E8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91C9A5E-00CA-3229-D907-13EF6AB4A9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0B4E2A-4181-453D-83C1-5633B109AA42}" type="slidenum">
              <a:rPr lang="en-US" smtClean="0"/>
              <a:t>‹#›</a:t>
            </a:fld>
            <a:endParaRPr lang="en-US"/>
          </a:p>
        </p:txBody>
      </p:sp>
    </p:spTree>
    <p:extLst>
      <p:ext uri="{BB962C8B-B14F-4D97-AF65-F5344CB8AC3E}">
        <p14:creationId xmlns:p14="http://schemas.microsoft.com/office/powerpoint/2010/main" val="5688897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geeksforgeeks.org/devops/google-cloud-armor/" TargetMode="External"/><Relationship Id="rId2" Type="http://schemas.openxmlformats.org/officeDocument/2006/relationships/hyperlink" Target="https://www.geeksforgeeks.org/cloud-computing/introduction-to-amazon-cloudwatch/" TargetMode="External"/><Relationship Id="rId1" Type="http://schemas.openxmlformats.org/officeDocument/2006/relationships/slideLayout" Target="../slideLayouts/slideLayout2.xml"/><Relationship Id="rId4" Type="http://schemas.openxmlformats.org/officeDocument/2006/relationships/hyperlink" Target="https://www.geeksforgeeks.org/cloud-computing/introduction-to-amazon-route53/"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D601A-FC08-39F3-26D6-1F72B3B206FC}"/>
              </a:ext>
            </a:extLst>
          </p:cNvPr>
          <p:cNvSpPr>
            <a:spLocks noGrp="1"/>
          </p:cNvSpPr>
          <p:nvPr>
            <p:ph type="ctrTitle"/>
          </p:nvPr>
        </p:nvSpPr>
        <p:spPr>
          <a:xfrm>
            <a:off x="1524000" y="1122363"/>
            <a:ext cx="9144000" cy="1199597"/>
          </a:xfrm>
        </p:spPr>
        <p:txBody>
          <a:bodyPr>
            <a:normAutofit/>
          </a:bodyPr>
          <a:lstStyle/>
          <a:p>
            <a:r>
              <a:rPr lang="en-US" b="1" dirty="0"/>
              <a:t>Unit No 5</a:t>
            </a:r>
            <a:endParaRPr lang="en-US" dirty="0"/>
          </a:p>
        </p:txBody>
      </p:sp>
      <p:sp>
        <p:nvSpPr>
          <p:cNvPr id="3" name="Subtitle 2">
            <a:extLst>
              <a:ext uri="{FF2B5EF4-FFF2-40B4-BE49-F238E27FC236}">
                <a16:creationId xmlns:a16="http://schemas.microsoft.com/office/drawing/2014/main" id="{471E86A9-EEA5-DA97-F723-116116708870}"/>
              </a:ext>
            </a:extLst>
          </p:cNvPr>
          <p:cNvSpPr>
            <a:spLocks noGrp="1"/>
          </p:cNvSpPr>
          <p:nvPr>
            <p:ph type="subTitle" idx="1"/>
          </p:nvPr>
        </p:nvSpPr>
        <p:spPr>
          <a:xfrm>
            <a:off x="1524000" y="2866490"/>
            <a:ext cx="9144000" cy="2391310"/>
          </a:xfrm>
        </p:spPr>
        <p:txBody>
          <a:bodyPr>
            <a:normAutofit/>
          </a:bodyPr>
          <a:lstStyle/>
          <a:p>
            <a:r>
              <a:rPr lang="en-US" sz="4000" b="1" dirty="0"/>
              <a:t>Cloud Platforms, Applications, and Emerging Trends</a:t>
            </a:r>
            <a:endParaRPr lang="en-US" sz="4000" dirty="0"/>
          </a:p>
        </p:txBody>
      </p:sp>
    </p:spTree>
    <p:extLst>
      <p:ext uri="{BB962C8B-B14F-4D97-AF65-F5344CB8AC3E}">
        <p14:creationId xmlns:p14="http://schemas.microsoft.com/office/powerpoint/2010/main" val="3195746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E707A-75AB-A661-9A9D-008CF29D276E}"/>
              </a:ext>
            </a:extLst>
          </p:cNvPr>
          <p:cNvSpPr>
            <a:spLocks noGrp="1"/>
          </p:cNvSpPr>
          <p:nvPr>
            <p:ph type="title"/>
          </p:nvPr>
        </p:nvSpPr>
        <p:spPr/>
        <p:txBody>
          <a:bodyPr/>
          <a:lstStyle/>
          <a:p>
            <a:r>
              <a:rPr lang="en-US" dirty="0"/>
              <a:t>Syllabus</a:t>
            </a:r>
          </a:p>
        </p:txBody>
      </p:sp>
      <p:sp>
        <p:nvSpPr>
          <p:cNvPr id="3" name="Content Placeholder 2">
            <a:extLst>
              <a:ext uri="{FF2B5EF4-FFF2-40B4-BE49-F238E27FC236}">
                <a16:creationId xmlns:a16="http://schemas.microsoft.com/office/drawing/2014/main" id="{2BC74BFC-03FB-917D-3D5B-DBACBC9AFC2F}"/>
              </a:ext>
            </a:extLst>
          </p:cNvPr>
          <p:cNvSpPr>
            <a:spLocks noGrp="1"/>
          </p:cNvSpPr>
          <p:nvPr>
            <p:ph idx="1"/>
          </p:nvPr>
        </p:nvSpPr>
        <p:spPr/>
        <p:txBody>
          <a:bodyPr/>
          <a:lstStyle/>
          <a:p>
            <a:pPr algn="just"/>
            <a:r>
              <a:rPr lang="en-US" dirty="0"/>
              <a:t>Overview of Cloud Service Providers: AWS, Azure, Google Cloud </a:t>
            </a:r>
          </a:p>
          <a:p>
            <a:pPr algn="just"/>
            <a:r>
              <a:rPr lang="en-US" dirty="0"/>
              <a:t>Hands-on with Cloud Services: Compute (EC2, Virtual Machines, Lambda) ,Storage (S3, Blob Storage, Google </a:t>
            </a:r>
            <a:r>
              <a:rPr lang="fr-FR" dirty="0"/>
              <a:t>Cloud Storage) , </a:t>
            </a:r>
            <a:r>
              <a:rPr lang="fr-FR" dirty="0" err="1"/>
              <a:t>Databases</a:t>
            </a:r>
            <a:r>
              <a:rPr lang="fr-FR" dirty="0"/>
              <a:t> (</a:t>
            </a:r>
            <a:r>
              <a:rPr lang="fr-FR" dirty="0" err="1"/>
              <a:t>DynamoDB</a:t>
            </a:r>
            <a:r>
              <a:rPr lang="fr-FR" dirty="0"/>
              <a:t>, Cloud SQL)</a:t>
            </a:r>
          </a:p>
          <a:p>
            <a:pPr algn="just"/>
            <a:r>
              <a:rPr lang="en-US" dirty="0"/>
              <a:t>Cloud in IoT, AI, and Big Data ,Serverless Computing &amp; Edge Computing</a:t>
            </a:r>
          </a:p>
          <a:p>
            <a:pPr algn="just"/>
            <a:r>
              <a:rPr lang="en-US" dirty="0"/>
              <a:t>Cloud-Native Development and microservices.</a:t>
            </a:r>
          </a:p>
        </p:txBody>
      </p:sp>
    </p:spTree>
    <p:extLst>
      <p:ext uri="{BB962C8B-B14F-4D97-AF65-F5344CB8AC3E}">
        <p14:creationId xmlns:p14="http://schemas.microsoft.com/office/powerpoint/2010/main" val="1201464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EC059-FF3D-2029-5434-B5003CA94851}"/>
              </a:ext>
            </a:extLst>
          </p:cNvPr>
          <p:cNvSpPr>
            <a:spLocks noGrp="1"/>
          </p:cNvSpPr>
          <p:nvPr>
            <p:ph type="title"/>
          </p:nvPr>
        </p:nvSpPr>
        <p:spPr/>
        <p:txBody>
          <a:bodyPr>
            <a:normAutofit fontScale="90000"/>
          </a:bodyPr>
          <a:lstStyle/>
          <a:p>
            <a:br>
              <a:rPr lang="en-US" dirty="0"/>
            </a:br>
            <a:r>
              <a:rPr lang="en-US" dirty="0"/>
              <a:t>Overview of Cloud Service Providers: AWS, Azure, Google Cloud </a:t>
            </a:r>
            <a:br>
              <a:rPr lang="en-US" dirty="0"/>
            </a:br>
            <a:endParaRPr lang="en-US" dirty="0"/>
          </a:p>
        </p:txBody>
      </p:sp>
      <p:sp>
        <p:nvSpPr>
          <p:cNvPr id="3" name="Content Placeholder 2">
            <a:extLst>
              <a:ext uri="{FF2B5EF4-FFF2-40B4-BE49-F238E27FC236}">
                <a16:creationId xmlns:a16="http://schemas.microsoft.com/office/drawing/2014/main" id="{83477D79-B445-CA7C-4D71-70D10431D93C}"/>
              </a:ext>
            </a:extLst>
          </p:cNvPr>
          <p:cNvSpPr>
            <a:spLocks noGrp="1"/>
          </p:cNvSpPr>
          <p:nvPr>
            <p:ph idx="1"/>
          </p:nvPr>
        </p:nvSpPr>
        <p:spPr/>
        <p:txBody>
          <a:bodyPr/>
          <a:lstStyle/>
          <a:p>
            <a:pPr marL="0" indent="0" algn="just">
              <a:buNone/>
            </a:pPr>
            <a:r>
              <a:rPr lang="en-US" b="1" dirty="0"/>
              <a:t>Amazon Web Services</a:t>
            </a:r>
            <a:r>
              <a:rPr lang="en-US" dirty="0"/>
              <a:t>: </a:t>
            </a:r>
          </a:p>
          <a:p>
            <a:pPr algn="just"/>
            <a:r>
              <a:rPr lang="en-US" dirty="0"/>
              <a:t>AWS is a cloud service platform offered by Amazon. </a:t>
            </a:r>
          </a:p>
          <a:p>
            <a:pPr algn="just"/>
            <a:r>
              <a:rPr lang="en-US" dirty="0"/>
              <a:t>The benefits of AWS has flexibility, cost-effectiveness, scalability, and security. </a:t>
            </a:r>
          </a:p>
          <a:p>
            <a:pPr algn="just"/>
            <a:r>
              <a:rPr lang="en-US" dirty="0"/>
              <a:t>AWS has currently 26 regions (Global availability). </a:t>
            </a:r>
          </a:p>
          <a:p>
            <a:pPr algn="just"/>
            <a:r>
              <a:rPr lang="en-US" dirty="0"/>
              <a:t>In AWS what services you used, you have to pay for it, AWS provides over 200 featured services globally. Examples - Amazon EC2 (Elastic Compute Cloud), Amazon S3 etc. It has a 33% global market share.</a:t>
            </a:r>
          </a:p>
        </p:txBody>
      </p:sp>
    </p:spTree>
    <p:extLst>
      <p:ext uri="{BB962C8B-B14F-4D97-AF65-F5344CB8AC3E}">
        <p14:creationId xmlns:p14="http://schemas.microsoft.com/office/powerpoint/2010/main" val="9134841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C6797-00E7-67F5-6F21-CE788389719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D7392F3-5221-7F17-837C-39587EEC64D8}"/>
              </a:ext>
            </a:extLst>
          </p:cNvPr>
          <p:cNvSpPr>
            <a:spLocks noGrp="1"/>
          </p:cNvSpPr>
          <p:nvPr>
            <p:ph idx="1"/>
          </p:nvPr>
        </p:nvSpPr>
        <p:spPr/>
        <p:txBody>
          <a:bodyPr/>
          <a:lstStyle/>
          <a:p>
            <a:pPr marL="0" indent="0">
              <a:buNone/>
            </a:pPr>
            <a:r>
              <a:rPr lang="en-US" b="1" dirty="0"/>
              <a:t>Microsoft Azure</a:t>
            </a:r>
            <a:r>
              <a:rPr lang="en-US" dirty="0"/>
              <a:t>: Azure is the Microsoft cloud solution. </a:t>
            </a:r>
          </a:p>
          <a:p>
            <a:pPr algn="just"/>
            <a:r>
              <a:rPr lang="en-US" dirty="0"/>
              <a:t>It contains all different types of services whether you need a VM, a big or small website, to run a database or your container, or just some kind of Server support all those services are available in Azure. </a:t>
            </a:r>
          </a:p>
          <a:p>
            <a:pPr algn="just"/>
            <a:r>
              <a:rPr lang="en-US" dirty="0"/>
              <a:t>The beauty of it is like all other cloud solution providers you pay for what you use, so instantiate buy yours by yourself by going through the portal what you need and you will pay for it. Azure has more than 200 services. </a:t>
            </a:r>
          </a:p>
        </p:txBody>
      </p:sp>
    </p:spTree>
    <p:extLst>
      <p:ext uri="{BB962C8B-B14F-4D97-AF65-F5344CB8AC3E}">
        <p14:creationId xmlns:p14="http://schemas.microsoft.com/office/powerpoint/2010/main" val="20642716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AD83D-8AC3-9B0F-FF3E-83F4BFC096E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E8BD074-7C15-3A57-F5B5-489D6202E9BC}"/>
              </a:ext>
            </a:extLst>
          </p:cNvPr>
          <p:cNvSpPr>
            <a:spLocks noGrp="1"/>
          </p:cNvSpPr>
          <p:nvPr>
            <p:ph idx="1"/>
          </p:nvPr>
        </p:nvSpPr>
        <p:spPr/>
        <p:txBody>
          <a:bodyPr/>
          <a:lstStyle/>
          <a:p>
            <a:pPr marL="0" indent="0" algn="just">
              <a:buNone/>
            </a:pPr>
            <a:r>
              <a:rPr lang="en-US" b="1" dirty="0"/>
              <a:t>Google Cloud Platform</a:t>
            </a:r>
            <a:r>
              <a:rPr lang="en-US" dirty="0"/>
              <a:t>: Google Cloud Platform is a public cloud computing service offered by Google. </a:t>
            </a:r>
          </a:p>
          <a:p>
            <a:pPr algn="just"/>
            <a:r>
              <a:rPr lang="en-US" dirty="0"/>
              <a:t>It has multiple services example - computing, Storage, Networking, Big data, Developer Tools, IOT, Cloud AI, Data Transfer, Identity &amp; Security. </a:t>
            </a:r>
          </a:p>
          <a:p>
            <a:pPr algn="just"/>
            <a:r>
              <a:rPr lang="en-US" dirty="0"/>
              <a:t>Google Cloud Platform is a world-leading company Google Cloud Platform has high-level security and GCP has the biggest networking and better pricing model.</a:t>
            </a:r>
          </a:p>
        </p:txBody>
      </p:sp>
    </p:spTree>
    <p:extLst>
      <p:ext uri="{BB962C8B-B14F-4D97-AF65-F5344CB8AC3E}">
        <p14:creationId xmlns:p14="http://schemas.microsoft.com/office/powerpoint/2010/main" val="17088821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7074A-5E3A-BB55-6DEB-9EC0F7A346F6}"/>
              </a:ext>
            </a:extLst>
          </p:cNvPr>
          <p:cNvSpPr>
            <a:spLocks noGrp="1"/>
          </p:cNvSpPr>
          <p:nvPr>
            <p:ph type="title"/>
          </p:nvPr>
        </p:nvSpPr>
        <p:spPr/>
        <p:txBody>
          <a:bodyPr/>
          <a:lstStyle/>
          <a:p>
            <a:r>
              <a:rPr lang="en-US" b="1" dirty="0"/>
              <a:t>Advantages of AWS, Azure and GCP</a:t>
            </a:r>
            <a:br>
              <a:rPr lang="en-US" b="1" dirty="0"/>
            </a:br>
            <a:endParaRPr lang="en-US" dirty="0"/>
          </a:p>
        </p:txBody>
      </p:sp>
      <p:sp>
        <p:nvSpPr>
          <p:cNvPr id="3" name="Content Placeholder 2">
            <a:extLst>
              <a:ext uri="{FF2B5EF4-FFF2-40B4-BE49-F238E27FC236}">
                <a16:creationId xmlns:a16="http://schemas.microsoft.com/office/drawing/2014/main" id="{4128EBB0-E02B-1972-C822-3A5A7881A5F6}"/>
              </a:ext>
            </a:extLst>
          </p:cNvPr>
          <p:cNvSpPr>
            <a:spLocks noGrp="1"/>
          </p:cNvSpPr>
          <p:nvPr>
            <p:ph idx="1"/>
          </p:nvPr>
        </p:nvSpPr>
        <p:spPr/>
        <p:txBody>
          <a:bodyPr/>
          <a:lstStyle/>
          <a:p>
            <a:pPr marL="0" indent="0" fontAlgn="base">
              <a:buNone/>
            </a:pPr>
            <a:r>
              <a:rPr lang="en-US" b="1" dirty="0"/>
              <a:t>Advantages of Amazon Web Services:</a:t>
            </a:r>
            <a:endParaRPr lang="en-US" dirty="0"/>
          </a:p>
          <a:p>
            <a:pPr algn="just" fontAlgn="base"/>
            <a:r>
              <a:rPr lang="en-US" dirty="0"/>
              <a:t>Users using AWS may pay for only the resources they truly use. Therefore, AWS is affordable.</a:t>
            </a:r>
          </a:p>
          <a:p>
            <a:pPr algn="just" fontAlgn="base"/>
            <a:r>
              <a:rPr lang="en-US" dirty="0"/>
              <a:t>AWS provides many different kinds of the services and has a size and dynamic developer and partner ecosystem.</a:t>
            </a:r>
          </a:p>
          <a:p>
            <a:pPr algn="just" fontAlgn="base"/>
            <a:r>
              <a:rPr lang="en-US" dirty="0"/>
              <a:t>Users can access or store the data with a low latency because of the AWS's multiple data centers around the globe.</a:t>
            </a:r>
          </a:p>
          <a:p>
            <a:endParaRPr lang="en-US" dirty="0"/>
          </a:p>
        </p:txBody>
      </p:sp>
    </p:spTree>
    <p:extLst>
      <p:ext uri="{BB962C8B-B14F-4D97-AF65-F5344CB8AC3E}">
        <p14:creationId xmlns:p14="http://schemas.microsoft.com/office/powerpoint/2010/main" val="37937082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B69F6-0B69-A1BF-9842-88093A486B4B}"/>
              </a:ext>
            </a:extLst>
          </p:cNvPr>
          <p:cNvSpPr>
            <a:spLocks noGrp="1"/>
          </p:cNvSpPr>
          <p:nvPr>
            <p:ph type="title"/>
          </p:nvPr>
        </p:nvSpPr>
        <p:spPr/>
        <p:txBody>
          <a:bodyPr/>
          <a:lstStyle/>
          <a:p>
            <a:r>
              <a:rPr lang="en-US" b="1" dirty="0"/>
              <a:t>Advantages of Microsoft Azure:</a:t>
            </a:r>
            <a:endParaRPr lang="en-US" dirty="0"/>
          </a:p>
        </p:txBody>
      </p:sp>
      <p:sp>
        <p:nvSpPr>
          <p:cNvPr id="3" name="Content Placeholder 2">
            <a:extLst>
              <a:ext uri="{FF2B5EF4-FFF2-40B4-BE49-F238E27FC236}">
                <a16:creationId xmlns:a16="http://schemas.microsoft.com/office/drawing/2014/main" id="{D3716761-C09F-7E78-1584-9669CB07C728}"/>
              </a:ext>
            </a:extLst>
          </p:cNvPr>
          <p:cNvSpPr>
            <a:spLocks noGrp="1"/>
          </p:cNvSpPr>
          <p:nvPr>
            <p:ph idx="1"/>
          </p:nvPr>
        </p:nvSpPr>
        <p:spPr/>
        <p:txBody>
          <a:bodyPr/>
          <a:lstStyle/>
          <a:p>
            <a:pPr algn="just" fontAlgn="base"/>
            <a:r>
              <a:rPr lang="en-US" dirty="0"/>
              <a:t>Azure's global network of data centers guarantees a very low latency for retrieve any type of the data.</a:t>
            </a:r>
          </a:p>
          <a:p>
            <a:pPr algn="just" fontAlgn="base"/>
            <a:r>
              <a:rPr lang="en-US" dirty="0"/>
              <a:t>Azure provides a strong safety features.</a:t>
            </a:r>
          </a:p>
          <a:p>
            <a:pPr algn="just" fontAlgn="base"/>
            <a:r>
              <a:rPr lang="en-US" dirty="0"/>
              <a:t>Easy communication with on-premises systems is made feasible by Azure, providing a seamless hybrid experience. where security and deployment are better.</a:t>
            </a:r>
          </a:p>
          <a:p>
            <a:endParaRPr lang="en-US" dirty="0"/>
          </a:p>
        </p:txBody>
      </p:sp>
    </p:spTree>
    <p:extLst>
      <p:ext uri="{BB962C8B-B14F-4D97-AF65-F5344CB8AC3E}">
        <p14:creationId xmlns:p14="http://schemas.microsoft.com/office/powerpoint/2010/main" val="444900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D9E46-3F83-84BB-4775-E046EED10EDB}"/>
              </a:ext>
            </a:extLst>
          </p:cNvPr>
          <p:cNvSpPr>
            <a:spLocks noGrp="1"/>
          </p:cNvSpPr>
          <p:nvPr>
            <p:ph type="title"/>
          </p:nvPr>
        </p:nvSpPr>
        <p:spPr/>
        <p:txBody>
          <a:bodyPr/>
          <a:lstStyle/>
          <a:p>
            <a:r>
              <a:rPr lang="en-US" b="1" dirty="0"/>
              <a:t>Advantages of Google Cloud Platform:</a:t>
            </a:r>
            <a:br>
              <a:rPr lang="en-US" dirty="0"/>
            </a:br>
            <a:endParaRPr lang="en-US" dirty="0"/>
          </a:p>
        </p:txBody>
      </p:sp>
      <p:sp>
        <p:nvSpPr>
          <p:cNvPr id="3" name="Content Placeholder 2">
            <a:extLst>
              <a:ext uri="{FF2B5EF4-FFF2-40B4-BE49-F238E27FC236}">
                <a16:creationId xmlns:a16="http://schemas.microsoft.com/office/drawing/2014/main" id="{F0532ABB-65FD-3E84-7820-0F8F3C42D277}"/>
              </a:ext>
            </a:extLst>
          </p:cNvPr>
          <p:cNvSpPr>
            <a:spLocks noGrp="1"/>
          </p:cNvSpPr>
          <p:nvPr>
            <p:ph idx="1"/>
          </p:nvPr>
        </p:nvSpPr>
        <p:spPr/>
        <p:txBody>
          <a:bodyPr/>
          <a:lstStyle/>
          <a:p>
            <a:pPr algn="just" fontAlgn="base"/>
            <a:r>
              <a:rPr lang="en-US" dirty="0"/>
              <a:t>The Google Cloud Platform enables resource scaling easy. As an example, we can swiftly construct virtual machines if our business needs additional servers.</a:t>
            </a:r>
          </a:p>
          <a:p>
            <a:pPr algn="just" fontAlgn="base"/>
            <a:r>
              <a:rPr lang="en-US" dirty="0"/>
              <a:t>Because of GCP's extensive global network of data centers, accessing any data has extremely little latency.</a:t>
            </a:r>
          </a:p>
          <a:p>
            <a:pPr algn="just" fontAlgn="base"/>
            <a:r>
              <a:rPr lang="en-US" dirty="0"/>
              <a:t>GCP offers solid safety.</a:t>
            </a:r>
          </a:p>
          <a:p>
            <a:endParaRPr lang="en-US" dirty="0"/>
          </a:p>
        </p:txBody>
      </p:sp>
    </p:spTree>
    <p:extLst>
      <p:ext uri="{BB962C8B-B14F-4D97-AF65-F5344CB8AC3E}">
        <p14:creationId xmlns:p14="http://schemas.microsoft.com/office/powerpoint/2010/main" val="391517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28E71-DFFB-1F83-6BAC-429FC1F56ACE}"/>
              </a:ext>
            </a:extLst>
          </p:cNvPr>
          <p:cNvSpPr>
            <a:spLocks noGrp="1"/>
          </p:cNvSpPr>
          <p:nvPr>
            <p:ph type="title"/>
          </p:nvPr>
        </p:nvSpPr>
        <p:spPr/>
        <p:txBody>
          <a:bodyPr/>
          <a:lstStyle/>
          <a:p>
            <a:r>
              <a:rPr lang="en-US" b="1" dirty="0"/>
              <a:t>Use cases for AWS, Azure and GCP</a:t>
            </a:r>
            <a:br>
              <a:rPr lang="en-US" b="1" dirty="0"/>
            </a:br>
            <a:endParaRPr lang="en-US" dirty="0"/>
          </a:p>
        </p:txBody>
      </p:sp>
      <p:sp>
        <p:nvSpPr>
          <p:cNvPr id="3" name="Content Placeholder 2">
            <a:extLst>
              <a:ext uri="{FF2B5EF4-FFF2-40B4-BE49-F238E27FC236}">
                <a16:creationId xmlns:a16="http://schemas.microsoft.com/office/drawing/2014/main" id="{17810A62-DBB6-EBA5-6060-CCC9D4B4246F}"/>
              </a:ext>
            </a:extLst>
          </p:cNvPr>
          <p:cNvSpPr>
            <a:spLocks noGrp="1"/>
          </p:cNvSpPr>
          <p:nvPr>
            <p:ph idx="1"/>
          </p:nvPr>
        </p:nvSpPr>
        <p:spPr/>
        <p:txBody>
          <a:bodyPr/>
          <a:lstStyle/>
          <a:p>
            <a:pPr marL="0" indent="0" fontAlgn="base">
              <a:buNone/>
            </a:pPr>
            <a:r>
              <a:rPr lang="en-US" b="1" dirty="0"/>
              <a:t>Amazon Web Services</a:t>
            </a:r>
          </a:p>
          <a:p>
            <a:pPr algn="just" fontAlgn="base"/>
            <a:r>
              <a:rPr lang="en-US" dirty="0"/>
              <a:t>AWS provides web app and web hosting and administrative services, include the Amazon Elastic Compute Cloud (EC2).</a:t>
            </a:r>
          </a:p>
          <a:p>
            <a:pPr algn="just" fontAlgn="base"/>
            <a:r>
              <a:rPr lang="en-US" dirty="0"/>
              <a:t>The backup data can be maintained on AWS. But for a free tier account, it is not free.</a:t>
            </a:r>
          </a:p>
          <a:p>
            <a:pPr algn="just" fontAlgn="base"/>
            <a:r>
              <a:rPr lang="en-US" dirty="0"/>
              <a:t>We may distribute the user's load between multiple instances utilizing an AWS service comparable to a load balancer.</a:t>
            </a:r>
          </a:p>
          <a:p>
            <a:endParaRPr lang="en-US" dirty="0"/>
          </a:p>
        </p:txBody>
      </p:sp>
    </p:spTree>
    <p:extLst>
      <p:ext uri="{BB962C8B-B14F-4D97-AF65-F5344CB8AC3E}">
        <p14:creationId xmlns:p14="http://schemas.microsoft.com/office/powerpoint/2010/main" val="24882838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6DEE9-7881-879A-FD0A-3769EE590279}"/>
              </a:ext>
            </a:extLst>
          </p:cNvPr>
          <p:cNvSpPr>
            <a:spLocks noGrp="1"/>
          </p:cNvSpPr>
          <p:nvPr>
            <p:ph type="title"/>
          </p:nvPr>
        </p:nvSpPr>
        <p:spPr/>
        <p:txBody>
          <a:bodyPr/>
          <a:lstStyle/>
          <a:p>
            <a:r>
              <a:rPr lang="en-US" b="1" dirty="0"/>
              <a:t>Microsoft Azure</a:t>
            </a:r>
            <a:br>
              <a:rPr lang="en-US" b="1" dirty="0"/>
            </a:br>
            <a:endParaRPr lang="en-US" dirty="0"/>
          </a:p>
        </p:txBody>
      </p:sp>
      <p:sp>
        <p:nvSpPr>
          <p:cNvPr id="3" name="Content Placeholder 2">
            <a:extLst>
              <a:ext uri="{FF2B5EF4-FFF2-40B4-BE49-F238E27FC236}">
                <a16:creationId xmlns:a16="http://schemas.microsoft.com/office/drawing/2014/main" id="{08B1FDA6-87B9-D0D1-A576-CCD1B704C733}"/>
              </a:ext>
            </a:extLst>
          </p:cNvPr>
          <p:cNvSpPr>
            <a:spLocks noGrp="1"/>
          </p:cNvSpPr>
          <p:nvPr>
            <p:ph idx="1"/>
          </p:nvPr>
        </p:nvSpPr>
        <p:spPr/>
        <p:txBody>
          <a:bodyPr/>
          <a:lstStyle/>
          <a:p>
            <a:pPr fontAlgn="base"/>
            <a:r>
              <a:rPr lang="en-US" dirty="0"/>
              <a:t>Hosting and managing web applications and websites. And you have to pay for what you used.</a:t>
            </a:r>
          </a:p>
          <a:p>
            <a:pPr fontAlgn="base"/>
            <a:r>
              <a:rPr lang="en-US" dirty="0"/>
              <a:t>Building and deploying machine learning models using Azure Machine Learning.</a:t>
            </a:r>
          </a:p>
          <a:p>
            <a:pPr fontAlgn="base"/>
            <a:r>
              <a:rPr lang="en-US" dirty="0"/>
              <a:t>Developing the blockchain application using Azure.</a:t>
            </a:r>
          </a:p>
          <a:p>
            <a:endParaRPr lang="en-US" dirty="0"/>
          </a:p>
        </p:txBody>
      </p:sp>
    </p:spTree>
    <p:extLst>
      <p:ext uri="{BB962C8B-B14F-4D97-AF65-F5344CB8AC3E}">
        <p14:creationId xmlns:p14="http://schemas.microsoft.com/office/powerpoint/2010/main" val="2781979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D22E0-0ED6-0501-8C2B-4AD4B3184010}"/>
              </a:ext>
            </a:extLst>
          </p:cNvPr>
          <p:cNvSpPr>
            <a:spLocks noGrp="1"/>
          </p:cNvSpPr>
          <p:nvPr>
            <p:ph type="title"/>
          </p:nvPr>
        </p:nvSpPr>
        <p:spPr/>
        <p:txBody>
          <a:bodyPr/>
          <a:lstStyle/>
          <a:p>
            <a:r>
              <a:rPr lang="en-US" b="1" dirty="0"/>
              <a:t>Google Cloud Platform</a:t>
            </a:r>
            <a:br>
              <a:rPr lang="en-US" b="1" dirty="0"/>
            </a:br>
            <a:endParaRPr lang="en-US" dirty="0"/>
          </a:p>
        </p:txBody>
      </p:sp>
      <p:sp>
        <p:nvSpPr>
          <p:cNvPr id="3" name="Content Placeholder 2">
            <a:extLst>
              <a:ext uri="{FF2B5EF4-FFF2-40B4-BE49-F238E27FC236}">
                <a16:creationId xmlns:a16="http://schemas.microsoft.com/office/drawing/2014/main" id="{6A7A4B2F-78CE-C8CB-B635-66AE9A756E3C}"/>
              </a:ext>
            </a:extLst>
          </p:cNvPr>
          <p:cNvSpPr>
            <a:spLocks noGrp="1"/>
          </p:cNvSpPr>
          <p:nvPr>
            <p:ph idx="1"/>
          </p:nvPr>
        </p:nvSpPr>
        <p:spPr/>
        <p:txBody>
          <a:bodyPr/>
          <a:lstStyle/>
          <a:p>
            <a:pPr fontAlgn="base"/>
            <a:r>
              <a:rPr lang="en-US" dirty="0"/>
              <a:t>GCP is also used in games. GCP is running multiplayer games.</a:t>
            </a:r>
          </a:p>
          <a:p>
            <a:pPr fontAlgn="base"/>
            <a:r>
              <a:rPr lang="en-US" dirty="0"/>
              <a:t>GCP provides the virtual desktop experience.</a:t>
            </a:r>
          </a:p>
          <a:p>
            <a:pPr fontAlgn="base"/>
            <a:r>
              <a:rPr lang="en-US" dirty="0"/>
              <a:t>GCP is used to process the big query and analyze the big data.</a:t>
            </a:r>
          </a:p>
          <a:p>
            <a:endParaRPr lang="en-US" dirty="0"/>
          </a:p>
        </p:txBody>
      </p:sp>
    </p:spTree>
    <p:extLst>
      <p:ext uri="{BB962C8B-B14F-4D97-AF65-F5344CB8AC3E}">
        <p14:creationId xmlns:p14="http://schemas.microsoft.com/office/powerpoint/2010/main" val="14438406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1D59A-0B28-A45E-5DD8-C49645013203}"/>
              </a:ext>
            </a:extLst>
          </p:cNvPr>
          <p:cNvSpPr>
            <a:spLocks noGrp="1"/>
          </p:cNvSpPr>
          <p:nvPr>
            <p:ph type="title"/>
          </p:nvPr>
        </p:nvSpPr>
        <p:spPr/>
        <p:txBody>
          <a:bodyPr/>
          <a:lstStyle/>
          <a:p>
            <a:r>
              <a:rPr lang="en-US" b="1" dirty="0"/>
              <a:t>Disadvantages of AWS, Azure and GCP</a:t>
            </a:r>
            <a:br>
              <a:rPr lang="en-US" b="1" dirty="0"/>
            </a:br>
            <a:endParaRPr lang="en-US" dirty="0"/>
          </a:p>
        </p:txBody>
      </p:sp>
      <p:sp>
        <p:nvSpPr>
          <p:cNvPr id="3" name="Content Placeholder 2">
            <a:extLst>
              <a:ext uri="{FF2B5EF4-FFF2-40B4-BE49-F238E27FC236}">
                <a16:creationId xmlns:a16="http://schemas.microsoft.com/office/drawing/2014/main" id="{099B508C-78B0-F3CA-F639-85DDEB465620}"/>
              </a:ext>
            </a:extLst>
          </p:cNvPr>
          <p:cNvSpPr>
            <a:spLocks noGrp="1"/>
          </p:cNvSpPr>
          <p:nvPr>
            <p:ph idx="1"/>
          </p:nvPr>
        </p:nvSpPr>
        <p:spPr/>
        <p:txBody>
          <a:bodyPr/>
          <a:lstStyle/>
          <a:p>
            <a:pPr marL="0" indent="0" fontAlgn="base">
              <a:buNone/>
            </a:pPr>
            <a:r>
              <a:rPr lang="en-US" b="1" dirty="0"/>
              <a:t>Disadvantages of AWS:</a:t>
            </a:r>
            <a:endParaRPr lang="en-US" dirty="0"/>
          </a:p>
          <a:p>
            <a:pPr algn="just" fontAlgn="base"/>
            <a:r>
              <a:rPr lang="en-US" dirty="0"/>
              <a:t>While users may find AWS to be cost-effective, using specific services comes at more expense.</a:t>
            </a:r>
          </a:p>
          <a:p>
            <a:pPr algn="just" fontAlgn="base"/>
            <a:r>
              <a:rPr lang="en-US" dirty="0"/>
              <a:t>Since AWS offers numerous services, consumers might discover it challenging to get around the platform.</a:t>
            </a:r>
          </a:p>
          <a:p>
            <a:pPr algn="just" fontAlgn="base"/>
            <a:r>
              <a:rPr lang="en-US" dirty="0"/>
              <a:t>Given the wide range of services provided by AWS, some users might discover that they are unable to tailor these services to suit their specific needs. Thus, AWS's customer service is inadequate.</a:t>
            </a:r>
          </a:p>
          <a:p>
            <a:endParaRPr lang="en-US" dirty="0"/>
          </a:p>
        </p:txBody>
      </p:sp>
    </p:spTree>
    <p:extLst>
      <p:ext uri="{BB962C8B-B14F-4D97-AF65-F5344CB8AC3E}">
        <p14:creationId xmlns:p14="http://schemas.microsoft.com/office/powerpoint/2010/main" val="3302492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349AE-953E-7F30-63AF-54280CE7B060}"/>
              </a:ext>
            </a:extLst>
          </p:cNvPr>
          <p:cNvSpPr>
            <a:spLocks noGrp="1"/>
          </p:cNvSpPr>
          <p:nvPr>
            <p:ph type="title"/>
          </p:nvPr>
        </p:nvSpPr>
        <p:spPr/>
        <p:txBody>
          <a:bodyPr/>
          <a:lstStyle/>
          <a:p>
            <a:r>
              <a:rPr lang="en-US" b="1" dirty="0"/>
              <a:t>Disadvantages of Azure:</a:t>
            </a:r>
            <a:br>
              <a:rPr lang="en-US" dirty="0"/>
            </a:br>
            <a:endParaRPr lang="en-US" dirty="0"/>
          </a:p>
        </p:txBody>
      </p:sp>
      <p:sp>
        <p:nvSpPr>
          <p:cNvPr id="3" name="Content Placeholder 2">
            <a:extLst>
              <a:ext uri="{FF2B5EF4-FFF2-40B4-BE49-F238E27FC236}">
                <a16:creationId xmlns:a16="http://schemas.microsoft.com/office/drawing/2014/main" id="{180C1079-3961-5FE7-F925-706B7584B2F6}"/>
              </a:ext>
            </a:extLst>
          </p:cNvPr>
          <p:cNvSpPr>
            <a:spLocks noGrp="1"/>
          </p:cNvSpPr>
          <p:nvPr>
            <p:ph idx="1"/>
          </p:nvPr>
        </p:nvSpPr>
        <p:spPr/>
        <p:txBody>
          <a:bodyPr/>
          <a:lstStyle/>
          <a:p>
            <a:pPr algn="just" fontAlgn="base"/>
            <a:r>
              <a:rPr lang="en-US" dirty="0"/>
              <a:t>Comparing with some other cloud providers, Azure might be more expensive.</a:t>
            </a:r>
          </a:p>
          <a:p>
            <a:pPr algn="just" fontAlgn="base"/>
            <a:r>
              <a:rPr lang="en-US" dirty="0"/>
              <a:t>Azure is also dependent on the Microsoft connection.</a:t>
            </a:r>
          </a:p>
          <a:p>
            <a:pPr algn="just" fontAlgn="base"/>
            <a:r>
              <a:rPr lang="en-US" dirty="0"/>
              <a:t>Workloads operating on Linux cannot be as well accepted by Azure as workloads operating on Windows.</a:t>
            </a:r>
          </a:p>
          <a:p>
            <a:endParaRPr lang="en-US" dirty="0"/>
          </a:p>
        </p:txBody>
      </p:sp>
    </p:spTree>
    <p:extLst>
      <p:ext uri="{BB962C8B-B14F-4D97-AF65-F5344CB8AC3E}">
        <p14:creationId xmlns:p14="http://schemas.microsoft.com/office/powerpoint/2010/main" val="37617489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B6846-521B-85EE-C568-3F798D4DD886}"/>
              </a:ext>
            </a:extLst>
          </p:cNvPr>
          <p:cNvSpPr>
            <a:spLocks noGrp="1"/>
          </p:cNvSpPr>
          <p:nvPr>
            <p:ph type="title"/>
          </p:nvPr>
        </p:nvSpPr>
        <p:spPr/>
        <p:txBody>
          <a:bodyPr/>
          <a:lstStyle/>
          <a:p>
            <a:r>
              <a:rPr lang="en-US" b="1" dirty="0"/>
              <a:t>Disadvantages of GCP:</a:t>
            </a:r>
            <a:br>
              <a:rPr lang="en-US" dirty="0"/>
            </a:br>
            <a:endParaRPr lang="en-US" dirty="0"/>
          </a:p>
        </p:txBody>
      </p:sp>
      <p:sp>
        <p:nvSpPr>
          <p:cNvPr id="3" name="Content Placeholder 2">
            <a:extLst>
              <a:ext uri="{FF2B5EF4-FFF2-40B4-BE49-F238E27FC236}">
                <a16:creationId xmlns:a16="http://schemas.microsoft.com/office/drawing/2014/main" id="{69812061-3970-1222-CEC2-C41B088DF1EF}"/>
              </a:ext>
            </a:extLst>
          </p:cNvPr>
          <p:cNvSpPr>
            <a:spLocks noGrp="1"/>
          </p:cNvSpPr>
          <p:nvPr>
            <p:ph idx="1"/>
          </p:nvPr>
        </p:nvSpPr>
        <p:spPr/>
        <p:txBody>
          <a:bodyPr/>
          <a:lstStyle/>
          <a:p>
            <a:pPr algn="just" fontAlgn="base"/>
            <a:r>
              <a:rPr lang="en-US" dirty="0"/>
              <a:t>Comparing with some other cloud providers, GCP is more expensive.</a:t>
            </a:r>
          </a:p>
          <a:p>
            <a:pPr algn="just" fontAlgn="base"/>
            <a:r>
              <a:rPr lang="en-US" dirty="0"/>
              <a:t>Because Google provides so many services, it can be difficult.</a:t>
            </a:r>
          </a:p>
          <a:p>
            <a:pPr algn="just" fontAlgn="base"/>
            <a:r>
              <a:rPr lang="en-US" dirty="0"/>
              <a:t>The Google Cloud Platform is more dependent on Google or is a part of their ecosystem.</a:t>
            </a:r>
          </a:p>
          <a:p>
            <a:endParaRPr lang="en-US" dirty="0"/>
          </a:p>
        </p:txBody>
      </p:sp>
    </p:spTree>
    <p:extLst>
      <p:ext uri="{BB962C8B-B14F-4D97-AF65-F5344CB8AC3E}">
        <p14:creationId xmlns:p14="http://schemas.microsoft.com/office/powerpoint/2010/main" val="2832452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957B9-2425-250C-7A31-5FA22F500DD7}"/>
              </a:ext>
            </a:extLst>
          </p:cNvPr>
          <p:cNvSpPr>
            <a:spLocks noGrp="1"/>
          </p:cNvSpPr>
          <p:nvPr>
            <p:ph type="title"/>
          </p:nvPr>
        </p:nvSpPr>
        <p:spPr/>
        <p:txBody>
          <a:bodyPr/>
          <a:lstStyle/>
          <a:p>
            <a:r>
              <a:rPr lang="en-US" b="1" dirty="0"/>
              <a:t>How to choose a cloud service provider</a:t>
            </a:r>
            <a:br>
              <a:rPr lang="en-US" b="1" dirty="0"/>
            </a:br>
            <a:endParaRPr lang="en-US" dirty="0"/>
          </a:p>
        </p:txBody>
      </p:sp>
      <p:sp>
        <p:nvSpPr>
          <p:cNvPr id="3" name="Content Placeholder 2">
            <a:extLst>
              <a:ext uri="{FF2B5EF4-FFF2-40B4-BE49-F238E27FC236}">
                <a16:creationId xmlns:a16="http://schemas.microsoft.com/office/drawing/2014/main" id="{2DB00E88-B6E2-B358-AE03-AE0D208F8389}"/>
              </a:ext>
            </a:extLst>
          </p:cNvPr>
          <p:cNvSpPr>
            <a:spLocks noGrp="1"/>
          </p:cNvSpPr>
          <p:nvPr>
            <p:ph idx="1"/>
          </p:nvPr>
        </p:nvSpPr>
        <p:spPr/>
        <p:txBody>
          <a:bodyPr/>
          <a:lstStyle/>
          <a:p>
            <a:pPr marL="0" indent="0" algn="just" fontAlgn="base">
              <a:buNone/>
            </a:pPr>
            <a:r>
              <a:rPr lang="en-US" dirty="0"/>
              <a:t>Choosing a cloud service provider can be a significant decision for any organization. Here are some key factors to consider when making your choice:</a:t>
            </a:r>
          </a:p>
          <a:p>
            <a:pPr algn="just" fontAlgn="base"/>
            <a:r>
              <a:rPr lang="en-US" b="1" dirty="0"/>
              <a:t>Service Offerings</a:t>
            </a:r>
            <a:r>
              <a:rPr lang="en-US" dirty="0"/>
              <a:t>: Evaluate the range of services offered by each provider and match them with your specific needs. Consider compute, storage, networking, databases, AI/ML, IoT, analytics, and other specialized services.</a:t>
            </a:r>
          </a:p>
          <a:p>
            <a:pPr algn="just" fontAlgn="base"/>
            <a:r>
              <a:rPr lang="en-US" b="1" dirty="0"/>
              <a:t>Scalability</a:t>
            </a:r>
            <a:r>
              <a:rPr lang="en-US" dirty="0"/>
              <a:t>: Ensure that the provider can accommodate your current and future scalability requirements. The ability to scale resources up or down based on demand is crucial for many businesses.</a:t>
            </a:r>
          </a:p>
          <a:p>
            <a:endParaRPr lang="en-US" dirty="0"/>
          </a:p>
        </p:txBody>
      </p:sp>
    </p:spTree>
    <p:extLst>
      <p:ext uri="{BB962C8B-B14F-4D97-AF65-F5344CB8AC3E}">
        <p14:creationId xmlns:p14="http://schemas.microsoft.com/office/powerpoint/2010/main" val="23075501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BEC3A-2D8C-9176-1091-16C72FCC9A8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718AB40-DF36-36E6-3F70-7E266D18C589}"/>
              </a:ext>
            </a:extLst>
          </p:cNvPr>
          <p:cNvSpPr>
            <a:spLocks noGrp="1"/>
          </p:cNvSpPr>
          <p:nvPr>
            <p:ph idx="1"/>
          </p:nvPr>
        </p:nvSpPr>
        <p:spPr/>
        <p:txBody>
          <a:bodyPr>
            <a:normAutofit lnSpcReduction="10000"/>
          </a:bodyPr>
          <a:lstStyle/>
          <a:p>
            <a:pPr algn="just" fontAlgn="base"/>
            <a:r>
              <a:rPr lang="en-US" b="1" dirty="0"/>
              <a:t>Performance and Reliability</a:t>
            </a:r>
            <a:r>
              <a:rPr lang="en-US" dirty="0"/>
              <a:t>: Look into the provider's track record for uptime and reliability. Check for redundancy and failover mechanisms to minimize downtime.</a:t>
            </a:r>
          </a:p>
          <a:p>
            <a:pPr algn="just" fontAlgn="base"/>
            <a:r>
              <a:rPr lang="en-US" b="1" dirty="0"/>
              <a:t>Security</a:t>
            </a:r>
            <a:r>
              <a:rPr lang="en-US" dirty="0"/>
              <a:t>: Assess the provider's security measures, including data encryption, compliance certifications, access controls, and monitoring capabilities. Ensure they meet your organization's security and compliance requirements.</a:t>
            </a:r>
          </a:p>
          <a:p>
            <a:pPr algn="just" fontAlgn="base"/>
            <a:r>
              <a:rPr lang="en-US" b="1" dirty="0"/>
              <a:t>Cost</a:t>
            </a:r>
            <a:r>
              <a:rPr lang="en-US" dirty="0"/>
              <a:t>: Compare pricing structures, including pay-as-you-go vs. reserved instances, discounts, and any hidden costs. Consider your budget and projected usage to determine the most cost-effective option.</a:t>
            </a:r>
          </a:p>
          <a:p>
            <a:endParaRPr lang="en-US" dirty="0"/>
          </a:p>
        </p:txBody>
      </p:sp>
    </p:spTree>
    <p:extLst>
      <p:ext uri="{BB962C8B-B14F-4D97-AF65-F5344CB8AC3E}">
        <p14:creationId xmlns:p14="http://schemas.microsoft.com/office/powerpoint/2010/main" val="4196152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C7404-5E96-148C-AC14-AEB2E90B2BB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1C06BCA-A51C-9A11-ABA9-BF0481542760}"/>
              </a:ext>
            </a:extLst>
          </p:cNvPr>
          <p:cNvSpPr>
            <a:spLocks noGrp="1"/>
          </p:cNvSpPr>
          <p:nvPr>
            <p:ph idx="1"/>
          </p:nvPr>
        </p:nvSpPr>
        <p:spPr/>
        <p:txBody>
          <a:bodyPr>
            <a:normAutofit fontScale="92500"/>
          </a:bodyPr>
          <a:lstStyle/>
          <a:p>
            <a:pPr algn="just" fontAlgn="base"/>
            <a:r>
              <a:rPr lang="en-US" b="1" dirty="0"/>
              <a:t>Support and SLAs</a:t>
            </a:r>
            <a:r>
              <a:rPr lang="en-US" dirty="0"/>
              <a:t>: Review the provider's support options, response times, and service level agreements (SLAs). Make sure they offer adequate support for your needs, especially if you're running critical workloads.</a:t>
            </a:r>
          </a:p>
          <a:p>
            <a:pPr algn="just" fontAlgn="base"/>
            <a:r>
              <a:rPr lang="en-US" b="1" dirty="0"/>
              <a:t>Geographic Presence</a:t>
            </a:r>
            <a:r>
              <a:rPr lang="en-US" dirty="0"/>
              <a:t>: Consider the provider's global footprint and availability zones. Choose a provider with data centers in regions that align with your business requirements for latency, data sovereignty, and disaster recovery.</a:t>
            </a:r>
          </a:p>
          <a:p>
            <a:pPr algn="just" fontAlgn="base"/>
            <a:r>
              <a:rPr lang="en-US" b="1" dirty="0"/>
              <a:t>Integration and Compatibility</a:t>
            </a:r>
            <a:r>
              <a:rPr lang="en-US" dirty="0"/>
              <a:t>: Assess how well the provider's services integrate with your existing systems, tools, and workflows. Compatibility with third-party software and open standards can be important for seamless integration.</a:t>
            </a:r>
          </a:p>
          <a:p>
            <a:endParaRPr lang="en-US" dirty="0"/>
          </a:p>
        </p:txBody>
      </p:sp>
    </p:spTree>
    <p:extLst>
      <p:ext uri="{BB962C8B-B14F-4D97-AF65-F5344CB8AC3E}">
        <p14:creationId xmlns:p14="http://schemas.microsoft.com/office/powerpoint/2010/main" val="10160841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4F92C-5D6A-7031-B414-5EE9C0A8F0C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182B3BF-6A4D-8D00-FE62-D6B057B84D9A}"/>
              </a:ext>
            </a:extLst>
          </p:cNvPr>
          <p:cNvSpPr>
            <a:spLocks noGrp="1"/>
          </p:cNvSpPr>
          <p:nvPr>
            <p:ph idx="1"/>
          </p:nvPr>
        </p:nvSpPr>
        <p:spPr/>
        <p:txBody>
          <a:bodyPr>
            <a:normAutofit fontScale="92500"/>
          </a:bodyPr>
          <a:lstStyle/>
          <a:p>
            <a:pPr fontAlgn="base"/>
            <a:r>
              <a:rPr lang="en-US" b="1" dirty="0"/>
              <a:t>Community and Ecosystem</a:t>
            </a:r>
            <a:r>
              <a:rPr lang="en-US" dirty="0"/>
              <a:t>: Look into the provider's developer community, documentation, and ecosystem of partners and third-party tools. A strong ecosystem can provide additional resources, support, and innovation opportunities.</a:t>
            </a:r>
          </a:p>
          <a:p>
            <a:pPr fontAlgn="base"/>
            <a:r>
              <a:rPr lang="en-US" b="1" dirty="0"/>
              <a:t>Vendor Lock-In</a:t>
            </a:r>
            <a:r>
              <a:rPr lang="en-US" dirty="0"/>
              <a:t>: Consider the potential for vendor lock-in and evaluate each provider's flexibility and portability options. Look for open standards and APIs that facilitate interoperability and data migration.</a:t>
            </a:r>
          </a:p>
          <a:p>
            <a:pPr fontAlgn="base"/>
            <a:r>
              <a:rPr lang="en-US" b="1" dirty="0"/>
              <a:t>Future Roadmap and Innovation</a:t>
            </a:r>
            <a:r>
              <a:rPr lang="en-US" dirty="0"/>
              <a:t>: Research the provider's roadmap and commitment to innovation. Choose a provider that continually invests in new technologies and services to stay ahead of evolving business needs.</a:t>
            </a:r>
          </a:p>
          <a:p>
            <a:endParaRPr lang="en-US" dirty="0"/>
          </a:p>
        </p:txBody>
      </p:sp>
    </p:spTree>
    <p:extLst>
      <p:ext uri="{BB962C8B-B14F-4D97-AF65-F5344CB8AC3E}">
        <p14:creationId xmlns:p14="http://schemas.microsoft.com/office/powerpoint/2010/main" val="26604587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0AB39BAC-1B2A-C11E-FD0E-7ECE9F3C1ADB}"/>
              </a:ext>
            </a:extLst>
          </p:cNvPr>
          <p:cNvGraphicFramePr>
            <a:graphicFrameLocks noGrp="1"/>
          </p:cNvGraphicFramePr>
          <p:nvPr>
            <p:ph idx="1"/>
            <p:extLst>
              <p:ext uri="{D42A27DB-BD31-4B8C-83A1-F6EECF244321}">
                <p14:modId xmlns:p14="http://schemas.microsoft.com/office/powerpoint/2010/main" val="1033588244"/>
              </p:ext>
            </p:extLst>
          </p:nvPr>
        </p:nvGraphicFramePr>
        <p:xfrm>
          <a:off x="933502" y="267303"/>
          <a:ext cx="10324996" cy="6323393"/>
        </p:xfrm>
        <a:graphic>
          <a:graphicData uri="http://schemas.openxmlformats.org/drawingml/2006/table">
            <a:tbl>
              <a:tblPr>
                <a:tableStyleId>{616DA210-FB5B-4158-B5E0-FEB733F419BA}</a:tableStyleId>
              </a:tblPr>
              <a:tblGrid>
                <a:gridCol w="2581249">
                  <a:extLst>
                    <a:ext uri="{9D8B030D-6E8A-4147-A177-3AD203B41FA5}">
                      <a16:colId xmlns:a16="http://schemas.microsoft.com/office/drawing/2014/main" val="3553873897"/>
                    </a:ext>
                  </a:extLst>
                </a:gridCol>
                <a:gridCol w="2581249">
                  <a:extLst>
                    <a:ext uri="{9D8B030D-6E8A-4147-A177-3AD203B41FA5}">
                      <a16:colId xmlns:a16="http://schemas.microsoft.com/office/drawing/2014/main" val="1372238448"/>
                    </a:ext>
                  </a:extLst>
                </a:gridCol>
                <a:gridCol w="2581249">
                  <a:extLst>
                    <a:ext uri="{9D8B030D-6E8A-4147-A177-3AD203B41FA5}">
                      <a16:colId xmlns:a16="http://schemas.microsoft.com/office/drawing/2014/main" val="1918215261"/>
                    </a:ext>
                  </a:extLst>
                </a:gridCol>
                <a:gridCol w="2581249">
                  <a:extLst>
                    <a:ext uri="{9D8B030D-6E8A-4147-A177-3AD203B41FA5}">
                      <a16:colId xmlns:a16="http://schemas.microsoft.com/office/drawing/2014/main" val="523241039"/>
                    </a:ext>
                  </a:extLst>
                </a:gridCol>
              </a:tblGrid>
              <a:tr h="477461">
                <a:tc>
                  <a:txBody>
                    <a:bodyPr/>
                    <a:lstStyle/>
                    <a:p>
                      <a:pPr algn="l" fontAlgn="base">
                        <a:lnSpc>
                          <a:spcPts val="2100"/>
                        </a:lnSpc>
                        <a:spcBef>
                          <a:spcPts val="1800"/>
                        </a:spcBef>
                        <a:spcAft>
                          <a:spcPts val="1800"/>
                        </a:spcAft>
                        <a:buNone/>
                      </a:pPr>
                      <a:r>
                        <a:rPr lang="en-US" sz="1800" b="1" dirty="0">
                          <a:effectLst/>
                        </a:rPr>
                        <a:t>Subject</a:t>
                      </a:r>
                      <a:endParaRPr lang="en-US" sz="1800" b="1" dirty="0">
                        <a:effectLst/>
                        <a:latin typeface="Nunito" pitchFamily="2" charset="0"/>
                      </a:endParaRPr>
                    </a:p>
                  </a:txBody>
                  <a:tcPr marL="37409" marR="37409" marT="62349" marB="62349" anchor="ctr"/>
                </a:tc>
                <a:tc>
                  <a:txBody>
                    <a:bodyPr/>
                    <a:lstStyle/>
                    <a:p>
                      <a:pPr algn="ctr" fontAlgn="base">
                        <a:lnSpc>
                          <a:spcPts val="2100"/>
                        </a:lnSpc>
                        <a:spcBef>
                          <a:spcPts val="1800"/>
                        </a:spcBef>
                        <a:spcAft>
                          <a:spcPts val="1800"/>
                        </a:spcAft>
                        <a:buNone/>
                      </a:pPr>
                      <a:r>
                        <a:rPr lang="en-US" sz="1800" b="1" dirty="0">
                          <a:effectLst/>
                        </a:rPr>
                        <a:t>Google Cloud Platform</a:t>
                      </a:r>
                      <a:endParaRPr lang="en-US" sz="1800" b="1" dirty="0">
                        <a:effectLst/>
                        <a:latin typeface="Nunito" pitchFamily="2" charset="0"/>
                      </a:endParaRPr>
                    </a:p>
                  </a:txBody>
                  <a:tcPr marL="62349" marR="62349" marT="62349" marB="62349" anchor="ctr"/>
                </a:tc>
                <a:tc>
                  <a:txBody>
                    <a:bodyPr/>
                    <a:lstStyle/>
                    <a:p>
                      <a:pPr algn="ctr" fontAlgn="base">
                        <a:lnSpc>
                          <a:spcPts val="2100"/>
                        </a:lnSpc>
                        <a:spcBef>
                          <a:spcPts val="1800"/>
                        </a:spcBef>
                        <a:spcAft>
                          <a:spcPts val="1800"/>
                        </a:spcAft>
                        <a:buNone/>
                      </a:pPr>
                      <a:r>
                        <a:rPr lang="en-US" sz="1800" b="1">
                          <a:effectLst/>
                        </a:rPr>
                        <a:t>Microsoft Azure</a:t>
                      </a:r>
                      <a:endParaRPr lang="en-US" sz="1800" b="1">
                        <a:effectLst/>
                        <a:latin typeface="Nunito" pitchFamily="2" charset="0"/>
                      </a:endParaRPr>
                    </a:p>
                  </a:txBody>
                  <a:tcPr marL="62349" marR="62349" marT="62349" marB="62349" anchor="ctr"/>
                </a:tc>
                <a:tc>
                  <a:txBody>
                    <a:bodyPr/>
                    <a:lstStyle/>
                    <a:p>
                      <a:pPr algn="ctr" fontAlgn="base">
                        <a:lnSpc>
                          <a:spcPts val="2100"/>
                        </a:lnSpc>
                        <a:spcBef>
                          <a:spcPts val="1800"/>
                        </a:spcBef>
                        <a:spcAft>
                          <a:spcPts val="1800"/>
                        </a:spcAft>
                        <a:buNone/>
                      </a:pPr>
                      <a:r>
                        <a:rPr lang="en-US" sz="1800" b="1">
                          <a:effectLst/>
                        </a:rPr>
                        <a:t>Amazon Web Services</a:t>
                      </a:r>
                      <a:endParaRPr lang="en-US" sz="1800" b="1">
                        <a:effectLst/>
                        <a:latin typeface="Nunito" pitchFamily="2" charset="0"/>
                      </a:endParaRPr>
                    </a:p>
                  </a:txBody>
                  <a:tcPr marL="62349" marR="62349" marT="62349" marB="62349" anchor="ctr"/>
                </a:tc>
                <a:extLst>
                  <a:ext uri="{0D108BD9-81ED-4DB2-BD59-A6C34878D82A}">
                    <a16:rowId xmlns:a16="http://schemas.microsoft.com/office/drawing/2014/main" val="1410980020"/>
                  </a:ext>
                </a:extLst>
              </a:tr>
              <a:tr h="456700">
                <a:tc>
                  <a:txBody>
                    <a:bodyPr/>
                    <a:lstStyle/>
                    <a:p>
                      <a:pPr algn="l" fontAlgn="base">
                        <a:buNone/>
                      </a:pPr>
                      <a:r>
                        <a:rPr lang="en-US" sz="1600" b="1">
                          <a:effectLst/>
                        </a:rPr>
                        <a:t>Launched</a:t>
                      </a:r>
                      <a:endParaRPr lang="en-US" sz="1600" b="1">
                        <a:effectLst/>
                        <a:latin typeface="Nunito" pitchFamily="2" charset="0"/>
                      </a:endParaRPr>
                    </a:p>
                  </a:txBody>
                  <a:tcPr marL="62349" marR="62349" marT="87289" marB="87289" anchor="ctr"/>
                </a:tc>
                <a:tc>
                  <a:txBody>
                    <a:bodyPr/>
                    <a:lstStyle/>
                    <a:p>
                      <a:pPr algn="ctr" fontAlgn="ctr">
                        <a:buNone/>
                      </a:pPr>
                      <a:r>
                        <a:rPr lang="en-US" sz="1600" b="0" dirty="0">
                          <a:effectLst/>
                        </a:rPr>
                        <a:t>2008</a:t>
                      </a:r>
                      <a:endParaRPr lang="en-US" sz="1600" b="0" dirty="0">
                        <a:effectLst/>
                        <a:latin typeface="Nunito" pitchFamily="2" charset="0"/>
                      </a:endParaRPr>
                    </a:p>
                  </a:txBody>
                  <a:tcPr marL="62349" marR="62349" marT="87289" marB="87289" anchor="ctr"/>
                </a:tc>
                <a:tc>
                  <a:txBody>
                    <a:bodyPr/>
                    <a:lstStyle/>
                    <a:p>
                      <a:pPr algn="ctr" fontAlgn="ctr">
                        <a:buNone/>
                      </a:pPr>
                      <a:r>
                        <a:rPr lang="en-US" sz="1600" b="0">
                          <a:effectLst/>
                        </a:rPr>
                        <a:t>2010</a:t>
                      </a:r>
                      <a:endParaRPr lang="en-US" sz="1600" b="0">
                        <a:effectLst/>
                        <a:latin typeface="Nunito" pitchFamily="2" charset="0"/>
                      </a:endParaRPr>
                    </a:p>
                  </a:txBody>
                  <a:tcPr marL="62349" marR="62349" marT="87289" marB="87289" anchor="ctr"/>
                </a:tc>
                <a:tc>
                  <a:txBody>
                    <a:bodyPr/>
                    <a:lstStyle/>
                    <a:p>
                      <a:pPr algn="ctr" fontAlgn="ctr">
                        <a:buNone/>
                      </a:pPr>
                      <a:r>
                        <a:rPr lang="en-US" sz="1600" b="0">
                          <a:effectLst/>
                        </a:rPr>
                        <a:t>2006</a:t>
                      </a:r>
                      <a:endParaRPr lang="en-US" sz="1600" b="0">
                        <a:effectLst/>
                        <a:latin typeface="Nunito" pitchFamily="2" charset="0"/>
                      </a:endParaRPr>
                    </a:p>
                  </a:txBody>
                  <a:tcPr marL="62349" marR="62349" marT="87289" marB="87289" anchor="ctr"/>
                </a:tc>
                <a:extLst>
                  <a:ext uri="{0D108BD9-81ED-4DB2-BD59-A6C34878D82A}">
                    <a16:rowId xmlns:a16="http://schemas.microsoft.com/office/drawing/2014/main" val="3974351360"/>
                  </a:ext>
                </a:extLst>
              </a:tr>
              <a:tr h="456700">
                <a:tc>
                  <a:txBody>
                    <a:bodyPr/>
                    <a:lstStyle/>
                    <a:p>
                      <a:pPr algn="l" fontAlgn="base">
                        <a:buNone/>
                      </a:pPr>
                      <a:r>
                        <a:rPr lang="en-US" sz="1600" b="1">
                          <a:effectLst/>
                        </a:rPr>
                        <a:t>Storage Domain</a:t>
                      </a:r>
                      <a:endParaRPr lang="en-US" sz="1600" b="1">
                        <a:effectLst/>
                        <a:latin typeface="Nunito" pitchFamily="2" charset="0"/>
                      </a:endParaRPr>
                    </a:p>
                  </a:txBody>
                  <a:tcPr marL="62349" marR="62349" marT="87289" marB="87289" anchor="ctr"/>
                </a:tc>
                <a:tc>
                  <a:txBody>
                    <a:bodyPr/>
                    <a:lstStyle/>
                    <a:p>
                      <a:pPr algn="ctr" fontAlgn="ctr">
                        <a:buNone/>
                      </a:pPr>
                      <a:r>
                        <a:rPr lang="en-US" sz="1600" b="0">
                          <a:effectLst/>
                        </a:rPr>
                        <a:t>Cloud Storage</a:t>
                      </a:r>
                      <a:endParaRPr lang="en-US" sz="1600" b="0">
                        <a:effectLst/>
                        <a:latin typeface="Nunito" pitchFamily="2" charset="0"/>
                      </a:endParaRPr>
                    </a:p>
                  </a:txBody>
                  <a:tcPr marL="62349" marR="62349" marT="87289" marB="87289" anchor="ctr"/>
                </a:tc>
                <a:tc>
                  <a:txBody>
                    <a:bodyPr/>
                    <a:lstStyle/>
                    <a:p>
                      <a:pPr algn="ctr" fontAlgn="ctr">
                        <a:buNone/>
                      </a:pPr>
                      <a:r>
                        <a:rPr lang="en-US" sz="1600" b="0" dirty="0">
                          <a:effectLst/>
                        </a:rPr>
                        <a:t>Blocked storage</a:t>
                      </a:r>
                      <a:endParaRPr lang="en-US" sz="1600" b="0" dirty="0">
                        <a:effectLst/>
                        <a:latin typeface="Nunito" pitchFamily="2" charset="0"/>
                      </a:endParaRPr>
                    </a:p>
                  </a:txBody>
                  <a:tcPr marL="62349" marR="62349" marT="87289" marB="87289" anchor="ctr"/>
                </a:tc>
                <a:tc>
                  <a:txBody>
                    <a:bodyPr/>
                    <a:lstStyle/>
                    <a:p>
                      <a:pPr algn="ctr" fontAlgn="ctr">
                        <a:buNone/>
                      </a:pPr>
                      <a:r>
                        <a:rPr lang="en-US" sz="1600" b="0">
                          <a:effectLst/>
                        </a:rPr>
                        <a:t>S3</a:t>
                      </a:r>
                      <a:endParaRPr lang="en-US" sz="1600" b="0">
                        <a:effectLst/>
                        <a:latin typeface="Nunito" pitchFamily="2" charset="0"/>
                      </a:endParaRPr>
                    </a:p>
                  </a:txBody>
                  <a:tcPr marL="62349" marR="62349" marT="87289" marB="87289" anchor="ctr"/>
                </a:tc>
                <a:extLst>
                  <a:ext uri="{0D108BD9-81ED-4DB2-BD59-A6C34878D82A}">
                    <a16:rowId xmlns:a16="http://schemas.microsoft.com/office/drawing/2014/main" val="2188171640"/>
                  </a:ext>
                </a:extLst>
              </a:tr>
              <a:tr h="456700">
                <a:tc>
                  <a:txBody>
                    <a:bodyPr/>
                    <a:lstStyle/>
                    <a:p>
                      <a:pPr algn="l" fontAlgn="base">
                        <a:buNone/>
                      </a:pPr>
                      <a:r>
                        <a:rPr lang="en-US" sz="1600" b="1">
                          <a:effectLst/>
                        </a:rPr>
                        <a:t>Monitoring</a:t>
                      </a:r>
                      <a:endParaRPr lang="en-US" sz="1600" b="1">
                        <a:effectLst/>
                        <a:latin typeface="Nunito" pitchFamily="2" charset="0"/>
                      </a:endParaRPr>
                    </a:p>
                  </a:txBody>
                  <a:tcPr marL="62349" marR="62349" marT="87289" marB="87289" anchor="ctr"/>
                </a:tc>
                <a:tc>
                  <a:txBody>
                    <a:bodyPr/>
                    <a:lstStyle/>
                    <a:p>
                      <a:pPr algn="ctr" fontAlgn="ctr">
                        <a:buNone/>
                      </a:pPr>
                      <a:r>
                        <a:rPr lang="en-US" sz="1600" b="0">
                          <a:effectLst/>
                        </a:rPr>
                        <a:t>Stackdriver monitoring services</a:t>
                      </a:r>
                      <a:endParaRPr lang="en-US" sz="1600" b="0">
                        <a:effectLst/>
                        <a:latin typeface="Nunito" pitchFamily="2" charset="0"/>
                      </a:endParaRPr>
                    </a:p>
                  </a:txBody>
                  <a:tcPr marL="62349" marR="62349" marT="87289" marB="87289" anchor="ctr"/>
                </a:tc>
                <a:tc>
                  <a:txBody>
                    <a:bodyPr/>
                    <a:lstStyle/>
                    <a:p>
                      <a:pPr algn="ctr" fontAlgn="ctr">
                        <a:buNone/>
                      </a:pPr>
                      <a:r>
                        <a:rPr lang="en-US" sz="1600" b="0" dirty="0">
                          <a:effectLst/>
                        </a:rPr>
                        <a:t>Azure Application Insight</a:t>
                      </a:r>
                      <a:endParaRPr lang="en-US" sz="1600" b="0" dirty="0">
                        <a:effectLst/>
                        <a:latin typeface="Nunito" pitchFamily="2" charset="0"/>
                      </a:endParaRPr>
                    </a:p>
                  </a:txBody>
                  <a:tcPr marL="62349" marR="62349" marT="87289" marB="87289" anchor="ctr"/>
                </a:tc>
                <a:tc>
                  <a:txBody>
                    <a:bodyPr/>
                    <a:lstStyle/>
                    <a:p>
                      <a:pPr algn="ctr" fontAlgn="ctr">
                        <a:buNone/>
                      </a:pPr>
                      <a:r>
                        <a:rPr lang="en-US" sz="1600" b="0" u="sng">
                          <a:solidFill>
                            <a:srgbClr val="357960"/>
                          </a:solidFill>
                          <a:effectLst/>
                          <a:hlinkClick r:id="rId2"/>
                        </a:rPr>
                        <a:t>Cloud watch </a:t>
                      </a:r>
                      <a:endParaRPr lang="en-US" sz="1600" b="0">
                        <a:effectLst/>
                        <a:latin typeface="Nunito" pitchFamily="2" charset="0"/>
                      </a:endParaRPr>
                    </a:p>
                  </a:txBody>
                  <a:tcPr marL="62349" marR="62349" marT="87289" marB="87289" anchor="ctr"/>
                </a:tc>
                <a:extLst>
                  <a:ext uri="{0D108BD9-81ED-4DB2-BD59-A6C34878D82A}">
                    <a16:rowId xmlns:a16="http://schemas.microsoft.com/office/drawing/2014/main" val="3096789339"/>
                  </a:ext>
                </a:extLst>
              </a:tr>
              <a:tr h="456700">
                <a:tc>
                  <a:txBody>
                    <a:bodyPr/>
                    <a:lstStyle/>
                    <a:p>
                      <a:pPr algn="l" fontAlgn="base">
                        <a:buNone/>
                      </a:pPr>
                      <a:r>
                        <a:rPr lang="en-US" sz="1600" b="1">
                          <a:effectLst/>
                        </a:rPr>
                        <a:t>Block Storage</a:t>
                      </a:r>
                      <a:endParaRPr lang="en-US" sz="1600" b="1">
                        <a:effectLst/>
                        <a:latin typeface="Nunito" pitchFamily="2" charset="0"/>
                      </a:endParaRPr>
                    </a:p>
                  </a:txBody>
                  <a:tcPr marL="62349" marR="62349" marT="87289" marB="87289" anchor="ctr"/>
                </a:tc>
                <a:tc>
                  <a:txBody>
                    <a:bodyPr/>
                    <a:lstStyle/>
                    <a:p>
                      <a:pPr algn="ctr" fontAlgn="ctr">
                        <a:buNone/>
                      </a:pPr>
                      <a:r>
                        <a:rPr lang="en-US" sz="1600" b="0">
                          <a:effectLst/>
                        </a:rPr>
                        <a:t>Persistent disk</a:t>
                      </a:r>
                      <a:endParaRPr lang="en-US" sz="1600" b="0">
                        <a:effectLst/>
                        <a:latin typeface="Nunito" pitchFamily="2" charset="0"/>
                      </a:endParaRPr>
                    </a:p>
                  </a:txBody>
                  <a:tcPr marL="62349" marR="62349" marT="87289" marB="87289" anchor="ctr"/>
                </a:tc>
                <a:tc>
                  <a:txBody>
                    <a:bodyPr/>
                    <a:lstStyle/>
                    <a:p>
                      <a:pPr algn="ctr" fontAlgn="ctr">
                        <a:buNone/>
                      </a:pPr>
                      <a:r>
                        <a:rPr lang="en-US" sz="1600" b="0" dirty="0">
                          <a:effectLst/>
                        </a:rPr>
                        <a:t>Page blobs</a:t>
                      </a:r>
                      <a:endParaRPr lang="en-US" sz="1600" b="0" dirty="0">
                        <a:effectLst/>
                        <a:latin typeface="Nunito" pitchFamily="2" charset="0"/>
                      </a:endParaRPr>
                    </a:p>
                  </a:txBody>
                  <a:tcPr marL="62349" marR="62349" marT="87289" marB="87289" anchor="ctr"/>
                </a:tc>
                <a:tc>
                  <a:txBody>
                    <a:bodyPr/>
                    <a:lstStyle/>
                    <a:p>
                      <a:pPr algn="ctr" fontAlgn="ctr">
                        <a:buNone/>
                      </a:pPr>
                      <a:r>
                        <a:rPr lang="en-US" sz="1600" b="0">
                          <a:effectLst/>
                        </a:rPr>
                        <a:t>EBS</a:t>
                      </a:r>
                      <a:endParaRPr lang="en-US" sz="1600" b="0">
                        <a:effectLst/>
                        <a:latin typeface="Nunito" pitchFamily="2" charset="0"/>
                      </a:endParaRPr>
                    </a:p>
                  </a:txBody>
                  <a:tcPr marL="62349" marR="62349" marT="87289" marB="87289" anchor="ctr"/>
                </a:tc>
                <a:extLst>
                  <a:ext uri="{0D108BD9-81ED-4DB2-BD59-A6C34878D82A}">
                    <a16:rowId xmlns:a16="http://schemas.microsoft.com/office/drawing/2014/main" val="2704604074"/>
                  </a:ext>
                </a:extLst>
              </a:tr>
              <a:tr h="456700">
                <a:tc>
                  <a:txBody>
                    <a:bodyPr/>
                    <a:lstStyle/>
                    <a:p>
                      <a:pPr algn="l" fontAlgn="base">
                        <a:buNone/>
                      </a:pPr>
                      <a:r>
                        <a:rPr lang="en-US" sz="1600" b="1">
                          <a:effectLst/>
                        </a:rPr>
                        <a:t>Firewall</a:t>
                      </a:r>
                      <a:endParaRPr lang="en-US" sz="1600" b="1">
                        <a:effectLst/>
                        <a:latin typeface="Nunito" pitchFamily="2" charset="0"/>
                      </a:endParaRPr>
                    </a:p>
                  </a:txBody>
                  <a:tcPr marL="62349" marR="62349" marT="87289" marB="87289" anchor="ctr"/>
                </a:tc>
                <a:tc>
                  <a:txBody>
                    <a:bodyPr/>
                    <a:lstStyle/>
                    <a:p>
                      <a:pPr algn="ctr" fontAlgn="ctr">
                        <a:buNone/>
                      </a:pPr>
                      <a:r>
                        <a:rPr lang="en-US" sz="1600" b="0" dirty="0" err="1">
                          <a:effectLst/>
                        </a:rPr>
                        <a:t>Fortigate</a:t>
                      </a:r>
                      <a:r>
                        <a:rPr lang="en-US" sz="1600" b="0" dirty="0">
                          <a:effectLst/>
                        </a:rPr>
                        <a:t> Next Generation Firewall</a:t>
                      </a:r>
                      <a:endParaRPr lang="en-US" sz="1600" b="0" dirty="0">
                        <a:effectLst/>
                        <a:latin typeface="Nunito" pitchFamily="2" charset="0"/>
                      </a:endParaRPr>
                    </a:p>
                  </a:txBody>
                  <a:tcPr marL="62349" marR="62349" marT="87289" marB="87289" anchor="ctr"/>
                </a:tc>
                <a:tc>
                  <a:txBody>
                    <a:bodyPr/>
                    <a:lstStyle/>
                    <a:p>
                      <a:pPr algn="ctr" fontAlgn="ctr">
                        <a:buNone/>
                      </a:pPr>
                      <a:r>
                        <a:rPr lang="en-US" sz="1600" b="0">
                          <a:effectLst/>
                        </a:rPr>
                        <a:t>Application Gate Away</a:t>
                      </a:r>
                      <a:endParaRPr lang="en-US" sz="1600" b="0">
                        <a:effectLst/>
                        <a:latin typeface="Nunito" pitchFamily="2" charset="0"/>
                      </a:endParaRPr>
                    </a:p>
                  </a:txBody>
                  <a:tcPr marL="62349" marR="62349" marT="87289" marB="87289" anchor="ctr"/>
                </a:tc>
                <a:tc>
                  <a:txBody>
                    <a:bodyPr/>
                    <a:lstStyle/>
                    <a:p>
                      <a:pPr algn="ctr" fontAlgn="ctr">
                        <a:buNone/>
                      </a:pPr>
                      <a:r>
                        <a:rPr lang="en-US" sz="1600" b="0" dirty="0">
                          <a:effectLst/>
                        </a:rPr>
                        <a:t>Web Application Firewall</a:t>
                      </a:r>
                      <a:endParaRPr lang="en-US" sz="1600" b="0" dirty="0">
                        <a:effectLst/>
                        <a:latin typeface="Nunito" pitchFamily="2" charset="0"/>
                      </a:endParaRPr>
                    </a:p>
                  </a:txBody>
                  <a:tcPr marL="62349" marR="62349" marT="87289" marB="87289" anchor="ctr"/>
                </a:tc>
                <a:extLst>
                  <a:ext uri="{0D108BD9-81ED-4DB2-BD59-A6C34878D82A}">
                    <a16:rowId xmlns:a16="http://schemas.microsoft.com/office/drawing/2014/main" val="3094827895"/>
                  </a:ext>
                </a:extLst>
              </a:tr>
              <a:tr h="456700">
                <a:tc>
                  <a:txBody>
                    <a:bodyPr/>
                    <a:lstStyle/>
                    <a:p>
                      <a:pPr algn="l" fontAlgn="base">
                        <a:buNone/>
                      </a:pPr>
                      <a:r>
                        <a:rPr lang="en-US" sz="1600" b="1" dirty="0">
                          <a:effectLst/>
                        </a:rPr>
                        <a:t>Cloud Services(Protection)</a:t>
                      </a:r>
                      <a:endParaRPr lang="en-US" sz="1600" b="1" dirty="0">
                        <a:effectLst/>
                        <a:latin typeface="Nunito" pitchFamily="2" charset="0"/>
                      </a:endParaRPr>
                    </a:p>
                  </a:txBody>
                  <a:tcPr marL="62349" marR="62349" marT="87289" marB="87289" anchor="ctr"/>
                </a:tc>
                <a:tc>
                  <a:txBody>
                    <a:bodyPr/>
                    <a:lstStyle/>
                    <a:p>
                      <a:pPr algn="ctr" fontAlgn="ctr">
                        <a:buNone/>
                      </a:pPr>
                      <a:r>
                        <a:rPr lang="en-US" sz="1600" b="0" dirty="0">
                          <a:effectLst/>
                        </a:rPr>
                        <a:t>Shield</a:t>
                      </a:r>
                      <a:endParaRPr lang="en-US" sz="1600" b="0" dirty="0">
                        <a:effectLst/>
                        <a:latin typeface="Nunito" pitchFamily="2" charset="0"/>
                      </a:endParaRPr>
                    </a:p>
                  </a:txBody>
                  <a:tcPr marL="62349" marR="62349" marT="87289" marB="87289" anchor="ctr"/>
                </a:tc>
                <a:tc>
                  <a:txBody>
                    <a:bodyPr/>
                    <a:lstStyle/>
                    <a:p>
                      <a:pPr algn="ctr" fontAlgn="ctr">
                        <a:buNone/>
                      </a:pPr>
                      <a:r>
                        <a:rPr lang="en-US" sz="1600" b="0">
                          <a:effectLst/>
                        </a:rPr>
                        <a:t>DDos</a:t>
                      </a:r>
                      <a:endParaRPr lang="en-US" sz="1600" b="0">
                        <a:effectLst/>
                        <a:latin typeface="Nunito" pitchFamily="2" charset="0"/>
                      </a:endParaRPr>
                    </a:p>
                  </a:txBody>
                  <a:tcPr marL="62349" marR="62349" marT="87289" marB="87289" anchor="ctr"/>
                </a:tc>
                <a:tc>
                  <a:txBody>
                    <a:bodyPr/>
                    <a:lstStyle/>
                    <a:p>
                      <a:pPr algn="ctr" fontAlgn="ctr">
                        <a:buNone/>
                      </a:pPr>
                      <a:r>
                        <a:rPr lang="en-US" sz="1600" b="0" u="sng" dirty="0">
                          <a:solidFill>
                            <a:srgbClr val="357960"/>
                          </a:solidFill>
                          <a:effectLst/>
                          <a:hlinkClick r:id="rId3"/>
                        </a:rPr>
                        <a:t>Cloud Armor</a:t>
                      </a:r>
                      <a:endParaRPr lang="en-US" sz="1600" b="0" dirty="0">
                        <a:effectLst/>
                        <a:latin typeface="Nunito" pitchFamily="2" charset="0"/>
                      </a:endParaRPr>
                    </a:p>
                  </a:txBody>
                  <a:tcPr marL="62349" marR="62349" marT="87289" marB="87289" anchor="ctr"/>
                </a:tc>
                <a:extLst>
                  <a:ext uri="{0D108BD9-81ED-4DB2-BD59-A6C34878D82A}">
                    <a16:rowId xmlns:a16="http://schemas.microsoft.com/office/drawing/2014/main" val="1951722616"/>
                  </a:ext>
                </a:extLst>
              </a:tr>
              <a:tr h="456700">
                <a:tc>
                  <a:txBody>
                    <a:bodyPr/>
                    <a:lstStyle/>
                    <a:p>
                      <a:pPr algn="l" fontAlgn="base">
                        <a:buNone/>
                      </a:pPr>
                      <a:r>
                        <a:rPr lang="en-US" sz="1600" b="1" dirty="0">
                          <a:effectLst/>
                        </a:rPr>
                        <a:t>Market Share</a:t>
                      </a:r>
                      <a:endParaRPr lang="en-US" sz="1600" b="1" dirty="0">
                        <a:effectLst/>
                        <a:latin typeface="Nunito" pitchFamily="2" charset="0"/>
                      </a:endParaRPr>
                    </a:p>
                  </a:txBody>
                  <a:tcPr marL="62349" marR="62349" marT="87289" marB="87289" anchor="ctr"/>
                </a:tc>
                <a:tc>
                  <a:txBody>
                    <a:bodyPr/>
                    <a:lstStyle/>
                    <a:p>
                      <a:pPr algn="ctr" fontAlgn="ctr">
                        <a:buNone/>
                      </a:pPr>
                      <a:r>
                        <a:rPr lang="en-US" sz="1600" b="0">
                          <a:effectLst/>
                        </a:rPr>
                        <a:t>9%</a:t>
                      </a:r>
                      <a:endParaRPr lang="en-US" sz="1600" b="0">
                        <a:effectLst/>
                        <a:latin typeface="Nunito" pitchFamily="2" charset="0"/>
                      </a:endParaRPr>
                    </a:p>
                  </a:txBody>
                  <a:tcPr marL="62349" marR="62349" marT="87289" marB="87289" anchor="ctr"/>
                </a:tc>
                <a:tc>
                  <a:txBody>
                    <a:bodyPr/>
                    <a:lstStyle/>
                    <a:p>
                      <a:pPr algn="ctr" fontAlgn="ctr">
                        <a:buNone/>
                      </a:pPr>
                      <a:r>
                        <a:rPr lang="en-US" sz="1600" b="0" dirty="0">
                          <a:effectLst/>
                        </a:rPr>
                        <a:t>22%</a:t>
                      </a:r>
                      <a:endParaRPr lang="en-US" sz="1600" b="0" dirty="0">
                        <a:effectLst/>
                        <a:latin typeface="Nunito" pitchFamily="2" charset="0"/>
                      </a:endParaRPr>
                    </a:p>
                  </a:txBody>
                  <a:tcPr marL="62349" marR="62349" marT="87289" marB="87289" anchor="ctr"/>
                </a:tc>
                <a:tc>
                  <a:txBody>
                    <a:bodyPr/>
                    <a:lstStyle/>
                    <a:p>
                      <a:pPr algn="ctr" fontAlgn="ctr">
                        <a:buNone/>
                      </a:pPr>
                      <a:r>
                        <a:rPr lang="en-US" sz="1600" b="0" dirty="0">
                          <a:effectLst/>
                        </a:rPr>
                        <a:t>33%</a:t>
                      </a:r>
                      <a:endParaRPr lang="en-US" sz="1600" b="0" dirty="0">
                        <a:effectLst/>
                        <a:latin typeface="Nunito" pitchFamily="2" charset="0"/>
                      </a:endParaRPr>
                    </a:p>
                  </a:txBody>
                  <a:tcPr marL="62349" marR="62349" marT="87289" marB="87289" anchor="ctr"/>
                </a:tc>
                <a:extLst>
                  <a:ext uri="{0D108BD9-81ED-4DB2-BD59-A6C34878D82A}">
                    <a16:rowId xmlns:a16="http://schemas.microsoft.com/office/drawing/2014/main" val="1114521411"/>
                  </a:ext>
                </a:extLst>
              </a:tr>
              <a:tr h="456700">
                <a:tc>
                  <a:txBody>
                    <a:bodyPr/>
                    <a:lstStyle/>
                    <a:p>
                      <a:pPr algn="l" fontAlgn="base">
                        <a:buNone/>
                      </a:pPr>
                      <a:r>
                        <a:rPr lang="en-US" sz="1600" b="1" dirty="0">
                          <a:effectLst/>
                        </a:rPr>
                        <a:t>DNS Service</a:t>
                      </a:r>
                      <a:endParaRPr lang="en-US" sz="1600" b="1" dirty="0">
                        <a:effectLst/>
                        <a:latin typeface="Nunito" pitchFamily="2" charset="0"/>
                      </a:endParaRPr>
                    </a:p>
                  </a:txBody>
                  <a:tcPr marL="62349" marR="62349" marT="87289" marB="87289" anchor="ctr"/>
                </a:tc>
                <a:tc>
                  <a:txBody>
                    <a:bodyPr/>
                    <a:lstStyle/>
                    <a:p>
                      <a:pPr algn="ctr" fontAlgn="ctr">
                        <a:buNone/>
                      </a:pPr>
                      <a:r>
                        <a:rPr lang="en-US" sz="1600" b="0">
                          <a:effectLst/>
                        </a:rPr>
                        <a:t>Cloud DNS</a:t>
                      </a:r>
                      <a:endParaRPr lang="en-US" sz="1600" b="0">
                        <a:effectLst/>
                        <a:latin typeface="Nunito" pitchFamily="2" charset="0"/>
                      </a:endParaRPr>
                    </a:p>
                  </a:txBody>
                  <a:tcPr marL="62349" marR="62349" marT="87289" marB="87289" anchor="ctr"/>
                </a:tc>
                <a:tc>
                  <a:txBody>
                    <a:bodyPr/>
                    <a:lstStyle/>
                    <a:p>
                      <a:pPr algn="ctr" fontAlgn="ctr">
                        <a:buNone/>
                      </a:pPr>
                      <a:r>
                        <a:rPr lang="en-US" sz="1600" b="0">
                          <a:effectLst/>
                        </a:rPr>
                        <a:t>Azure traffic manager</a:t>
                      </a:r>
                      <a:endParaRPr lang="en-US" sz="1600" b="0">
                        <a:effectLst/>
                        <a:latin typeface="Nunito" pitchFamily="2" charset="0"/>
                      </a:endParaRPr>
                    </a:p>
                  </a:txBody>
                  <a:tcPr marL="62349" marR="62349" marT="87289" marB="87289" anchor="ctr"/>
                </a:tc>
                <a:tc>
                  <a:txBody>
                    <a:bodyPr/>
                    <a:lstStyle/>
                    <a:p>
                      <a:pPr algn="ctr" fontAlgn="ctr">
                        <a:buNone/>
                      </a:pPr>
                      <a:r>
                        <a:rPr lang="en-US" sz="1600" b="0" u="sng" dirty="0">
                          <a:solidFill>
                            <a:srgbClr val="357960"/>
                          </a:solidFill>
                          <a:effectLst/>
                          <a:hlinkClick r:id="rId4"/>
                        </a:rPr>
                        <a:t>Amazon Route 53</a:t>
                      </a:r>
                      <a:endParaRPr lang="en-US" sz="1600" b="0" dirty="0">
                        <a:effectLst/>
                        <a:latin typeface="Nunito" pitchFamily="2" charset="0"/>
                      </a:endParaRPr>
                    </a:p>
                  </a:txBody>
                  <a:tcPr marL="62349" marR="62349" marT="87289" marB="87289" anchor="ctr"/>
                </a:tc>
                <a:extLst>
                  <a:ext uri="{0D108BD9-81ED-4DB2-BD59-A6C34878D82A}">
                    <a16:rowId xmlns:a16="http://schemas.microsoft.com/office/drawing/2014/main" val="3209248417"/>
                  </a:ext>
                </a:extLst>
              </a:tr>
              <a:tr h="456700">
                <a:tc>
                  <a:txBody>
                    <a:bodyPr/>
                    <a:lstStyle/>
                    <a:p>
                      <a:pPr algn="l" fontAlgn="base">
                        <a:buNone/>
                      </a:pPr>
                      <a:r>
                        <a:rPr lang="en-US" sz="1600" b="1" dirty="0">
                          <a:effectLst/>
                        </a:rPr>
                        <a:t>Automation</a:t>
                      </a:r>
                      <a:endParaRPr lang="en-US" sz="1600" b="1" dirty="0">
                        <a:effectLst/>
                        <a:latin typeface="Nunito" pitchFamily="2" charset="0"/>
                      </a:endParaRPr>
                    </a:p>
                  </a:txBody>
                  <a:tcPr marL="62349" marR="62349" marT="87289" marB="87289" anchor="ctr"/>
                </a:tc>
                <a:tc>
                  <a:txBody>
                    <a:bodyPr/>
                    <a:lstStyle/>
                    <a:p>
                      <a:pPr algn="ctr" fontAlgn="ctr">
                        <a:buNone/>
                      </a:pPr>
                      <a:r>
                        <a:rPr lang="en-US" sz="1600" b="0">
                          <a:effectLst/>
                        </a:rPr>
                        <a:t>Compute Engine Management</a:t>
                      </a:r>
                      <a:endParaRPr lang="en-US" sz="1600" b="0">
                        <a:effectLst/>
                        <a:latin typeface="Nunito" pitchFamily="2" charset="0"/>
                      </a:endParaRPr>
                    </a:p>
                  </a:txBody>
                  <a:tcPr marL="62349" marR="62349" marT="87289" marB="87289" anchor="ctr"/>
                </a:tc>
                <a:tc>
                  <a:txBody>
                    <a:bodyPr/>
                    <a:lstStyle/>
                    <a:p>
                      <a:pPr algn="ctr" fontAlgn="ctr">
                        <a:buNone/>
                      </a:pPr>
                      <a:r>
                        <a:rPr lang="en-US" sz="1600" b="0">
                          <a:effectLst/>
                        </a:rPr>
                        <a:t>Azure Automation</a:t>
                      </a:r>
                      <a:endParaRPr lang="en-US" sz="1600" b="0">
                        <a:effectLst/>
                        <a:latin typeface="Nunito" pitchFamily="2" charset="0"/>
                      </a:endParaRPr>
                    </a:p>
                  </a:txBody>
                  <a:tcPr marL="62349" marR="62349" marT="87289" marB="87289" anchor="ctr"/>
                </a:tc>
                <a:tc>
                  <a:txBody>
                    <a:bodyPr/>
                    <a:lstStyle/>
                    <a:p>
                      <a:pPr algn="ctr" fontAlgn="ctr">
                        <a:buNone/>
                      </a:pPr>
                      <a:r>
                        <a:rPr lang="en-US" sz="1600" b="0" dirty="0">
                          <a:effectLst/>
                        </a:rPr>
                        <a:t>AWS </a:t>
                      </a:r>
                      <a:r>
                        <a:rPr lang="en-US" sz="1600" b="0" dirty="0" err="1">
                          <a:effectLst/>
                        </a:rPr>
                        <a:t>Opsworks</a:t>
                      </a:r>
                      <a:endParaRPr lang="en-US" sz="1600" b="0" dirty="0">
                        <a:effectLst/>
                        <a:latin typeface="Nunito" pitchFamily="2" charset="0"/>
                      </a:endParaRPr>
                    </a:p>
                  </a:txBody>
                  <a:tcPr marL="62349" marR="62349" marT="87289" marB="87289" anchor="ctr"/>
                </a:tc>
                <a:extLst>
                  <a:ext uri="{0D108BD9-81ED-4DB2-BD59-A6C34878D82A}">
                    <a16:rowId xmlns:a16="http://schemas.microsoft.com/office/drawing/2014/main" val="4202936981"/>
                  </a:ext>
                </a:extLst>
              </a:tr>
              <a:tr h="456700">
                <a:tc>
                  <a:txBody>
                    <a:bodyPr/>
                    <a:lstStyle/>
                    <a:p>
                      <a:pPr algn="l" fontAlgn="base">
                        <a:buNone/>
                      </a:pPr>
                      <a:r>
                        <a:rPr lang="en-US" sz="1600" b="1" dirty="0">
                          <a:effectLst/>
                        </a:rPr>
                        <a:t>Location</a:t>
                      </a:r>
                      <a:endParaRPr lang="en-US" sz="1600" b="1" dirty="0">
                        <a:effectLst/>
                        <a:latin typeface="Nunito" pitchFamily="2" charset="0"/>
                      </a:endParaRPr>
                    </a:p>
                  </a:txBody>
                  <a:tcPr marL="62349" marR="62349" marT="87289" marB="87289" anchor="ctr"/>
                </a:tc>
                <a:tc>
                  <a:txBody>
                    <a:bodyPr/>
                    <a:lstStyle/>
                    <a:p>
                      <a:pPr algn="ctr" fontAlgn="ctr">
                        <a:buNone/>
                      </a:pPr>
                      <a:r>
                        <a:rPr lang="fr-FR" sz="1600" b="0">
                          <a:effectLst/>
                        </a:rPr>
                        <a:t>22 Regions (61 zones Zones)</a:t>
                      </a:r>
                      <a:endParaRPr lang="fr-FR" sz="1600" b="0">
                        <a:effectLst/>
                        <a:latin typeface="Nunito" pitchFamily="2" charset="0"/>
                      </a:endParaRPr>
                    </a:p>
                  </a:txBody>
                  <a:tcPr marL="62349" marR="62349" marT="87289" marB="87289" anchor="ctr"/>
                </a:tc>
                <a:tc>
                  <a:txBody>
                    <a:bodyPr/>
                    <a:lstStyle/>
                    <a:p>
                      <a:pPr algn="ctr" fontAlgn="ctr">
                        <a:buNone/>
                      </a:pPr>
                      <a:r>
                        <a:rPr lang="en-US" sz="1600" b="0">
                          <a:effectLst/>
                        </a:rPr>
                        <a:t>60+ Regions</a:t>
                      </a:r>
                      <a:endParaRPr lang="en-US" sz="1600" b="0">
                        <a:effectLst/>
                        <a:latin typeface="Nunito" pitchFamily="2" charset="0"/>
                      </a:endParaRPr>
                    </a:p>
                  </a:txBody>
                  <a:tcPr marL="62349" marR="62349" marT="87289" marB="87289" anchor="ctr"/>
                </a:tc>
                <a:tc>
                  <a:txBody>
                    <a:bodyPr/>
                    <a:lstStyle/>
                    <a:p>
                      <a:pPr algn="ctr" fontAlgn="ctr">
                        <a:buNone/>
                      </a:pPr>
                      <a:r>
                        <a:rPr lang="en-US" sz="1600" b="0" dirty="0">
                          <a:effectLst/>
                        </a:rPr>
                        <a:t>26 Regions </a:t>
                      </a:r>
                      <a:endParaRPr lang="en-US" sz="1600" b="0" dirty="0">
                        <a:effectLst/>
                        <a:latin typeface="Nunito" pitchFamily="2" charset="0"/>
                      </a:endParaRPr>
                    </a:p>
                  </a:txBody>
                  <a:tcPr marL="62349" marR="62349" marT="87289" marB="87289" anchor="ctr"/>
                </a:tc>
                <a:extLst>
                  <a:ext uri="{0D108BD9-81ED-4DB2-BD59-A6C34878D82A}">
                    <a16:rowId xmlns:a16="http://schemas.microsoft.com/office/drawing/2014/main" val="983367033"/>
                  </a:ext>
                </a:extLst>
              </a:tr>
              <a:tr h="456700">
                <a:tc>
                  <a:txBody>
                    <a:bodyPr/>
                    <a:lstStyle/>
                    <a:p>
                      <a:pPr algn="l" fontAlgn="base">
                        <a:buNone/>
                      </a:pPr>
                      <a:r>
                        <a:rPr lang="en-US" sz="1600" b="1" dirty="0">
                          <a:effectLst/>
                        </a:rPr>
                        <a:t>Security</a:t>
                      </a:r>
                      <a:endParaRPr lang="en-US" sz="1600" b="1" dirty="0">
                        <a:effectLst/>
                        <a:latin typeface="Nunito" pitchFamily="2" charset="0"/>
                      </a:endParaRPr>
                    </a:p>
                  </a:txBody>
                  <a:tcPr marL="62349" marR="62349" marT="87289" marB="87289" anchor="ctr"/>
                </a:tc>
                <a:tc>
                  <a:txBody>
                    <a:bodyPr/>
                    <a:lstStyle/>
                    <a:p>
                      <a:pPr algn="ctr" fontAlgn="ctr">
                        <a:buNone/>
                      </a:pPr>
                      <a:r>
                        <a:rPr lang="en-US" sz="1600" b="0">
                          <a:effectLst/>
                        </a:rPr>
                        <a:t>Cloud security Command Centre</a:t>
                      </a:r>
                      <a:endParaRPr lang="en-US" sz="1600" b="0">
                        <a:effectLst/>
                        <a:latin typeface="Nunito" pitchFamily="2" charset="0"/>
                      </a:endParaRPr>
                    </a:p>
                  </a:txBody>
                  <a:tcPr marL="62349" marR="62349" marT="87289" marB="87289" anchor="ctr"/>
                </a:tc>
                <a:tc>
                  <a:txBody>
                    <a:bodyPr/>
                    <a:lstStyle/>
                    <a:p>
                      <a:pPr algn="ctr" fontAlgn="ctr">
                        <a:buNone/>
                      </a:pPr>
                      <a:r>
                        <a:rPr lang="en-US" sz="1600" b="0">
                          <a:effectLst/>
                        </a:rPr>
                        <a:t>Azure Security Centre</a:t>
                      </a:r>
                      <a:endParaRPr lang="en-US" sz="1600" b="0">
                        <a:effectLst/>
                        <a:latin typeface="Nunito" pitchFamily="2" charset="0"/>
                      </a:endParaRPr>
                    </a:p>
                  </a:txBody>
                  <a:tcPr marL="62349" marR="62349" marT="87289" marB="87289" anchor="ctr"/>
                </a:tc>
                <a:tc>
                  <a:txBody>
                    <a:bodyPr/>
                    <a:lstStyle/>
                    <a:p>
                      <a:pPr algn="ctr" fontAlgn="ctr">
                        <a:buNone/>
                      </a:pPr>
                      <a:r>
                        <a:rPr lang="en-US" sz="1600" b="0" dirty="0">
                          <a:effectLst/>
                        </a:rPr>
                        <a:t>AWS Security Hub</a:t>
                      </a:r>
                      <a:endParaRPr lang="en-US" sz="1600" b="0" dirty="0">
                        <a:effectLst/>
                        <a:latin typeface="Nunito" pitchFamily="2" charset="0"/>
                      </a:endParaRPr>
                    </a:p>
                  </a:txBody>
                  <a:tcPr marL="62349" marR="62349" marT="87289" marB="87289" anchor="ctr"/>
                </a:tc>
                <a:extLst>
                  <a:ext uri="{0D108BD9-81ED-4DB2-BD59-A6C34878D82A}">
                    <a16:rowId xmlns:a16="http://schemas.microsoft.com/office/drawing/2014/main" val="2977576298"/>
                  </a:ext>
                </a:extLst>
              </a:tr>
            </a:tbl>
          </a:graphicData>
        </a:graphic>
      </p:graphicFrame>
    </p:spTree>
    <p:extLst>
      <p:ext uri="{BB962C8B-B14F-4D97-AF65-F5344CB8AC3E}">
        <p14:creationId xmlns:p14="http://schemas.microsoft.com/office/powerpoint/2010/main" val="40200902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2736F-55DF-F71C-F6EF-0BB3817B13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E09CAE7-9D11-ED7E-298D-D6961EF95A9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8136109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23178-8C06-7715-277D-567C08113D4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EDBF5A1-3709-BD4B-B51D-9A7376EE57A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9975496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C1751-F691-BD3D-2CB8-52F67EC2EF3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1757D79-916B-CAC2-AAFB-2713C19CC68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1885424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D53C3-667A-F280-9BCF-1FFE8A4F77F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877EE3E-6CBC-3165-A7AD-72966BC0E0C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268078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253</TotalTime>
  <Words>1359</Words>
  <Application>Microsoft Office PowerPoint</Application>
  <PresentationFormat>Widescreen</PresentationFormat>
  <Paragraphs>119</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Nunito</vt:lpstr>
      <vt:lpstr>Office Theme</vt:lpstr>
      <vt:lpstr>Unit No 5</vt:lpstr>
      <vt:lpstr>Syllabus</vt:lpstr>
      <vt:lpstr> Overview of Cloud Service Providers: AWS, Azure, Google Cloud  </vt:lpstr>
      <vt:lpstr>PowerPoint Presentation</vt:lpstr>
      <vt:lpstr>PowerPoint Presentation</vt:lpstr>
      <vt:lpstr>Advantages of AWS, Azure and GCP </vt:lpstr>
      <vt:lpstr>Advantages of Microsoft Azure:</vt:lpstr>
      <vt:lpstr>Advantages of Google Cloud Platform: </vt:lpstr>
      <vt:lpstr>Use cases for AWS, Azure and GCP </vt:lpstr>
      <vt:lpstr>Microsoft Azure </vt:lpstr>
      <vt:lpstr>Google Cloud Platform </vt:lpstr>
      <vt:lpstr>Disadvantages of AWS, Azure and GCP </vt:lpstr>
      <vt:lpstr>Disadvantages of Azure: </vt:lpstr>
      <vt:lpstr>Disadvantages of GCP: </vt:lpstr>
      <vt:lpstr>How to choose a cloud service provider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admin</cp:lastModifiedBy>
  <cp:revision>4</cp:revision>
  <dcterms:created xsi:type="dcterms:W3CDTF">2026-04-01T08:37:05Z</dcterms:created>
  <dcterms:modified xsi:type="dcterms:W3CDTF">2026-04-16T10:12:48Z</dcterms:modified>
</cp:coreProperties>
</file>