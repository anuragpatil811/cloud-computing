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8" r:id="rId5"/>
    <p:sldId id="269" r:id="rId6"/>
    <p:sldId id="260"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61" r:id="rId23"/>
    <p:sldId id="262" r:id="rId24"/>
    <p:sldId id="285" r:id="rId25"/>
    <p:sldId id="286" r:id="rId26"/>
    <p:sldId id="287" r:id="rId27"/>
    <p:sldId id="288" r:id="rId28"/>
    <p:sldId id="289" r:id="rId29"/>
    <p:sldId id="290" r:id="rId30"/>
    <p:sldId id="291" r:id="rId31"/>
    <p:sldId id="292" r:id="rId32"/>
    <p:sldId id="263" r:id="rId33"/>
    <p:sldId id="264" r:id="rId34"/>
    <p:sldId id="265" r:id="rId35"/>
    <p:sldId id="293" r:id="rId36"/>
    <p:sldId id="294" r:id="rId37"/>
    <p:sldId id="295" r:id="rId38"/>
    <p:sldId id="296" r:id="rId39"/>
    <p:sldId id="266" r:id="rId40"/>
    <p:sldId id="267" r:id="rId4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2" d="100"/>
          <a:sy n="62" d="100"/>
        </p:scale>
        <p:origin x="140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Unit: Cloud Computing Foundations</a:t>
            </a:r>
          </a:p>
        </p:txBody>
      </p:sp>
      <p:sp>
        <p:nvSpPr>
          <p:cNvPr id="3" name="Content Placeholder 2"/>
          <p:cNvSpPr>
            <a:spLocks noGrp="1"/>
          </p:cNvSpPr>
          <p:nvPr>
            <p:ph idx="1"/>
          </p:nvPr>
        </p:nvSpPr>
        <p:spPr/>
        <p:txBody>
          <a:bodyPr/>
          <a:lstStyle/>
          <a:p>
            <a:r>
              <a:rPr dirty="0"/>
              <a:t>Based on Mastering Cloud Computing</a:t>
            </a:r>
          </a:p>
          <a:p>
            <a:r>
              <a:rPr dirty="0"/>
              <a:t>Rajkumar </a:t>
            </a:r>
            <a:r>
              <a:rPr dirty="0" err="1"/>
              <a:t>Buyya</a:t>
            </a:r>
            <a:r>
              <a:rPr dirty="0"/>
              <a:t> et 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Basics of Parallel Computing</a:t>
            </a:r>
          </a:p>
        </p:txBody>
      </p:sp>
      <p:sp>
        <p:nvSpPr>
          <p:cNvPr id="3" name="Content Placeholder 2"/>
          <p:cNvSpPr>
            <a:spLocks noGrp="1"/>
          </p:cNvSpPr>
          <p:nvPr>
            <p:ph idx="1"/>
          </p:nvPr>
        </p:nvSpPr>
        <p:spPr/>
        <p:txBody>
          <a:bodyPr/>
          <a:lstStyle/>
          <a:p>
            <a:r>
              <a:t>Simultaneous execution of tasks</a:t>
            </a:r>
          </a:p>
          <a:p>
            <a:r>
              <a:t>Improves performance and speed</a:t>
            </a:r>
          </a:p>
          <a:p>
            <a:r>
              <a:t>Used within cloud datacenters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Distributed vs Parallel Computing</a:t>
            </a:r>
          </a:p>
        </p:txBody>
      </p:sp>
      <p:sp>
        <p:nvSpPr>
          <p:cNvPr id="3" name="Content Placeholder 2"/>
          <p:cNvSpPr>
            <a:spLocks noGrp="1"/>
          </p:cNvSpPr>
          <p:nvPr>
            <p:ph idx="1"/>
          </p:nvPr>
        </p:nvSpPr>
        <p:spPr/>
        <p:txBody>
          <a:bodyPr/>
          <a:lstStyle/>
          <a:p>
            <a:r>
              <a:t>Parallel: tightly coupled systems</a:t>
            </a:r>
          </a:p>
          <a:p>
            <a:r>
              <a:t>Distributed: loosely coupled systems</a:t>
            </a:r>
          </a:p>
          <a:p>
            <a:r>
              <a:t>Cloud combines both paradigms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EC778-D545-C447-D797-B01074986B07}"/>
              </a:ext>
            </a:extLst>
          </p:cNvPr>
          <p:cNvSpPr>
            <a:spLocks noGrp="1"/>
          </p:cNvSpPr>
          <p:nvPr>
            <p:ph type="title"/>
          </p:nvPr>
        </p:nvSpPr>
        <p:spPr/>
        <p:txBody>
          <a:bodyPr/>
          <a:lstStyle/>
          <a:p>
            <a:r>
              <a:rPr lang="en-US" dirty="0"/>
              <a:t>Evolution of Cloud Computing</a:t>
            </a:r>
          </a:p>
        </p:txBody>
      </p:sp>
      <p:sp>
        <p:nvSpPr>
          <p:cNvPr id="3" name="Content Placeholder 2">
            <a:extLst>
              <a:ext uri="{FF2B5EF4-FFF2-40B4-BE49-F238E27FC236}">
                <a16:creationId xmlns:a16="http://schemas.microsoft.com/office/drawing/2014/main" id="{B6F13D1E-7B80-D5F4-B772-2132AB744117}"/>
              </a:ext>
            </a:extLst>
          </p:cNvPr>
          <p:cNvSpPr>
            <a:spLocks noGrp="1"/>
          </p:cNvSpPr>
          <p:nvPr>
            <p:ph idx="1"/>
          </p:nvPr>
        </p:nvSpPr>
        <p:spPr/>
        <p:txBody>
          <a:bodyPr>
            <a:normAutofit lnSpcReduction="10000"/>
          </a:bodyPr>
          <a:lstStyle/>
          <a:p>
            <a:pPr algn="just"/>
            <a:r>
              <a:rPr lang="en-US" dirty="0"/>
              <a:t>The idea of renting computing services by leveraging large distributed computing facilities has been around for long time.</a:t>
            </a:r>
          </a:p>
          <a:p>
            <a:pPr algn="just"/>
            <a:r>
              <a:rPr lang="en-US" dirty="0"/>
              <a:t>It dates back to the days of the mainframes in the early 1950s. From there on, technology has evolved and been refined. </a:t>
            </a:r>
          </a:p>
          <a:p>
            <a:pPr algn="just"/>
            <a:r>
              <a:rPr lang="en-US" dirty="0"/>
              <a:t>This process has created a series of favorable conditions for the realization of cloud computing. </a:t>
            </a:r>
          </a:p>
        </p:txBody>
      </p:sp>
    </p:spTree>
    <p:extLst>
      <p:ext uri="{BB962C8B-B14F-4D97-AF65-F5344CB8AC3E}">
        <p14:creationId xmlns:p14="http://schemas.microsoft.com/office/powerpoint/2010/main" val="3980152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4B531-BEE3-4413-14BA-4CEAB54F9F3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5C4963-2698-902E-4F9F-3171C9AEEA63}"/>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A91D3C42-A99D-EDC7-F547-803739686B5E}"/>
              </a:ext>
            </a:extLst>
          </p:cNvPr>
          <p:cNvPicPr>
            <a:picLocks noChangeAspect="1"/>
          </p:cNvPicPr>
          <p:nvPr/>
        </p:nvPicPr>
        <p:blipFill>
          <a:blip r:embed="rId2"/>
          <a:stretch>
            <a:fillRect/>
          </a:stretch>
        </p:blipFill>
        <p:spPr>
          <a:xfrm>
            <a:off x="457201" y="274638"/>
            <a:ext cx="8121720" cy="6208355"/>
          </a:xfrm>
          <a:prstGeom prst="rect">
            <a:avLst/>
          </a:prstGeom>
        </p:spPr>
      </p:pic>
    </p:spTree>
    <p:extLst>
      <p:ext uri="{BB962C8B-B14F-4D97-AF65-F5344CB8AC3E}">
        <p14:creationId xmlns:p14="http://schemas.microsoft.com/office/powerpoint/2010/main" val="4018715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Evolution of Cloud Computing</a:t>
            </a:r>
          </a:p>
        </p:txBody>
      </p:sp>
      <p:sp>
        <p:nvSpPr>
          <p:cNvPr id="3" name="Content Placeholder 2"/>
          <p:cNvSpPr>
            <a:spLocks noGrp="1"/>
          </p:cNvSpPr>
          <p:nvPr>
            <p:ph idx="1"/>
          </p:nvPr>
        </p:nvSpPr>
        <p:spPr/>
        <p:txBody>
          <a:bodyPr>
            <a:normAutofit fontScale="85000" lnSpcReduction="20000"/>
          </a:bodyPr>
          <a:lstStyle/>
          <a:p>
            <a:pPr marL="0" indent="0">
              <a:buNone/>
            </a:pPr>
            <a:r>
              <a:rPr lang="en-US" dirty="0"/>
              <a:t>In tracking the historical evolution, we briefly review five core technologies that played an important role in the realization of cloud computing. </a:t>
            </a:r>
          </a:p>
          <a:p>
            <a:endParaRPr lang="en-US" dirty="0"/>
          </a:p>
          <a:p>
            <a:r>
              <a:rPr dirty="0"/>
              <a:t>Mainframes</a:t>
            </a:r>
          </a:p>
          <a:p>
            <a:r>
              <a:rPr dirty="0"/>
              <a:t>Distributed Systems</a:t>
            </a:r>
          </a:p>
          <a:p>
            <a:r>
              <a:rPr dirty="0"/>
              <a:t>Clusters</a:t>
            </a:r>
          </a:p>
          <a:p>
            <a:r>
              <a:rPr dirty="0"/>
              <a:t>Grids</a:t>
            </a:r>
          </a:p>
          <a:p>
            <a:r>
              <a:rPr dirty="0"/>
              <a:t>Virtualization</a:t>
            </a:r>
          </a:p>
          <a:p>
            <a:r>
              <a:rPr dirty="0"/>
              <a:t>Web 2.0</a:t>
            </a:r>
          </a:p>
          <a:p>
            <a:r>
              <a:rPr dirty="0"/>
              <a:t>Utility Computing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1341E-F71E-A021-7A87-E7C18754EECD}"/>
              </a:ext>
            </a:extLst>
          </p:cNvPr>
          <p:cNvSpPr>
            <a:spLocks noGrp="1"/>
          </p:cNvSpPr>
          <p:nvPr>
            <p:ph type="title"/>
          </p:nvPr>
        </p:nvSpPr>
        <p:spPr/>
        <p:txBody>
          <a:bodyPr/>
          <a:lstStyle/>
          <a:p>
            <a:r>
              <a:rPr lang="en-US" b="1" dirty="0"/>
              <a:t>Mainframes.</a:t>
            </a:r>
            <a:endParaRPr lang="en-US" dirty="0"/>
          </a:p>
        </p:txBody>
      </p:sp>
      <p:sp>
        <p:nvSpPr>
          <p:cNvPr id="3" name="Content Placeholder 2">
            <a:extLst>
              <a:ext uri="{FF2B5EF4-FFF2-40B4-BE49-F238E27FC236}">
                <a16:creationId xmlns:a16="http://schemas.microsoft.com/office/drawing/2014/main" id="{39500B3C-BAEC-ACC8-F220-D8153F111926}"/>
              </a:ext>
            </a:extLst>
          </p:cNvPr>
          <p:cNvSpPr>
            <a:spLocks noGrp="1"/>
          </p:cNvSpPr>
          <p:nvPr>
            <p:ph idx="1"/>
          </p:nvPr>
        </p:nvSpPr>
        <p:spPr/>
        <p:txBody>
          <a:bodyPr>
            <a:normAutofit fontScale="77500" lnSpcReduction="20000"/>
          </a:bodyPr>
          <a:lstStyle/>
          <a:p>
            <a:pPr algn="just"/>
            <a:r>
              <a:rPr lang="en-US" dirty="0"/>
              <a:t>These were the first examples of large computational facilities leveraging multiple processing units. </a:t>
            </a:r>
          </a:p>
          <a:p>
            <a:pPr algn="just"/>
            <a:r>
              <a:rPr lang="en-US" dirty="0"/>
              <a:t>Mainframes were powerful, highly reliable computers specialized for large data movement and massive input/output (I/O) operations. </a:t>
            </a:r>
          </a:p>
          <a:p>
            <a:pPr algn="just"/>
            <a:r>
              <a:rPr lang="en-US" dirty="0"/>
              <a:t>They were mostly used by large organizations for bulk data processing tasks such as online transactions, enterprise resource planning, and other operations involving the processing of significant amounts of data. </a:t>
            </a:r>
          </a:p>
          <a:p>
            <a:pPr algn="just"/>
            <a:r>
              <a:rPr lang="en-US" dirty="0"/>
              <a:t>Even though mainframes cannot be considered distributed systems, they offered large computational power by using multiple processors, which were presented as a single entity to users. </a:t>
            </a:r>
          </a:p>
        </p:txBody>
      </p:sp>
    </p:spTree>
    <p:extLst>
      <p:ext uri="{BB962C8B-B14F-4D97-AF65-F5344CB8AC3E}">
        <p14:creationId xmlns:p14="http://schemas.microsoft.com/office/powerpoint/2010/main" val="1073885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42707-F0FB-B475-AD5A-BBDCCB2026D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22BA670-77FF-238C-4CDE-0E5536487DCF}"/>
              </a:ext>
            </a:extLst>
          </p:cNvPr>
          <p:cNvSpPr>
            <a:spLocks noGrp="1"/>
          </p:cNvSpPr>
          <p:nvPr>
            <p:ph idx="1"/>
          </p:nvPr>
        </p:nvSpPr>
        <p:spPr/>
        <p:txBody>
          <a:bodyPr>
            <a:normAutofit fontScale="77500" lnSpcReduction="20000"/>
          </a:bodyPr>
          <a:lstStyle/>
          <a:p>
            <a:pPr algn="just"/>
            <a:r>
              <a:rPr lang="en-US" b="1" dirty="0"/>
              <a:t>One of the most attractive features of mainframes was the ability to be highly reliable computers that were “always on” and capable of tolerating failures transparently.</a:t>
            </a:r>
            <a:r>
              <a:rPr lang="en-US" dirty="0"/>
              <a:t> </a:t>
            </a:r>
          </a:p>
          <a:p>
            <a:pPr algn="just"/>
            <a:r>
              <a:rPr lang="en-US" dirty="0"/>
              <a:t>No system shutdown was required to replace failed components, and the system could work without interruption. </a:t>
            </a:r>
          </a:p>
          <a:p>
            <a:pPr algn="just"/>
            <a:r>
              <a:rPr lang="en-US" dirty="0"/>
              <a:t>Batch processing was the main application of mainframes. Now their popularity and deployments have reduced, but evolved versions of such systems are still in use for transaction processing (such as online banking, airline ticket booking, supermarket and telcos, and government services). </a:t>
            </a:r>
          </a:p>
          <a:p>
            <a:endParaRPr lang="en-US" dirty="0"/>
          </a:p>
        </p:txBody>
      </p:sp>
    </p:spTree>
    <p:extLst>
      <p:ext uri="{BB962C8B-B14F-4D97-AF65-F5344CB8AC3E}">
        <p14:creationId xmlns:p14="http://schemas.microsoft.com/office/powerpoint/2010/main" val="297094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0E68C-C010-3B91-04F9-DAA36C7B31CF}"/>
              </a:ext>
            </a:extLst>
          </p:cNvPr>
          <p:cNvSpPr>
            <a:spLocks noGrp="1"/>
          </p:cNvSpPr>
          <p:nvPr>
            <p:ph type="title"/>
          </p:nvPr>
        </p:nvSpPr>
        <p:spPr/>
        <p:txBody>
          <a:bodyPr/>
          <a:lstStyle/>
          <a:p>
            <a:r>
              <a:rPr lang="en-US" b="1" dirty="0"/>
              <a:t>Clusters</a:t>
            </a:r>
            <a:r>
              <a:rPr lang="en-US" dirty="0"/>
              <a:t>.</a:t>
            </a:r>
          </a:p>
        </p:txBody>
      </p:sp>
      <p:sp>
        <p:nvSpPr>
          <p:cNvPr id="3" name="Content Placeholder 2">
            <a:extLst>
              <a:ext uri="{FF2B5EF4-FFF2-40B4-BE49-F238E27FC236}">
                <a16:creationId xmlns:a16="http://schemas.microsoft.com/office/drawing/2014/main" id="{157F5EEE-EBBE-EA5E-473F-BC63A8F48AE2}"/>
              </a:ext>
            </a:extLst>
          </p:cNvPr>
          <p:cNvSpPr>
            <a:spLocks noGrp="1"/>
          </p:cNvSpPr>
          <p:nvPr>
            <p:ph idx="1"/>
          </p:nvPr>
        </p:nvSpPr>
        <p:spPr/>
        <p:txBody>
          <a:bodyPr>
            <a:normAutofit fontScale="70000" lnSpcReduction="20000"/>
          </a:bodyPr>
          <a:lstStyle/>
          <a:p>
            <a:pPr algn="just"/>
            <a:r>
              <a:rPr lang="en-US" dirty="0"/>
              <a:t>Cluster computing started as a low-cost alternative to the use of mainframes and supercomputers. </a:t>
            </a:r>
          </a:p>
          <a:p>
            <a:pPr algn="just"/>
            <a:r>
              <a:rPr lang="en-US" dirty="0"/>
              <a:t>The technology advancement that created faster and more powerful mainframes and supercomputers eventually generated an increased availability of cheap commodity machines as a side effect. </a:t>
            </a:r>
          </a:p>
          <a:p>
            <a:pPr algn="just"/>
            <a:r>
              <a:rPr lang="en-US" dirty="0"/>
              <a:t>These machines could then be connected by a high-bandwidth network and controlled by specific software tools that manage them as a single system. </a:t>
            </a:r>
          </a:p>
          <a:p>
            <a:pPr algn="just"/>
            <a:r>
              <a:rPr lang="en-US" dirty="0"/>
              <a:t>Starting in the 1980s, clusters become the standard technology for parallel and high-performance computing. </a:t>
            </a:r>
          </a:p>
          <a:p>
            <a:pPr algn="just"/>
            <a:r>
              <a:rPr lang="en-US" dirty="0"/>
              <a:t>Built by commodity machines, they were cheaper than mainframes and made high-performance computing available to a large number of groups, including universities and small research labs. </a:t>
            </a:r>
          </a:p>
        </p:txBody>
      </p:sp>
    </p:spTree>
    <p:extLst>
      <p:ext uri="{BB962C8B-B14F-4D97-AF65-F5344CB8AC3E}">
        <p14:creationId xmlns:p14="http://schemas.microsoft.com/office/powerpoint/2010/main" val="4190126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7C516-7C09-99EE-F29F-E6EB37D108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A7D9E4-1C74-90B0-31BE-7B4FD49210CF}"/>
              </a:ext>
            </a:extLst>
          </p:cNvPr>
          <p:cNvSpPr>
            <a:spLocks noGrp="1"/>
          </p:cNvSpPr>
          <p:nvPr>
            <p:ph idx="1"/>
          </p:nvPr>
        </p:nvSpPr>
        <p:spPr/>
        <p:txBody>
          <a:bodyPr>
            <a:normAutofit fontScale="85000" lnSpcReduction="10000"/>
          </a:bodyPr>
          <a:lstStyle/>
          <a:p>
            <a:pPr algn="just"/>
            <a:r>
              <a:rPr lang="en-US" dirty="0"/>
              <a:t>Cluster technology contributed considerably to the evolution of tools and frameworks for distributed computing, including Parallel Virtual Machine (PVM), and Message Passing Interface (MPI) </a:t>
            </a:r>
          </a:p>
          <a:p>
            <a:pPr algn="just"/>
            <a:r>
              <a:rPr lang="en-US" b="1" dirty="0"/>
              <a:t>One of the attractive features of clusters was that the computational power of commodity machines could be leveraged to solve problems that were previously manageable only on expensive supercomputers. </a:t>
            </a:r>
          </a:p>
          <a:p>
            <a:pPr algn="just"/>
            <a:r>
              <a:rPr lang="en-US" dirty="0"/>
              <a:t>Moreover, clusters could be easily extended if more computational power was required.</a:t>
            </a:r>
          </a:p>
          <a:p>
            <a:endParaRPr lang="en-US" dirty="0"/>
          </a:p>
        </p:txBody>
      </p:sp>
    </p:spTree>
    <p:extLst>
      <p:ext uri="{BB962C8B-B14F-4D97-AF65-F5344CB8AC3E}">
        <p14:creationId xmlns:p14="http://schemas.microsoft.com/office/powerpoint/2010/main" val="2028432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B8549-F6B3-26BD-1B75-256E55CD2DA5}"/>
              </a:ext>
            </a:extLst>
          </p:cNvPr>
          <p:cNvSpPr>
            <a:spLocks noGrp="1"/>
          </p:cNvSpPr>
          <p:nvPr>
            <p:ph type="title"/>
          </p:nvPr>
        </p:nvSpPr>
        <p:spPr/>
        <p:txBody>
          <a:bodyPr/>
          <a:lstStyle/>
          <a:p>
            <a:r>
              <a:rPr lang="en-US" b="1" dirty="0"/>
              <a:t>Grids</a:t>
            </a:r>
            <a:endParaRPr lang="en-US" dirty="0"/>
          </a:p>
        </p:txBody>
      </p:sp>
      <p:sp>
        <p:nvSpPr>
          <p:cNvPr id="3" name="Content Placeholder 2">
            <a:extLst>
              <a:ext uri="{FF2B5EF4-FFF2-40B4-BE49-F238E27FC236}">
                <a16:creationId xmlns:a16="http://schemas.microsoft.com/office/drawing/2014/main" id="{E40BE84D-0BBD-1900-35A4-E77844592D6D}"/>
              </a:ext>
            </a:extLst>
          </p:cNvPr>
          <p:cNvSpPr>
            <a:spLocks noGrp="1"/>
          </p:cNvSpPr>
          <p:nvPr>
            <p:ph idx="1"/>
          </p:nvPr>
        </p:nvSpPr>
        <p:spPr/>
        <p:txBody>
          <a:bodyPr>
            <a:normAutofit fontScale="70000" lnSpcReduction="20000"/>
          </a:bodyPr>
          <a:lstStyle/>
          <a:p>
            <a:pPr algn="just"/>
            <a:r>
              <a:rPr lang="en-US" dirty="0"/>
              <a:t>Grid computing appeared in the early 1990s as an evolution of cluster computing. </a:t>
            </a:r>
          </a:p>
          <a:p>
            <a:pPr algn="just"/>
            <a:r>
              <a:rPr lang="en-US" dirty="0"/>
              <a:t>In an analogy to the power grid, </a:t>
            </a:r>
            <a:r>
              <a:rPr lang="en-US" b="1" dirty="0"/>
              <a:t>grid computing proposed a new approach to access large computational power, huge storage facilities, and a variety of services.</a:t>
            </a:r>
            <a:r>
              <a:rPr lang="en-US" dirty="0"/>
              <a:t> </a:t>
            </a:r>
          </a:p>
          <a:p>
            <a:pPr algn="just"/>
            <a:r>
              <a:rPr lang="en-US" dirty="0"/>
              <a:t>Users can “consume” resources in the same way as they use other utilities such as power, gas, and water. </a:t>
            </a:r>
          </a:p>
          <a:p>
            <a:pPr algn="just"/>
            <a:r>
              <a:rPr lang="en-US" b="1" dirty="0"/>
              <a:t>Grids initially developed as aggregations of geographically dispersed clusters by means of Internet connections.</a:t>
            </a:r>
            <a:r>
              <a:rPr lang="en-US" dirty="0"/>
              <a:t> These clusters belonged to different organizations, and arrangements were made among them to share the computational power. </a:t>
            </a:r>
          </a:p>
          <a:p>
            <a:pPr algn="just"/>
            <a:r>
              <a:rPr lang="en-US" dirty="0"/>
              <a:t>Different from a “large cluster,” a computing grid was a dynamic aggregation of heterogeneous computing nodes, and its scale was nationwide or even worldwide. </a:t>
            </a:r>
          </a:p>
        </p:txBody>
      </p:sp>
    </p:spTree>
    <p:extLst>
      <p:ext uri="{BB962C8B-B14F-4D97-AF65-F5344CB8AC3E}">
        <p14:creationId xmlns:p14="http://schemas.microsoft.com/office/powerpoint/2010/main" val="3785042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45DD5-707B-0B4A-85DB-11FAAEC743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CE626A2-B7A1-1733-7550-2EB7DFFE24A8}"/>
              </a:ext>
            </a:extLst>
          </p:cNvPr>
          <p:cNvSpPr>
            <a:spLocks noGrp="1"/>
          </p:cNvSpPr>
          <p:nvPr>
            <p:ph idx="1"/>
          </p:nvPr>
        </p:nvSpPr>
        <p:spPr/>
        <p:txBody>
          <a:bodyPr>
            <a:normAutofit fontScale="77500" lnSpcReduction="20000"/>
          </a:bodyPr>
          <a:lstStyle/>
          <a:p>
            <a:pPr algn="just"/>
            <a:r>
              <a:rPr lang="en-US" dirty="0"/>
              <a:t>Several developments made possible the diffusion of computing grids: </a:t>
            </a:r>
          </a:p>
          <a:p>
            <a:pPr marL="514350" indent="-514350" algn="just">
              <a:buAutoNum type="alphaLcParenBoth"/>
            </a:pPr>
            <a:r>
              <a:rPr lang="en-US" dirty="0"/>
              <a:t>clusters became quite common resources; </a:t>
            </a:r>
          </a:p>
          <a:p>
            <a:pPr marL="514350" indent="-514350" algn="just">
              <a:buAutoNum type="alphaLcParenBoth"/>
            </a:pPr>
            <a:r>
              <a:rPr lang="en-US" dirty="0"/>
              <a:t>they were often underutilized; </a:t>
            </a:r>
          </a:p>
          <a:p>
            <a:pPr marL="514350" indent="-514350" algn="just">
              <a:buAutoNum type="alphaLcParenBoth"/>
            </a:pPr>
            <a:r>
              <a:rPr lang="en-US" dirty="0"/>
              <a:t>new problems were requiring computational power that went beyond the capability of single clusters; </a:t>
            </a:r>
          </a:p>
          <a:p>
            <a:pPr marL="514350" indent="-514350" algn="just">
              <a:buAutoNum type="alphaLcParenBoth"/>
            </a:pPr>
            <a:r>
              <a:rPr lang="en-US" dirty="0"/>
              <a:t>the improvements in networking and the diffusion of the Internet made possible long-distance, high-bandwidth connectivity. </a:t>
            </a:r>
          </a:p>
          <a:p>
            <a:pPr algn="just">
              <a:buFont typeface="Arial" panose="020B0604020202020204" pitchFamily="34" charset="0"/>
              <a:buChar char="•"/>
            </a:pPr>
            <a:r>
              <a:rPr lang="en-US" dirty="0"/>
              <a:t>All these elements led to the development of grids, which now serve a multitude of users across the world.</a:t>
            </a:r>
          </a:p>
          <a:p>
            <a:pPr algn="just">
              <a:buFont typeface="Arial" panose="020B0604020202020204" pitchFamily="34" charset="0"/>
              <a:buChar char="•"/>
            </a:pPr>
            <a:r>
              <a:rPr lang="en-US" dirty="0"/>
              <a:t>C</a:t>
            </a:r>
            <a:r>
              <a:rPr lang="en-US" b="1" dirty="0"/>
              <a:t>loud computing is often considered the successor of grid computing.</a:t>
            </a:r>
            <a:endParaRPr lang="en-US" dirty="0"/>
          </a:p>
          <a:p>
            <a:endParaRPr lang="en-US" dirty="0"/>
          </a:p>
        </p:txBody>
      </p:sp>
    </p:spTree>
    <p:extLst>
      <p:ext uri="{BB962C8B-B14F-4D97-AF65-F5344CB8AC3E}">
        <p14:creationId xmlns:p14="http://schemas.microsoft.com/office/powerpoint/2010/main" val="579109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3F780-9337-8993-020F-ABEFDAC99634}"/>
              </a:ext>
            </a:extLst>
          </p:cNvPr>
          <p:cNvSpPr>
            <a:spLocks noGrp="1"/>
          </p:cNvSpPr>
          <p:nvPr>
            <p:ph type="title"/>
          </p:nvPr>
        </p:nvSpPr>
        <p:spPr/>
        <p:txBody>
          <a:bodyPr/>
          <a:lstStyle/>
          <a:p>
            <a:r>
              <a:rPr lang="en-US" dirty="0"/>
              <a:t>Virtualization</a:t>
            </a:r>
          </a:p>
        </p:txBody>
      </p:sp>
      <p:sp>
        <p:nvSpPr>
          <p:cNvPr id="3" name="Content Placeholder 2">
            <a:extLst>
              <a:ext uri="{FF2B5EF4-FFF2-40B4-BE49-F238E27FC236}">
                <a16:creationId xmlns:a16="http://schemas.microsoft.com/office/drawing/2014/main" id="{1B2422AA-9A27-8A37-E236-0697133EDF50}"/>
              </a:ext>
            </a:extLst>
          </p:cNvPr>
          <p:cNvSpPr>
            <a:spLocks noGrp="1"/>
          </p:cNvSpPr>
          <p:nvPr>
            <p:ph idx="1"/>
          </p:nvPr>
        </p:nvSpPr>
        <p:spPr/>
        <p:txBody>
          <a:bodyPr>
            <a:normAutofit fontScale="77500" lnSpcReduction="20000"/>
          </a:bodyPr>
          <a:lstStyle/>
          <a:p>
            <a:pPr algn="just"/>
            <a:r>
              <a:rPr lang="en-US" dirty="0"/>
              <a:t>Virtualization is another core technology for cloud computing. </a:t>
            </a:r>
          </a:p>
          <a:p>
            <a:pPr algn="just"/>
            <a:r>
              <a:rPr lang="en-US" b="1" dirty="0"/>
              <a:t>It encompasses a collection of solutions allowing the abstraction of some of the fundamental elements for computing, such as hardware, runtime environments, storage, and networking.</a:t>
            </a:r>
          </a:p>
          <a:p>
            <a:pPr algn="just"/>
            <a:r>
              <a:rPr lang="en-US" dirty="0"/>
              <a:t>Virtualization has been around for more than 40 years, but its application has always been limited by technologies that did not allow an efficient use of virtualization solutions. </a:t>
            </a:r>
          </a:p>
          <a:p>
            <a:pPr algn="just"/>
            <a:r>
              <a:rPr lang="en-US" dirty="0"/>
              <a:t>Today these limitations have been substantially overcome, and virtualization has become a fundamental element of cloud computing. </a:t>
            </a:r>
          </a:p>
        </p:txBody>
      </p:sp>
    </p:spTree>
    <p:extLst>
      <p:ext uri="{BB962C8B-B14F-4D97-AF65-F5344CB8AC3E}">
        <p14:creationId xmlns:p14="http://schemas.microsoft.com/office/powerpoint/2010/main" val="931084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1EAEE-7414-74CC-EA95-849E8850110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A415FBB-4FF0-BEAC-D22E-BD1C451B7362}"/>
              </a:ext>
            </a:extLst>
          </p:cNvPr>
          <p:cNvSpPr>
            <a:spLocks noGrp="1"/>
          </p:cNvSpPr>
          <p:nvPr>
            <p:ph idx="1"/>
          </p:nvPr>
        </p:nvSpPr>
        <p:spPr/>
        <p:txBody>
          <a:bodyPr>
            <a:normAutofit fontScale="85000" lnSpcReduction="10000"/>
          </a:bodyPr>
          <a:lstStyle/>
          <a:p>
            <a:pPr algn="just"/>
            <a:r>
              <a:rPr lang="en-US" dirty="0"/>
              <a:t>This is particularly true for solutions that provide IT infrastructure on demand. </a:t>
            </a:r>
          </a:p>
          <a:p>
            <a:pPr algn="just"/>
            <a:r>
              <a:rPr lang="en-US" dirty="0"/>
              <a:t>Virtualization confers that degree of customization and control that makes cloud computing appealing for users and, at the same time, sustainable for cloud services providers.</a:t>
            </a:r>
          </a:p>
          <a:p>
            <a:pPr algn="just"/>
            <a:r>
              <a:rPr lang="en-US" b="1" dirty="0"/>
              <a:t>Virtualization is essentially a technology that allows creation of different computing environments. </a:t>
            </a:r>
          </a:p>
          <a:p>
            <a:pPr algn="just"/>
            <a:r>
              <a:rPr lang="en-US" b="1" dirty="0"/>
              <a:t>These environments are called virtual because they simulate the interface that is expected by a user/guest</a:t>
            </a:r>
            <a:r>
              <a:rPr lang="en-US" dirty="0"/>
              <a:t>.</a:t>
            </a:r>
          </a:p>
        </p:txBody>
      </p:sp>
    </p:spTree>
    <p:extLst>
      <p:ext uri="{BB962C8B-B14F-4D97-AF65-F5344CB8AC3E}">
        <p14:creationId xmlns:p14="http://schemas.microsoft.com/office/powerpoint/2010/main" val="758522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BAD95-9C1B-5FC5-C2EF-C8C71B16CD56}"/>
              </a:ext>
            </a:extLst>
          </p:cNvPr>
          <p:cNvSpPr>
            <a:spLocks noGrp="1"/>
          </p:cNvSpPr>
          <p:nvPr>
            <p:ph type="title"/>
          </p:nvPr>
        </p:nvSpPr>
        <p:spPr/>
        <p:txBody>
          <a:bodyPr/>
          <a:lstStyle/>
          <a:p>
            <a:r>
              <a:rPr lang="en-US" dirty="0"/>
              <a:t>Web 2.0</a:t>
            </a:r>
          </a:p>
        </p:txBody>
      </p:sp>
      <p:sp>
        <p:nvSpPr>
          <p:cNvPr id="3" name="Content Placeholder 2">
            <a:extLst>
              <a:ext uri="{FF2B5EF4-FFF2-40B4-BE49-F238E27FC236}">
                <a16:creationId xmlns:a16="http://schemas.microsoft.com/office/drawing/2014/main" id="{F4C997B5-D7D3-90AD-0FD5-B2F0A64A894C}"/>
              </a:ext>
            </a:extLst>
          </p:cNvPr>
          <p:cNvSpPr>
            <a:spLocks noGrp="1"/>
          </p:cNvSpPr>
          <p:nvPr>
            <p:ph idx="1"/>
          </p:nvPr>
        </p:nvSpPr>
        <p:spPr/>
        <p:txBody>
          <a:bodyPr>
            <a:normAutofit fontScale="77500" lnSpcReduction="20000"/>
          </a:bodyPr>
          <a:lstStyle/>
          <a:p>
            <a:pPr algn="just"/>
            <a:r>
              <a:rPr lang="en-US" b="1" dirty="0"/>
              <a:t>The Web is the primary interface through which cloud computing delivers its services</a:t>
            </a:r>
            <a:r>
              <a:rPr lang="en-US" dirty="0"/>
              <a:t>. </a:t>
            </a:r>
          </a:p>
          <a:p>
            <a:pPr algn="just"/>
            <a:r>
              <a:rPr lang="en-US" dirty="0"/>
              <a:t>At present, the Web encompasses a set of technologies and services that facilitate interactive information sharing, collaboration, user-centered design, and application composition. </a:t>
            </a:r>
          </a:p>
          <a:p>
            <a:pPr algn="just"/>
            <a:r>
              <a:rPr lang="en-US" dirty="0"/>
              <a:t>This evolution has transformed the Web into a rich platform for application development and is known as Web 2.0. </a:t>
            </a:r>
          </a:p>
          <a:p>
            <a:pPr algn="just"/>
            <a:r>
              <a:rPr lang="en-US" dirty="0"/>
              <a:t>This term captures a new way in which developers architect applications and deliver services through the Internet and provides new experience for users of these applications and services. </a:t>
            </a:r>
          </a:p>
        </p:txBody>
      </p:sp>
    </p:spTree>
    <p:extLst>
      <p:ext uri="{BB962C8B-B14F-4D97-AF65-F5344CB8AC3E}">
        <p14:creationId xmlns:p14="http://schemas.microsoft.com/office/powerpoint/2010/main" val="296714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22588-F75E-38CA-1515-ACF17E85C3A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D5D3AAA-00B0-C8C7-2489-D34A178663EF}"/>
              </a:ext>
            </a:extLst>
          </p:cNvPr>
          <p:cNvSpPr>
            <a:spLocks noGrp="1"/>
          </p:cNvSpPr>
          <p:nvPr>
            <p:ph idx="1"/>
          </p:nvPr>
        </p:nvSpPr>
        <p:spPr/>
        <p:txBody>
          <a:bodyPr>
            <a:normAutofit/>
          </a:bodyPr>
          <a:lstStyle/>
          <a:p>
            <a:pPr algn="just"/>
            <a:r>
              <a:rPr lang="en-US" sz="2400" dirty="0"/>
              <a:t>Web 2.0 brings interactivity and flexibility into Web pages, providing enhanced user experience by gaining Web-based access to all the functions that are normally found in desktop applications.</a:t>
            </a:r>
          </a:p>
          <a:p>
            <a:pPr algn="just"/>
            <a:r>
              <a:rPr lang="en-US" sz="2400" dirty="0"/>
              <a:t>These capabilities are obtained by integrating a collection of standards and technologies such as XML, Asynchronous JavaScript and XML (AJAX), Web Services, and others. </a:t>
            </a:r>
          </a:p>
          <a:p>
            <a:pPr algn="just"/>
            <a:r>
              <a:rPr lang="en-US" sz="2400" dirty="0"/>
              <a:t>These technologies allow us to build applications leveraging the contribution of users, who now become providers of content.</a:t>
            </a:r>
          </a:p>
        </p:txBody>
      </p:sp>
    </p:spTree>
    <p:extLst>
      <p:ext uri="{BB962C8B-B14F-4D97-AF65-F5344CB8AC3E}">
        <p14:creationId xmlns:p14="http://schemas.microsoft.com/office/powerpoint/2010/main" val="1157602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7EBC9-4FF8-AE54-4C90-D8CC46770AC1}"/>
              </a:ext>
            </a:extLst>
          </p:cNvPr>
          <p:cNvSpPr>
            <a:spLocks noGrp="1"/>
          </p:cNvSpPr>
          <p:nvPr>
            <p:ph type="title"/>
          </p:nvPr>
        </p:nvSpPr>
        <p:spPr/>
        <p:txBody>
          <a:bodyPr/>
          <a:lstStyle/>
          <a:p>
            <a:r>
              <a:rPr lang="en-US" b="1" dirty="0"/>
              <a:t>Service orientation Computing</a:t>
            </a:r>
            <a:endParaRPr lang="en-US" dirty="0"/>
          </a:p>
        </p:txBody>
      </p:sp>
      <p:sp>
        <p:nvSpPr>
          <p:cNvPr id="3" name="Content Placeholder 2">
            <a:extLst>
              <a:ext uri="{FF2B5EF4-FFF2-40B4-BE49-F238E27FC236}">
                <a16:creationId xmlns:a16="http://schemas.microsoft.com/office/drawing/2014/main" id="{145593F2-8E67-234E-16A5-65848470B790}"/>
              </a:ext>
            </a:extLst>
          </p:cNvPr>
          <p:cNvSpPr>
            <a:spLocks noGrp="1"/>
          </p:cNvSpPr>
          <p:nvPr>
            <p:ph idx="1"/>
          </p:nvPr>
        </p:nvSpPr>
        <p:spPr/>
        <p:txBody>
          <a:bodyPr>
            <a:normAutofit fontScale="62500" lnSpcReduction="20000"/>
          </a:bodyPr>
          <a:lstStyle/>
          <a:p>
            <a:pPr algn="just"/>
            <a:r>
              <a:rPr lang="en-US" b="1" dirty="0"/>
              <a:t>Service orientation is the core reference model for cloud computing systems.</a:t>
            </a:r>
            <a:r>
              <a:rPr lang="en-US" dirty="0"/>
              <a:t> </a:t>
            </a:r>
          </a:p>
          <a:p>
            <a:pPr algn="just"/>
            <a:r>
              <a:rPr lang="en-US" dirty="0"/>
              <a:t>This approach adopts the concept of services as the main building blocks of application and system development</a:t>
            </a:r>
            <a:r>
              <a:rPr lang="en-US" b="1" dirty="0"/>
              <a:t>. Service-oriented computing (SOC) supports the development of rapid, low-cost, flexible, interoperable, and evolvable applications and systems [19]. </a:t>
            </a:r>
          </a:p>
          <a:p>
            <a:pPr algn="just"/>
            <a:r>
              <a:rPr lang="en-US" b="1" dirty="0"/>
              <a:t>A service is an abstraction representing a self-describing and platform-agnostic component that</a:t>
            </a:r>
            <a:r>
              <a:rPr lang="en-US" dirty="0"/>
              <a:t> can perform any function—anything from a simple function to a complex business process.</a:t>
            </a:r>
          </a:p>
          <a:p>
            <a:pPr algn="just"/>
            <a:r>
              <a:rPr lang="en-US" b="1" dirty="0"/>
              <a:t>Virtually any piece of code that performs a task can be turned into a service and expose its functionalities through a network-accessible protocol.</a:t>
            </a:r>
            <a:r>
              <a:rPr lang="en-US" dirty="0"/>
              <a:t> A service is supposed to be loosely coupled, reusable, programming language independent, and location transparent. Loose coupling allows services to serve different scenarios more easily and makes them reusable. </a:t>
            </a:r>
          </a:p>
        </p:txBody>
      </p:sp>
    </p:spTree>
    <p:extLst>
      <p:ext uri="{BB962C8B-B14F-4D97-AF65-F5344CB8AC3E}">
        <p14:creationId xmlns:p14="http://schemas.microsoft.com/office/powerpoint/2010/main" val="1946625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7A0DB-6F09-E3FC-BA88-7D58C948D72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589784-4749-A682-E437-77FAD1BAABB8}"/>
              </a:ext>
            </a:extLst>
          </p:cNvPr>
          <p:cNvSpPr>
            <a:spLocks noGrp="1"/>
          </p:cNvSpPr>
          <p:nvPr>
            <p:ph idx="1"/>
          </p:nvPr>
        </p:nvSpPr>
        <p:spPr/>
        <p:txBody>
          <a:bodyPr>
            <a:normAutofit fontScale="70000" lnSpcReduction="20000"/>
          </a:bodyPr>
          <a:lstStyle/>
          <a:p>
            <a:pPr algn="just"/>
            <a:r>
              <a:rPr lang="en-US" dirty="0"/>
              <a:t>Independence from a specific platform increases services accessibility. </a:t>
            </a:r>
          </a:p>
          <a:p>
            <a:pPr algn="just"/>
            <a:r>
              <a:rPr lang="en-US" dirty="0"/>
              <a:t>Thus, a wider range of clients, which can look up services in global registries and consume them in a location-transparent manner, can be served. </a:t>
            </a:r>
          </a:p>
          <a:p>
            <a:pPr algn="just"/>
            <a:r>
              <a:rPr lang="en-US" dirty="0"/>
              <a:t>Services are composed and aggregated into a service-oriented architecture (SOA), which is a logical way of organizing software systems to provide end users or other entities distributed over the network with services through published and discoverable interfaces. </a:t>
            </a:r>
          </a:p>
          <a:p>
            <a:pPr algn="just"/>
            <a:r>
              <a:rPr lang="en-US" dirty="0"/>
              <a:t>Service-oriented computing introduces and diffuses two important concepts, which are also fundamental to cloud computing: quality of service (QoS) and Software-as-a-Service (SaaS).</a:t>
            </a:r>
          </a:p>
          <a:p>
            <a:endParaRPr lang="en-US" dirty="0"/>
          </a:p>
        </p:txBody>
      </p:sp>
    </p:spTree>
    <p:extLst>
      <p:ext uri="{BB962C8B-B14F-4D97-AF65-F5344CB8AC3E}">
        <p14:creationId xmlns:p14="http://schemas.microsoft.com/office/powerpoint/2010/main" val="1751531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2F161-14F9-408D-53D5-3D870D90D324}"/>
              </a:ext>
            </a:extLst>
          </p:cNvPr>
          <p:cNvSpPr>
            <a:spLocks noGrp="1"/>
          </p:cNvSpPr>
          <p:nvPr>
            <p:ph type="title"/>
          </p:nvPr>
        </p:nvSpPr>
        <p:spPr/>
        <p:txBody>
          <a:bodyPr/>
          <a:lstStyle/>
          <a:p>
            <a:r>
              <a:rPr lang="en-US" b="1" dirty="0"/>
              <a:t>Utility-oriented computing </a:t>
            </a:r>
            <a:endParaRPr lang="en-US" dirty="0"/>
          </a:p>
        </p:txBody>
      </p:sp>
      <p:sp>
        <p:nvSpPr>
          <p:cNvPr id="3" name="Content Placeholder 2">
            <a:extLst>
              <a:ext uri="{FF2B5EF4-FFF2-40B4-BE49-F238E27FC236}">
                <a16:creationId xmlns:a16="http://schemas.microsoft.com/office/drawing/2014/main" id="{9D840034-47D1-35A1-99DC-954C311975C0}"/>
              </a:ext>
            </a:extLst>
          </p:cNvPr>
          <p:cNvSpPr>
            <a:spLocks noGrp="1"/>
          </p:cNvSpPr>
          <p:nvPr>
            <p:ph idx="1"/>
          </p:nvPr>
        </p:nvSpPr>
        <p:spPr>
          <a:xfrm>
            <a:off x="457200" y="1600200"/>
            <a:ext cx="8229600" cy="5078002"/>
          </a:xfrm>
        </p:spPr>
        <p:txBody>
          <a:bodyPr>
            <a:normAutofit fontScale="70000" lnSpcReduction="20000"/>
          </a:bodyPr>
          <a:lstStyle/>
          <a:p>
            <a:pPr algn="just"/>
            <a:r>
              <a:rPr lang="en-US" b="1" dirty="0"/>
              <a:t>Utility computing is a vision of computing that defines a service-provisioning model for compute services in which resources such as storage, compute power, applications, and infrastructure are packaged and offered on a pay-per-use basis. </a:t>
            </a:r>
          </a:p>
          <a:p>
            <a:pPr algn="just"/>
            <a:r>
              <a:rPr lang="en-US" dirty="0"/>
              <a:t>The idea of providing computing as a utility like natural gas, water, power, and telephone connection has a long history but has become a reality today with the advent of cloud computing. </a:t>
            </a:r>
          </a:p>
          <a:p>
            <a:pPr algn="just"/>
            <a:r>
              <a:rPr lang="en-US" dirty="0"/>
              <a:t>Among the earliest forerunners of this vision we can include the American scientist John McCarthy, who, in a speech for the Massachusetts Institute of Technology (MIT) centennial in 1961, observed: </a:t>
            </a:r>
          </a:p>
          <a:p>
            <a:pPr algn="just"/>
            <a:r>
              <a:rPr lang="en-US" i="1" dirty="0"/>
              <a:t>“If computers of the kind I have advocated become the computers of the future, then computing may someday be organized as a public utility, just as the telephone system is a public utility ... The computer utility could become the basis of a new and important industry.”</a:t>
            </a:r>
            <a:endParaRPr lang="en-US" dirty="0"/>
          </a:p>
          <a:p>
            <a:endParaRPr lang="en-US" dirty="0"/>
          </a:p>
        </p:txBody>
      </p:sp>
    </p:spTree>
    <p:extLst>
      <p:ext uri="{BB962C8B-B14F-4D97-AF65-F5344CB8AC3E}">
        <p14:creationId xmlns:p14="http://schemas.microsoft.com/office/powerpoint/2010/main" val="2900106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0FA9E-4855-1820-C79D-543FAE77561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DB547F7-4A51-D04A-C5D9-260ECD03FF0E}"/>
              </a:ext>
            </a:extLst>
          </p:cNvPr>
          <p:cNvSpPr>
            <a:spLocks noGrp="1"/>
          </p:cNvSpPr>
          <p:nvPr>
            <p:ph idx="1"/>
          </p:nvPr>
        </p:nvSpPr>
        <p:spPr/>
        <p:txBody>
          <a:bodyPr>
            <a:normAutofit fontScale="70000" lnSpcReduction="20000"/>
          </a:bodyPr>
          <a:lstStyle/>
          <a:p>
            <a:pPr algn="just"/>
            <a:r>
              <a:rPr lang="en-US" dirty="0"/>
              <a:t>The first traces of this service-provisioning model can be found in the mainframe era. IBM and other mainframe providers offered mainframe power to organizations such as banks and government agencies throughout their datacenters. </a:t>
            </a:r>
          </a:p>
          <a:p>
            <a:pPr algn="just"/>
            <a:r>
              <a:rPr lang="en-US" dirty="0"/>
              <a:t>The idea of computing as utility remained and extended from the business domain to academia with the advent of cluster computing. </a:t>
            </a:r>
          </a:p>
          <a:p>
            <a:pPr algn="just"/>
            <a:r>
              <a:rPr lang="en-US" dirty="0"/>
              <a:t>The capillary diffusion of the Internet and the Web provided the technological means to realize utility computing on a worldwide scale and through simple interfaces. </a:t>
            </a:r>
          </a:p>
          <a:p>
            <a:pPr algn="just"/>
            <a:r>
              <a:rPr lang="en-US" dirty="0"/>
              <a:t>As already discussed, computing grids provided a planet-scale distributed computing infrastructure that was accessible on demand. Computing grids brought the concept of utility computing to a new level: market orientation</a:t>
            </a:r>
          </a:p>
        </p:txBody>
      </p:sp>
    </p:spTree>
    <p:extLst>
      <p:ext uri="{BB962C8B-B14F-4D97-AF65-F5344CB8AC3E}">
        <p14:creationId xmlns:p14="http://schemas.microsoft.com/office/powerpoint/2010/main" val="5261986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1A32-0544-94A9-0AA9-AF9B643FB54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640CD10-8C54-382F-D5BD-ADDF206F54A6}"/>
              </a:ext>
            </a:extLst>
          </p:cNvPr>
          <p:cNvSpPr>
            <a:spLocks noGrp="1"/>
          </p:cNvSpPr>
          <p:nvPr>
            <p:ph idx="1"/>
          </p:nvPr>
        </p:nvSpPr>
        <p:spPr/>
        <p:txBody>
          <a:bodyPr>
            <a:normAutofit fontScale="92500" lnSpcReduction="20000"/>
          </a:bodyPr>
          <a:lstStyle/>
          <a:p>
            <a:pPr algn="just"/>
            <a:r>
              <a:rPr lang="en-US" dirty="0"/>
              <a:t>From an application and system development perspective, service-oriented computing and service-oriented architectures (SOAs) introduced the idea of leveraging external services for performing a specific task within a software system.</a:t>
            </a:r>
          </a:p>
          <a:p>
            <a:pPr algn="just"/>
            <a:r>
              <a:rPr lang="en-US" dirty="0"/>
              <a:t>All these factors contributed to the development of the concept of utility computing and offered important steps in the realization of cloud computing, in which the vision of computing utilities comes to its full expression.</a:t>
            </a:r>
          </a:p>
          <a:p>
            <a:endParaRPr lang="en-US" dirty="0"/>
          </a:p>
        </p:txBody>
      </p:sp>
    </p:spTree>
    <p:extLst>
      <p:ext uri="{BB962C8B-B14F-4D97-AF65-F5344CB8AC3E}">
        <p14:creationId xmlns:p14="http://schemas.microsoft.com/office/powerpoint/2010/main" val="42250940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Characteristics of Cloud Computing</a:t>
            </a:r>
          </a:p>
        </p:txBody>
      </p:sp>
      <p:sp>
        <p:nvSpPr>
          <p:cNvPr id="3" name="Content Placeholder 2"/>
          <p:cNvSpPr>
            <a:spLocks noGrp="1"/>
          </p:cNvSpPr>
          <p:nvPr>
            <p:ph idx="1"/>
          </p:nvPr>
        </p:nvSpPr>
        <p:spPr/>
        <p:txBody>
          <a:bodyPr/>
          <a:lstStyle/>
          <a:p>
            <a:r>
              <a:t>On-demand self-service</a:t>
            </a:r>
          </a:p>
          <a:p>
            <a:r>
              <a:t>Broad network access</a:t>
            </a:r>
          </a:p>
          <a:p>
            <a:r>
              <a:t>Resource pooling</a:t>
            </a:r>
          </a:p>
          <a:p>
            <a:r>
              <a:t>Rapid elasticity</a:t>
            </a:r>
          </a:p>
          <a:p>
            <a:r>
              <a:t>Measured service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Benefits of Cloud Computing</a:t>
            </a:r>
          </a:p>
        </p:txBody>
      </p:sp>
      <p:sp>
        <p:nvSpPr>
          <p:cNvPr id="3" name="Content Placeholder 2"/>
          <p:cNvSpPr>
            <a:spLocks noGrp="1"/>
          </p:cNvSpPr>
          <p:nvPr>
            <p:ph idx="1"/>
          </p:nvPr>
        </p:nvSpPr>
        <p:spPr/>
        <p:txBody>
          <a:bodyPr/>
          <a:lstStyle/>
          <a:p>
            <a:r>
              <a:t>No capital expenditure</a:t>
            </a:r>
          </a:p>
          <a:p>
            <a:r>
              <a:t>Reduced maintenance cost</a:t>
            </a:r>
          </a:p>
          <a:p>
            <a:r>
              <a:t>Scalability and flexibility</a:t>
            </a:r>
          </a:p>
          <a:p>
            <a:r>
              <a:t>Global accessibility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CE291-7711-28AB-6AFC-36CA36414D91}"/>
              </a:ext>
            </a:extLst>
          </p:cNvPr>
          <p:cNvSpPr>
            <a:spLocks noGrp="1"/>
          </p:cNvSpPr>
          <p:nvPr>
            <p:ph type="title"/>
          </p:nvPr>
        </p:nvSpPr>
        <p:spPr/>
        <p:txBody>
          <a:bodyPr>
            <a:normAutofit fontScale="90000"/>
          </a:bodyPr>
          <a:lstStyle/>
          <a:p>
            <a:r>
              <a:rPr lang="en-US" b="1" dirty="0"/>
              <a:t>Benefits of Cloud Computing</a:t>
            </a:r>
            <a:br>
              <a:rPr lang="en-US" dirty="0"/>
            </a:br>
            <a:endParaRPr lang="en-US" dirty="0"/>
          </a:p>
        </p:txBody>
      </p:sp>
      <p:sp>
        <p:nvSpPr>
          <p:cNvPr id="3" name="Content Placeholder 2">
            <a:extLst>
              <a:ext uri="{FF2B5EF4-FFF2-40B4-BE49-F238E27FC236}">
                <a16:creationId xmlns:a16="http://schemas.microsoft.com/office/drawing/2014/main" id="{FF393405-5A11-BEC5-B735-E57B6059DDB2}"/>
              </a:ext>
            </a:extLst>
          </p:cNvPr>
          <p:cNvSpPr>
            <a:spLocks noGrp="1"/>
          </p:cNvSpPr>
          <p:nvPr>
            <p:ph idx="1"/>
          </p:nvPr>
        </p:nvSpPr>
        <p:spPr/>
        <p:txBody>
          <a:bodyPr>
            <a:normAutofit fontScale="92500" lnSpcReduction="10000"/>
          </a:bodyPr>
          <a:lstStyle/>
          <a:p>
            <a:pPr algn="just"/>
            <a:r>
              <a:rPr lang="en-US" sz="2800" b="1" dirty="0"/>
              <a:t>The most evident benefit from the use of cloud computing systems and technologies is the increased economical return due to the reduced maintenance costs and operational costs related to IT software and infrastructure.</a:t>
            </a:r>
            <a:r>
              <a:rPr lang="en-US" sz="2800" dirty="0"/>
              <a:t> </a:t>
            </a:r>
          </a:p>
          <a:p>
            <a:pPr algn="just"/>
            <a:r>
              <a:rPr lang="en-US" sz="2800" dirty="0"/>
              <a:t>This is mainly because IT assets, namely software and infrastructure, are turned into utility costs, which are paid for as long as they are used, not paid for up front. </a:t>
            </a:r>
          </a:p>
          <a:p>
            <a:pPr algn="just"/>
            <a:r>
              <a:rPr lang="en-US" sz="2800" dirty="0"/>
              <a:t>Cloud computing transforms IT infrastructure and software into utilities, thus significantly contributing to increasing efficiency and reducing upfront investment.</a:t>
            </a:r>
          </a:p>
          <a:p>
            <a:pPr algn="just"/>
            <a:endParaRPr lang="en-US" dirty="0"/>
          </a:p>
          <a:p>
            <a:pPr algn="just"/>
            <a:endParaRPr lang="en-US" dirty="0"/>
          </a:p>
          <a:p>
            <a:endParaRPr lang="en-US" b="1" dirty="0"/>
          </a:p>
        </p:txBody>
      </p:sp>
    </p:spTree>
    <p:extLst>
      <p:ext uri="{BB962C8B-B14F-4D97-AF65-F5344CB8AC3E}">
        <p14:creationId xmlns:p14="http://schemas.microsoft.com/office/powerpoint/2010/main" val="17325459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82348-4570-A1BA-6185-F678292537F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3B4F2DB-A436-9B7B-F565-C9F1EF172FFB}"/>
              </a:ext>
            </a:extLst>
          </p:cNvPr>
          <p:cNvSpPr>
            <a:spLocks noGrp="1"/>
          </p:cNvSpPr>
          <p:nvPr>
            <p:ph idx="1"/>
          </p:nvPr>
        </p:nvSpPr>
        <p:spPr/>
        <p:txBody>
          <a:bodyPr>
            <a:normAutofit/>
          </a:bodyPr>
          <a:lstStyle/>
          <a:p>
            <a:pPr algn="just"/>
            <a:r>
              <a:rPr lang="en-US" sz="2800" dirty="0"/>
              <a:t>Cloud computing also provides an opportunity for small organizations and start-ups: these do not need large investments to start their business, but they can comfortably grow with it. </a:t>
            </a:r>
          </a:p>
          <a:p>
            <a:pPr algn="just"/>
            <a:r>
              <a:rPr lang="en-US" sz="2800" dirty="0"/>
              <a:t>Finally, maintenance costs are significantly reduced: by renting the infrastructure and application services, organizations are no longer responsible for their maintenance.</a:t>
            </a:r>
          </a:p>
          <a:p>
            <a:endParaRPr lang="en-US" dirty="0"/>
          </a:p>
        </p:txBody>
      </p:sp>
    </p:spTree>
    <p:extLst>
      <p:ext uri="{BB962C8B-B14F-4D97-AF65-F5344CB8AC3E}">
        <p14:creationId xmlns:p14="http://schemas.microsoft.com/office/powerpoint/2010/main" val="39924381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BF57A-0E1D-D2DC-4E59-13FE46A4D59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001F3EB-1791-E7D6-C0F6-5014D1ABC8B4}"/>
              </a:ext>
            </a:extLst>
          </p:cNvPr>
          <p:cNvSpPr>
            <a:spLocks noGrp="1"/>
          </p:cNvSpPr>
          <p:nvPr>
            <p:ph idx="1"/>
          </p:nvPr>
        </p:nvSpPr>
        <p:spPr/>
        <p:txBody>
          <a:bodyPr/>
          <a:lstStyle/>
          <a:p>
            <a:pPr algn="just"/>
            <a:r>
              <a:rPr lang="en-US" b="1" dirty="0"/>
              <a:t>Increased agility</a:t>
            </a:r>
            <a:r>
              <a:rPr lang="en-US" dirty="0"/>
              <a:t> in defining and structuring software systems is another significant benefit of cloud computing. </a:t>
            </a:r>
          </a:p>
          <a:p>
            <a:pPr algn="just"/>
            <a:r>
              <a:rPr lang="en-US" dirty="0"/>
              <a:t>Since organizations rent IT services, they can more dynamically and flexibly compose their software systems, without being constrained by capital costs for IT assets. </a:t>
            </a:r>
          </a:p>
          <a:p>
            <a:endParaRPr lang="en-US" dirty="0"/>
          </a:p>
        </p:txBody>
      </p:sp>
    </p:spTree>
    <p:extLst>
      <p:ext uri="{BB962C8B-B14F-4D97-AF65-F5344CB8AC3E}">
        <p14:creationId xmlns:p14="http://schemas.microsoft.com/office/powerpoint/2010/main" val="41884731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8EBEF-D54B-579E-8E48-24BC3BC58E2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F749E7E-D68A-0FE1-8952-C506B964986A}"/>
              </a:ext>
            </a:extLst>
          </p:cNvPr>
          <p:cNvSpPr>
            <a:spLocks noGrp="1"/>
          </p:cNvSpPr>
          <p:nvPr>
            <p:ph idx="1"/>
          </p:nvPr>
        </p:nvSpPr>
        <p:spPr/>
        <p:txBody>
          <a:bodyPr/>
          <a:lstStyle/>
          <a:p>
            <a:pPr algn="just"/>
            <a:r>
              <a:rPr lang="en-US" b="1" dirty="0"/>
              <a:t>There is </a:t>
            </a:r>
            <a:r>
              <a:rPr lang="en-US" sz="2800" b="1" dirty="0"/>
              <a:t>a reduced need for capacity planning</a:t>
            </a:r>
            <a:r>
              <a:rPr lang="en-US" sz="2800" dirty="0"/>
              <a:t>, since cloud computing allows organizations to react to unplanned surges in demand quite rapidly.</a:t>
            </a:r>
          </a:p>
          <a:p>
            <a:pPr algn="just"/>
            <a:r>
              <a:rPr lang="en-US" sz="2800" dirty="0"/>
              <a:t> For example, organizations can add more servers to process workload spikes and dismiss them when they are no longer needed. </a:t>
            </a:r>
          </a:p>
          <a:p>
            <a:endParaRPr lang="en-US" dirty="0"/>
          </a:p>
        </p:txBody>
      </p:sp>
    </p:spTree>
    <p:extLst>
      <p:ext uri="{BB962C8B-B14F-4D97-AF65-F5344CB8AC3E}">
        <p14:creationId xmlns:p14="http://schemas.microsoft.com/office/powerpoint/2010/main" val="33752249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A1A31-6953-EC98-81E6-443AFA32C1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2AE9FD9-CC69-8BC3-D952-7E9E6921220F}"/>
              </a:ext>
            </a:extLst>
          </p:cNvPr>
          <p:cNvSpPr>
            <a:spLocks noGrp="1"/>
          </p:cNvSpPr>
          <p:nvPr>
            <p:ph idx="1"/>
          </p:nvPr>
        </p:nvSpPr>
        <p:spPr/>
        <p:txBody>
          <a:bodyPr>
            <a:normAutofit fontScale="70000" lnSpcReduction="20000"/>
          </a:bodyPr>
          <a:lstStyle/>
          <a:p>
            <a:pPr algn="just"/>
            <a:r>
              <a:rPr lang="en-US" sz="3400" b="1" dirty="0"/>
              <a:t>Ease of scalability</a:t>
            </a:r>
            <a:r>
              <a:rPr lang="en-US" sz="3400" dirty="0"/>
              <a:t> is another advantage.</a:t>
            </a:r>
          </a:p>
          <a:p>
            <a:pPr algn="just"/>
            <a:r>
              <a:rPr lang="en-US" sz="3400" dirty="0"/>
              <a:t>By leveraging the potentially huge capacity of cloud computing, organizations can extend their IT capability more easily. </a:t>
            </a:r>
          </a:p>
          <a:p>
            <a:pPr algn="just"/>
            <a:r>
              <a:rPr lang="en-US" sz="3400" dirty="0"/>
              <a:t>Scalability can be leveraged across the entire computing stack. </a:t>
            </a:r>
          </a:p>
          <a:p>
            <a:pPr algn="just"/>
            <a:r>
              <a:rPr lang="en-US" sz="3400" dirty="0"/>
              <a:t>Infrastructure providers offer simple methods to provision customized hardware and integrate it into existing systems.</a:t>
            </a:r>
          </a:p>
          <a:p>
            <a:pPr algn="just"/>
            <a:r>
              <a:rPr lang="en-US" sz="3400" dirty="0"/>
              <a:t>Platform-as-a-Service providers offer runtime environment and programming models that are designed to scale applications. </a:t>
            </a:r>
          </a:p>
          <a:p>
            <a:pPr algn="just"/>
            <a:r>
              <a:rPr lang="en-US" sz="3400" dirty="0"/>
              <a:t>Software-as-a-Service offerings can be elastically sized on demand without requiring users to provision hardware or to program application for scalability.</a:t>
            </a:r>
          </a:p>
          <a:p>
            <a:endParaRPr lang="en-US" dirty="0"/>
          </a:p>
        </p:txBody>
      </p:sp>
    </p:spTree>
    <p:extLst>
      <p:ext uri="{BB962C8B-B14F-4D97-AF65-F5344CB8AC3E}">
        <p14:creationId xmlns:p14="http://schemas.microsoft.com/office/powerpoint/2010/main" val="39552735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FE8A9-4E5D-59A4-913D-DE1D6556F61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DB25F1-90F4-BD1D-A695-563B0E4F4606}"/>
              </a:ext>
            </a:extLst>
          </p:cNvPr>
          <p:cNvSpPr>
            <a:spLocks noGrp="1"/>
          </p:cNvSpPr>
          <p:nvPr>
            <p:ph idx="1"/>
          </p:nvPr>
        </p:nvSpPr>
        <p:spPr/>
        <p:txBody>
          <a:bodyPr>
            <a:normAutofit fontScale="70000" lnSpcReduction="20000"/>
          </a:bodyPr>
          <a:lstStyle/>
          <a:p>
            <a:pPr algn="just"/>
            <a:r>
              <a:rPr lang="en-US" b="1" dirty="0"/>
              <a:t>End users can benefit from cloud computing by having their data and the capability of operating on it always available</a:t>
            </a:r>
            <a:r>
              <a:rPr lang="en-US" dirty="0"/>
              <a:t>, from anywhere, at any time, and through multiple devices. </a:t>
            </a:r>
          </a:p>
          <a:p>
            <a:pPr algn="just"/>
            <a:r>
              <a:rPr lang="en-US" dirty="0"/>
              <a:t>Information and services stored in the cloud are exposed to users by Web-based interfaces that make them accessible from portable devices as well as desktops at home. </a:t>
            </a:r>
          </a:p>
          <a:p>
            <a:pPr algn="just"/>
            <a:r>
              <a:rPr lang="en-US" dirty="0"/>
              <a:t>Since the processing capabilities (that is, office automation features, photo editing, information management, and so on) also reside in the cloud, end users can perform the same tasks that previously were carried out through considerable software investments. </a:t>
            </a:r>
          </a:p>
          <a:p>
            <a:pPr algn="just"/>
            <a:r>
              <a:rPr lang="en-US" dirty="0"/>
              <a:t>The cost for such opportunities is generally very limited, since the cloud service provider shares its costs across all the tenants that he is servicing. </a:t>
            </a:r>
          </a:p>
          <a:p>
            <a:endParaRPr lang="en-US" dirty="0"/>
          </a:p>
        </p:txBody>
      </p:sp>
    </p:spTree>
    <p:extLst>
      <p:ext uri="{BB962C8B-B14F-4D97-AF65-F5344CB8AC3E}">
        <p14:creationId xmlns:p14="http://schemas.microsoft.com/office/powerpoint/2010/main" val="33325694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EF4A2-8058-5AB3-ECCE-7D4F4374152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67E8063-405D-5CDC-474A-2BF7B5B2A1DA}"/>
              </a:ext>
            </a:extLst>
          </p:cNvPr>
          <p:cNvSpPr>
            <a:spLocks noGrp="1"/>
          </p:cNvSpPr>
          <p:nvPr>
            <p:ph idx="1"/>
          </p:nvPr>
        </p:nvSpPr>
        <p:spPr/>
        <p:txBody>
          <a:bodyPr>
            <a:normAutofit lnSpcReduction="10000"/>
          </a:bodyPr>
          <a:lstStyle/>
          <a:p>
            <a:pPr algn="just"/>
            <a:r>
              <a:rPr lang="en-US" b="1" dirty="0"/>
              <a:t>Multitenancy allows for better utilization of the shared infrastructure </a:t>
            </a:r>
            <a:r>
              <a:rPr lang="en-US" dirty="0"/>
              <a:t>that is kept operational and fully active. </a:t>
            </a:r>
          </a:p>
          <a:p>
            <a:pPr algn="just"/>
            <a:r>
              <a:rPr lang="en-US" dirty="0"/>
              <a:t>The concentration of IT infrastructure and services into large datacenters also provides opportunity for considerable optimization in terms of resource allocation and energy efficiency, which eventually can lead to a less impacting approach on the environment.</a:t>
            </a:r>
          </a:p>
          <a:p>
            <a:endParaRPr lang="en-US" dirty="0"/>
          </a:p>
        </p:txBody>
      </p:sp>
    </p:spTree>
    <p:extLst>
      <p:ext uri="{BB962C8B-B14F-4D97-AF65-F5344CB8AC3E}">
        <p14:creationId xmlns:p14="http://schemas.microsoft.com/office/powerpoint/2010/main" val="17901438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3142D-1A17-EB70-8AD5-DD5A71BD915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BC35082-40AC-45B1-BF50-4F0EAAC76FD1}"/>
              </a:ext>
            </a:extLst>
          </p:cNvPr>
          <p:cNvSpPr>
            <a:spLocks noGrp="1"/>
          </p:cNvSpPr>
          <p:nvPr>
            <p:ph idx="1"/>
          </p:nvPr>
        </p:nvSpPr>
        <p:spPr/>
        <p:txBody>
          <a:bodyPr>
            <a:normAutofit fontScale="85000" lnSpcReduction="10000"/>
          </a:bodyPr>
          <a:lstStyle/>
          <a:p>
            <a:pPr algn="just"/>
            <a:r>
              <a:rPr lang="en-US" b="1" dirty="0"/>
              <a:t>Service orientation and on-demand access</a:t>
            </a:r>
            <a:r>
              <a:rPr lang="en-US" dirty="0"/>
              <a:t> create new opportunities for composing systems and applications with a flexibility not possible before cloud computing. </a:t>
            </a:r>
          </a:p>
          <a:p>
            <a:pPr algn="just"/>
            <a:r>
              <a:rPr lang="en-US" dirty="0"/>
              <a:t>New service offerings can be created by aggregating together existing services and concentrating on added value. </a:t>
            </a:r>
          </a:p>
          <a:p>
            <a:pPr algn="just"/>
            <a:r>
              <a:rPr lang="en-US" dirty="0"/>
              <a:t>Since it is possible to provision on demand any component of the computing stack, it is easier to turn ideas into products with limited costs and by concentrating technical efforts on what matters: the added value.</a:t>
            </a:r>
          </a:p>
          <a:p>
            <a:endParaRPr lang="en-US" dirty="0"/>
          </a:p>
        </p:txBody>
      </p:sp>
    </p:spTree>
    <p:extLst>
      <p:ext uri="{BB962C8B-B14F-4D97-AF65-F5344CB8AC3E}">
        <p14:creationId xmlns:p14="http://schemas.microsoft.com/office/powerpoint/2010/main" val="37544267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Limitations of Cloud Computing</a:t>
            </a:r>
          </a:p>
        </p:txBody>
      </p:sp>
      <p:sp>
        <p:nvSpPr>
          <p:cNvPr id="3" name="Content Placeholder 2"/>
          <p:cNvSpPr>
            <a:spLocks noGrp="1"/>
          </p:cNvSpPr>
          <p:nvPr>
            <p:ph idx="1"/>
          </p:nvPr>
        </p:nvSpPr>
        <p:spPr/>
        <p:txBody>
          <a:bodyPr/>
          <a:lstStyle/>
          <a:p>
            <a:r>
              <a:t>Security and privacy concerns</a:t>
            </a:r>
          </a:p>
          <a:p>
            <a:r>
              <a:t>Vendor lock-in</a:t>
            </a:r>
          </a:p>
          <a:p>
            <a:r>
              <a:t>Internet dependency</a:t>
            </a:r>
          </a:p>
          <a:p>
            <a:r>
              <a:t>Legal issues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Cloud vs Traditional Computing</a:t>
            </a:r>
          </a:p>
        </p:txBody>
      </p:sp>
      <p:sp>
        <p:nvSpPr>
          <p:cNvPr id="3" name="Content Placeholder 2"/>
          <p:cNvSpPr>
            <a:spLocks noGrp="1"/>
          </p:cNvSpPr>
          <p:nvPr>
            <p:ph idx="1"/>
          </p:nvPr>
        </p:nvSpPr>
        <p:spPr/>
        <p:txBody>
          <a:bodyPr/>
          <a:lstStyle/>
          <a:p>
            <a:r>
              <a:t>Traditional: Fixed infrastructure</a:t>
            </a:r>
          </a:p>
          <a:p>
            <a:r>
              <a:t>Cloud: Pay-per-use</a:t>
            </a:r>
          </a:p>
          <a:p>
            <a:r>
              <a:t>Elastic and scalable resources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Cloud Adoption Challenges</a:t>
            </a:r>
          </a:p>
        </p:txBody>
      </p:sp>
      <p:sp>
        <p:nvSpPr>
          <p:cNvPr id="3" name="Content Placeholder 2"/>
          <p:cNvSpPr>
            <a:spLocks noGrp="1"/>
          </p:cNvSpPr>
          <p:nvPr>
            <p:ph idx="1"/>
          </p:nvPr>
        </p:nvSpPr>
        <p:spPr/>
        <p:txBody>
          <a:bodyPr/>
          <a:lstStyle/>
          <a:p>
            <a:r>
              <a:t>Security and trust</a:t>
            </a:r>
          </a:p>
          <a:p>
            <a:r>
              <a:t>Compliance and regulations</a:t>
            </a:r>
          </a:p>
          <a:p>
            <a:r>
              <a:t>Interoperability</a:t>
            </a:r>
          </a:p>
          <a:p>
            <a:r>
              <a:t>Performance unpredictability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4ED7-CCD7-2441-0A8B-0B2615B881F8}"/>
              </a:ext>
            </a:extLst>
          </p:cNvPr>
          <p:cNvSpPr>
            <a:spLocks noGrp="1"/>
          </p:cNvSpPr>
          <p:nvPr>
            <p:ph type="title"/>
          </p:nvPr>
        </p:nvSpPr>
        <p:spPr/>
        <p:txBody>
          <a:bodyPr>
            <a:normAutofit/>
          </a:bodyPr>
          <a:lstStyle/>
          <a:p>
            <a:r>
              <a:rPr lang="en-US" b="1" dirty="0"/>
              <a:t>Cloud Adoption Challenges</a:t>
            </a:r>
            <a:endParaRPr lang="en-US" dirty="0"/>
          </a:p>
        </p:txBody>
      </p:sp>
      <p:sp>
        <p:nvSpPr>
          <p:cNvPr id="3" name="Content Placeholder 2">
            <a:extLst>
              <a:ext uri="{FF2B5EF4-FFF2-40B4-BE49-F238E27FC236}">
                <a16:creationId xmlns:a16="http://schemas.microsoft.com/office/drawing/2014/main" id="{6CB391D9-D57F-10A6-85A8-85438431AD63}"/>
              </a:ext>
            </a:extLst>
          </p:cNvPr>
          <p:cNvSpPr>
            <a:spLocks noGrp="1"/>
          </p:cNvSpPr>
          <p:nvPr>
            <p:ph idx="1"/>
          </p:nvPr>
        </p:nvSpPr>
        <p:spPr/>
        <p:txBody>
          <a:bodyPr/>
          <a:lstStyle/>
          <a:p>
            <a:pPr algn="just"/>
            <a:r>
              <a:rPr lang="en-US" dirty="0"/>
              <a:t>As any new technology develops and becomes popular, new issues have to be faced. Cloud computing is not an exception. </a:t>
            </a:r>
          </a:p>
          <a:p>
            <a:pPr algn="just"/>
            <a:r>
              <a:rPr lang="en-US" dirty="0"/>
              <a:t>New, interesting problems and challenges are regularly being posed to the cloud community, including IT practitioners, managers, governments, and regulators.</a:t>
            </a:r>
          </a:p>
          <a:p>
            <a:endParaRPr lang="en-US" dirty="0"/>
          </a:p>
        </p:txBody>
      </p:sp>
    </p:spTree>
    <p:extLst>
      <p:ext uri="{BB962C8B-B14F-4D97-AF65-F5344CB8AC3E}">
        <p14:creationId xmlns:p14="http://schemas.microsoft.com/office/powerpoint/2010/main" val="11208442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D32A5-BB21-2AAF-763A-DF0178C0F94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B024D4-81AC-DC9C-9E34-BEA8558A60BD}"/>
              </a:ext>
            </a:extLst>
          </p:cNvPr>
          <p:cNvSpPr>
            <a:spLocks noGrp="1"/>
          </p:cNvSpPr>
          <p:nvPr>
            <p:ph idx="1"/>
          </p:nvPr>
        </p:nvSpPr>
        <p:spPr/>
        <p:txBody>
          <a:bodyPr>
            <a:normAutofit fontScale="70000" lnSpcReduction="20000"/>
          </a:bodyPr>
          <a:lstStyle/>
          <a:p>
            <a:pPr algn="just"/>
            <a:r>
              <a:rPr lang="en-US" dirty="0"/>
              <a:t>Besides the practical aspects, which are related to configuration, networking, and sizing of cloud computing systems, a new set of challenges concerning the </a:t>
            </a:r>
            <a:r>
              <a:rPr lang="en-US" b="1" dirty="0"/>
              <a:t>dynamic provisioning of cloud computing services and resources arises</a:t>
            </a:r>
            <a:r>
              <a:rPr lang="en-US" dirty="0"/>
              <a:t>. </a:t>
            </a:r>
          </a:p>
          <a:p>
            <a:pPr algn="just"/>
            <a:r>
              <a:rPr lang="en-US" dirty="0"/>
              <a:t>For example, in the Infrastructure-as-a-Service domain, how many resources need to be provisioned, and for how long should they be used, in order to maximize the benefit? </a:t>
            </a:r>
          </a:p>
          <a:p>
            <a:pPr algn="just"/>
            <a:r>
              <a:rPr lang="en-US" dirty="0"/>
              <a:t>Technical challenges also arise for cloud service providers for the management of large computing infrastructures and the use of virtualization technologies on top of them. </a:t>
            </a:r>
          </a:p>
          <a:p>
            <a:pPr algn="just"/>
            <a:r>
              <a:rPr lang="en-US" dirty="0"/>
              <a:t>In addition, issues and challenges concerning the integration of real and virtual infrastructure need to be taken into account from different perspectives, such as security and legislation.</a:t>
            </a:r>
          </a:p>
          <a:p>
            <a:endParaRPr lang="en-US" dirty="0"/>
          </a:p>
        </p:txBody>
      </p:sp>
    </p:spTree>
    <p:extLst>
      <p:ext uri="{BB962C8B-B14F-4D97-AF65-F5344CB8AC3E}">
        <p14:creationId xmlns:p14="http://schemas.microsoft.com/office/powerpoint/2010/main" val="32277340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349A3-97C9-CFD9-32F0-D961E92421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9C247B-0D8B-4249-5B2A-ABEE52518792}"/>
              </a:ext>
            </a:extLst>
          </p:cNvPr>
          <p:cNvSpPr>
            <a:spLocks noGrp="1"/>
          </p:cNvSpPr>
          <p:nvPr>
            <p:ph idx="1"/>
          </p:nvPr>
        </p:nvSpPr>
        <p:spPr/>
        <p:txBody>
          <a:bodyPr>
            <a:normAutofit fontScale="55000" lnSpcReduction="20000"/>
          </a:bodyPr>
          <a:lstStyle/>
          <a:p>
            <a:pPr algn="just"/>
            <a:r>
              <a:rPr lang="en-US" sz="3600" b="1" dirty="0"/>
              <a:t>Security in terms</a:t>
            </a:r>
            <a:r>
              <a:rPr lang="en-US" b="1" dirty="0"/>
              <a:t> </a:t>
            </a:r>
            <a:r>
              <a:rPr lang="en-US" sz="3800" b="1" dirty="0"/>
              <a:t>of confidentiality, secrecy, and protection of data</a:t>
            </a:r>
            <a:r>
              <a:rPr lang="en-US" sz="3800" dirty="0"/>
              <a:t> in a cloud environment is another important challenge.</a:t>
            </a:r>
          </a:p>
          <a:p>
            <a:pPr algn="just"/>
            <a:r>
              <a:rPr lang="en-US" sz="3800" dirty="0"/>
              <a:t>Organizations do not own the infrastructure they use to process data and store information. </a:t>
            </a:r>
          </a:p>
          <a:p>
            <a:pPr algn="just"/>
            <a:r>
              <a:rPr lang="en-US" sz="3800" dirty="0"/>
              <a:t>This condition poses challenges for confidential data, which organizations cannot afford to reveal. Therefore, assurance on the confidentiality of data and compliance to security standards, which give a minimum guarantee on the treatment of information on cloud computing systems, are sought. </a:t>
            </a:r>
          </a:p>
          <a:p>
            <a:pPr algn="just"/>
            <a:r>
              <a:rPr lang="en-US" sz="3800" dirty="0"/>
              <a:t>The problem is not as evident as it seems: even though cryptography can help secure the transit of data from the private premises to the cloud infrastructure, in order to be processed the information needs to be decrypted in memory. </a:t>
            </a:r>
          </a:p>
          <a:p>
            <a:pPr algn="just"/>
            <a:r>
              <a:rPr lang="en-US" sz="3800" dirty="0"/>
              <a:t>This is the weak point of the chain: since virtualization allows capturing almost transparently the memory pages of an instance, these data could easily be obtained by a malicious provider.</a:t>
            </a:r>
          </a:p>
          <a:p>
            <a:endParaRPr lang="en-US" dirty="0"/>
          </a:p>
        </p:txBody>
      </p:sp>
    </p:spTree>
    <p:extLst>
      <p:ext uri="{BB962C8B-B14F-4D97-AF65-F5344CB8AC3E}">
        <p14:creationId xmlns:p14="http://schemas.microsoft.com/office/powerpoint/2010/main" val="35494751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5EA01-E5CC-4C2D-1923-146B80C5560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5C61860-AD17-EFDB-0EAF-4D12488D147E}"/>
              </a:ext>
            </a:extLst>
          </p:cNvPr>
          <p:cNvSpPr>
            <a:spLocks noGrp="1"/>
          </p:cNvSpPr>
          <p:nvPr>
            <p:ph idx="1"/>
          </p:nvPr>
        </p:nvSpPr>
        <p:spPr/>
        <p:txBody>
          <a:bodyPr>
            <a:normAutofit fontScale="70000" lnSpcReduction="20000"/>
          </a:bodyPr>
          <a:lstStyle/>
          <a:p>
            <a:pPr algn="just"/>
            <a:r>
              <a:rPr lang="en-US" b="1" dirty="0"/>
              <a:t>Legal issues may also arise.</a:t>
            </a:r>
            <a:r>
              <a:rPr lang="en-US" dirty="0"/>
              <a:t> These are specifically tied to the ubiquitous nature of cloud computing, which spreads computing infrastructure across diverse geographical locations. </a:t>
            </a:r>
          </a:p>
          <a:p>
            <a:pPr algn="just"/>
            <a:r>
              <a:rPr lang="en-US" dirty="0"/>
              <a:t>Different legislation about privacy in different countries may potentially create disputes as to the rights that third parties (including government agencies) have to your data. </a:t>
            </a:r>
          </a:p>
          <a:p>
            <a:pPr algn="just"/>
            <a:r>
              <a:rPr lang="en-US" dirty="0"/>
              <a:t>U.S. legislation is known to give extreme powers to government agencies to acquire confidential data when there is the suspicion of operations leading to a threat to national security. </a:t>
            </a:r>
          </a:p>
          <a:p>
            <a:pPr algn="just"/>
            <a:r>
              <a:rPr lang="en-US" dirty="0"/>
              <a:t>European countries are more restrictive and protect the right of privacy. An interesting scenario comes up when a U.S. organization uses cloud services that store their data in Europe. In this case, should this organization be suspected by the government, it would become difficult or even impossible for the U.S. government to take control of the data stored in a cloud datacenter located in Europe.</a:t>
            </a:r>
          </a:p>
          <a:p>
            <a:endParaRPr lang="en-US" dirty="0"/>
          </a:p>
        </p:txBody>
      </p:sp>
    </p:spTree>
    <p:extLst>
      <p:ext uri="{BB962C8B-B14F-4D97-AF65-F5344CB8AC3E}">
        <p14:creationId xmlns:p14="http://schemas.microsoft.com/office/powerpoint/2010/main" val="2692307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Applications of Cloud Computing</a:t>
            </a:r>
          </a:p>
        </p:txBody>
      </p:sp>
      <p:sp>
        <p:nvSpPr>
          <p:cNvPr id="3" name="Content Placeholder 2"/>
          <p:cNvSpPr>
            <a:spLocks noGrp="1"/>
          </p:cNvSpPr>
          <p:nvPr>
            <p:ph idx="1"/>
          </p:nvPr>
        </p:nvSpPr>
        <p:spPr/>
        <p:txBody>
          <a:bodyPr/>
          <a:lstStyle/>
          <a:p>
            <a:r>
              <a:t>Scientific computing</a:t>
            </a:r>
          </a:p>
          <a:p>
            <a:r>
              <a:t>Business applications</a:t>
            </a:r>
          </a:p>
          <a:p>
            <a:r>
              <a:t>Consumer services</a:t>
            </a:r>
          </a:p>
          <a:p>
            <a:r>
              <a:t>Emerging technologies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Cloud computing delivers IT as a utility</a:t>
            </a:r>
          </a:p>
          <a:p>
            <a:r>
              <a:t>Efficient, scalable, and cost-effective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342</TotalTime>
  <Words>2873</Words>
  <Application>Microsoft Office PowerPoint</Application>
  <PresentationFormat>On-screen Show (4:3)</PresentationFormat>
  <Paragraphs>167</Paragraphs>
  <Slides>40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Unit: Cloud Computing Foundations</vt:lpstr>
      <vt:lpstr>Basics of Parallel Computing</vt:lpstr>
      <vt:lpstr>Distributed vs Parallel Computing</vt:lpstr>
      <vt:lpstr>Evolution of Cloud Computing</vt:lpstr>
      <vt:lpstr>PowerPoint Presentation</vt:lpstr>
      <vt:lpstr>Evolution of Cloud Computing</vt:lpstr>
      <vt:lpstr>Mainframes.</vt:lpstr>
      <vt:lpstr>PowerPoint Presentation</vt:lpstr>
      <vt:lpstr>Clusters.</vt:lpstr>
      <vt:lpstr>PowerPoint Presentation</vt:lpstr>
      <vt:lpstr>Grids</vt:lpstr>
      <vt:lpstr>PowerPoint Presentation</vt:lpstr>
      <vt:lpstr>Virtualization</vt:lpstr>
      <vt:lpstr>PowerPoint Presentation</vt:lpstr>
      <vt:lpstr>Web 2.0</vt:lpstr>
      <vt:lpstr>PowerPoint Presentation</vt:lpstr>
      <vt:lpstr>Service orientation Computing</vt:lpstr>
      <vt:lpstr>PowerPoint Presentation</vt:lpstr>
      <vt:lpstr>Utility-oriented computing </vt:lpstr>
      <vt:lpstr>PowerPoint Presentation</vt:lpstr>
      <vt:lpstr>PowerPoint Presentation</vt:lpstr>
      <vt:lpstr>Characteristics of Cloud Computing</vt:lpstr>
      <vt:lpstr>Benefits of Cloud Computing</vt:lpstr>
      <vt:lpstr>Benefits of Cloud Computing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Limitations of Cloud Computing</vt:lpstr>
      <vt:lpstr>Cloud vs Traditional Computing</vt:lpstr>
      <vt:lpstr>Cloud Adoption Challenges</vt:lpstr>
      <vt:lpstr>Cloud Adoption Challenges</vt:lpstr>
      <vt:lpstr>PowerPoint Presentation</vt:lpstr>
      <vt:lpstr>PowerPoint Presentation</vt:lpstr>
      <vt:lpstr>PowerPoint Presentation</vt:lpstr>
      <vt:lpstr>Applications of Cloud Computing</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dc:creator>
  <cp:keywords/>
  <dc:description>generated using python-pptx</dc:description>
  <cp:lastModifiedBy>admin</cp:lastModifiedBy>
  <cp:revision>7</cp:revision>
  <dcterms:created xsi:type="dcterms:W3CDTF">2013-01-27T09:14:16Z</dcterms:created>
  <dcterms:modified xsi:type="dcterms:W3CDTF">2026-02-24T09:26:12Z</dcterms:modified>
  <cp:category/>
</cp:coreProperties>
</file>